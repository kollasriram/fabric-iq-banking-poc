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microsoft.com/office/2020/02/relationships/classificationlabels" Target="docMetadata/LabelInfo.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notesMaster" Target="notesMasters/notesMaster1.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83427B-B251-4F4C-9EB4-368DA2D57D63}"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3CF16-5BFA-4F06-858D-0B559A50196A}" type="slidenum">
              <a:rPr lang="en-US" smtClean="0"/>
              <a:t>‹#›</a:t>
            </a:fld>
            <a:endParaRPr lang="en-US"/>
          </a:p>
        </p:txBody>
      </p:sp>
    </p:spTree>
    <p:extLst>
      <p:ext uri="{BB962C8B-B14F-4D97-AF65-F5344CB8AC3E}">
        <p14:creationId xmlns:p14="http://schemas.microsoft.com/office/powerpoint/2010/main" val="1684706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**Story:** "Start with a transaction, see its customer and merchant, then follow a fraud alert through the same connections."</a:t>
            </a:r>
          </a:p>
          <a:p>
            <a:endParaRPr lang="en-US"/>
          </a:p>
          <a:p>
            <a:r>
              <a:rPr lang="en-US"/>
              <a:t>Build a **standalone Graph model** in `YOUR_WORKSPACE_NAME`, using four existing tables in `FabricIQ.gold`. No ontology, new source tables, data upload, or notebook is needed. Build and refresh before the meeting; show exploration during the customer demo.</a:t>
            </a:r>
          </a:p>
          <a:p>
            <a:endParaRPr lang="en-US"/>
          </a:p>
          <a:p>
            <a:r>
              <a:rPr lang="en-US"/>
              <a:t>**Preparation:** allow 30-45 minutes plus graph loading time.  </a:t>
            </a:r>
          </a:p>
          <a:p>
            <a:r>
              <a:rPr lang="en-US"/>
              <a:t>**Customer demo:** 10-15 minutes.  </a:t>
            </a:r>
          </a:p>
          <a:p>
            <a:r>
              <a:rPr lang="en-US"/>
              <a:t>**Optional extension:** connect customers to loans and delinquency events.</a:t>
            </a:r>
          </a:p>
          <a:p>
            <a:endParaRPr lang="en-US"/>
          </a:p>
          <a:p>
            <a:r>
              <a:rPr lang="en-US"/>
              <a:t>### What Was Verified</a:t>
            </a:r>
          </a:p>
          <a:p>
            <a:endParaRPr lang="en-US"/>
          </a:p>
          <a:p>
            <a:r>
              <a:rPr lang="en-US"/>
              <a:t>Read-only Fabric tools confirmed the following environment and table metadata. Sample rows were retrieved from the transaction, merchant, and fraud-alert tables. The tool retrieval timestamps were October 9, 2026 UTC.</a:t>
            </a:r>
          </a:p>
          <a:p>
            <a:endParaRPr lang="en-US"/>
          </a:p>
          <a:p>
            <a:r>
              <a:rPr lang="en-US"/>
              <a:t>| Item | Verified value |</a:t>
            </a:r>
          </a:p>
          <a:p>
            <a:r>
              <a:rPr lang="en-US"/>
              <a:t>| --- | --- |</a:t>
            </a:r>
          </a:p>
          <a:p>
            <a:r>
              <a:rPr lang="en-US"/>
              <a:t>| Workspace | YOUR_WORKSPACE_NAME |</a:t>
            </a:r>
          </a:p>
          <a:p>
            <a:r>
              <a:rPr lang="en-US"/>
              <a:t>| Workspace ID | 00000000-0000-0000-0000-000000000003 |</a:t>
            </a:r>
          </a:p>
          <a:p>
            <a:r>
              <a:rPr lang="en-US"/>
              <a:t>| Lakehouse | FabricIQ |</a:t>
            </a:r>
          </a:p>
          <a:p>
            <a:r>
              <a:rPr lang="en-US"/>
              <a:t>| Lakehouse ID | 00000000-0000-0000-0000-000000000005 |</a:t>
            </a:r>
          </a:p>
          <a:p>
            <a:r>
              <a:rPr lang="en-US"/>
              <a:t>| Lakehouse layout | Schema-enabled; demo tables are in gold, not dbo |</a:t>
            </a:r>
          </a:p>
          <a:p>
            <a:r>
              <a:rPr lang="en-US"/>
              <a:t>| Merchant risk flag | gold.dim_merchant.riskFlag is bit / Boolean |</a:t>
            </a:r>
          </a:p>
          <a:p>
            <a:r>
              <a:rPr lang="en-US"/>
              <a:t>| Customer join key | customerKey is present in customer, transaction, fraud-alert, loan, and delinquency tables |</a:t>
            </a:r>
          </a:p>
          <a:p>
            <a:r>
              <a:rPr lang="en-US"/>
              <a:t>| Account caveat | gold.dim_account does not currently contain customerKey |</a:t>
            </a:r>
          </a:p>
          <a:p>
            <a:endParaRPr lang="en-US"/>
          </a:p>
          <a:p>
            <a:r>
              <a:rPr lang="en-US"/>
              <a:t>**Verification boundary:** table metadata and sample rows were inspected, not full-table key uniqueness or graph queries. No remote Graph item was created or changed. Follow the checks below before presenting. Confirm that this remains approved synthetic/demo data; avoid adding unnecessary personal or account details.</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a:p>
            <a:endParaRPr lang="en-US"/>
          </a:p>
          <a:p>
            <a:r>
              <a:rPr lang="en-US"/>
              <a:t>COMPLETE PRESENTER BUILD GUIDE</a:t>
            </a:r>
          </a:p>
          <a:p>
            <a:r>
              <a:rPr lang="en-US"/>
              <a:t># Build a Customer Graph Demo Using FabricIQ</a:t>
            </a:r>
          </a:p>
          <a:p>
            <a:endParaRPr lang="en-US"/>
          </a:p>
          <a:p>
            <a:r>
              <a:rPr lang="en-US"/>
              <a:t>## Recommended Demo</a:t>
            </a:r>
          </a:p>
          <a:p>
            <a:endParaRPr lang="en-US"/>
          </a:p>
          <a:p>
            <a:r>
              <a:rPr lang="en-US"/>
              <a:t>**Story:** "Start with a transaction, see its customer and merchant, then follow a fraud alert through the same connections."</a:t>
            </a:r>
          </a:p>
          <a:p>
            <a:endParaRPr lang="en-US"/>
          </a:p>
          <a:p>
            <a:r>
              <a:rPr lang="en-US"/>
              <a:t>Build a **standalone Graph model** in `YOUR_WORKSPACE_NAME`, using four existing tables in `FabricIQ.gold`. No ontology, new source tables, data upload, or notebook is needed. Build and refresh before the meeting; show exploration during the customer demo.</a:t>
            </a:r>
          </a:p>
          <a:p>
            <a:endParaRPr lang="en-US"/>
          </a:p>
          <a:p>
            <a:r>
              <a:rPr lang="en-US"/>
              <a:t>**Preparation:** allow 30-45 minutes plus graph loading time.  </a:t>
            </a:r>
          </a:p>
          <a:p>
            <a:r>
              <a:rPr lang="en-US"/>
              <a:t>**Customer demo:** 10-15 minutes.  </a:t>
            </a:r>
          </a:p>
          <a:p>
            <a:r>
              <a:rPr lang="en-US"/>
              <a:t>**Optional extension:** connect customers to loans and delinquency events.</a:t>
            </a:r>
          </a:p>
          <a:p>
            <a:endParaRPr lang="en-US"/>
          </a:p>
          <a:p>
            <a:r>
              <a:rPr lang="en-US"/>
              <a:t>### What Was Verified</a:t>
            </a:r>
          </a:p>
          <a:p>
            <a:endParaRPr lang="en-US"/>
          </a:p>
          <a:p>
            <a:r>
              <a:rPr lang="en-US"/>
              <a:t>Read-only Fabric tools confirmed the following environment and table metadata. Sample rows were retrieved from the transaction, merchant, and fraud-alert tables. The tool retrieval timestamps were October 9, 2026 UTC.</a:t>
            </a:r>
          </a:p>
          <a:p>
            <a:endParaRPr lang="en-US"/>
          </a:p>
          <a:p>
            <a:r>
              <a:rPr lang="en-US"/>
              <a:t>| Item | Verified value |</a:t>
            </a:r>
          </a:p>
          <a:p>
            <a:r>
              <a:rPr lang="en-US"/>
              <a:t>| --- | --- |</a:t>
            </a:r>
          </a:p>
          <a:p>
            <a:r>
              <a:rPr lang="en-US"/>
              <a:t>| Workspace | YOUR_WORKSPACE_NAME |</a:t>
            </a:r>
          </a:p>
          <a:p>
            <a:r>
              <a:rPr lang="en-US"/>
              <a:t>| Workspace ID | 00000000-0000-0000-0000-000000000003 |</a:t>
            </a:r>
          </a:p>
          <a:p>
            <a:r>
              <a:rPr lang="en-US"/>
              <a:t>| Lakehouse | FabricIQ |</a:t>
            </a:r>
          </a:p>
          <a:p>
            <a:r>
              <a:rPr lang="en-US"/>
              <a:t>| Lakehouse ID | 00000000-0000-0000-0000-000000000005 |</a:t>
            </a:r>
          </a:p>
          <a:p>
            <a:r>
              <a:rPr lang="en-US"/>
              <a:t>| Lakehouse layout | Schema-enabled; demo tables are in gold, not dbo |</a:t>
            </a:r>
          </a:p>
          <a:p>
            <a:r>
              <a:rPr lang="en-US"/>
              <a:t>| Merchant risk flag | gold.dim_merchant.riskFlag is bit / Boolean |</a:t>
            </a:r>
          </a:p>
          <a:p>
            <a:r>
              <a:rPr lang="en-US"/>
              <a:t>| Customer join key | customerKey is present in customer, transaction, fraud-alert, loan, and delinquency tables |</a:t>
            </a:r>
          </a:p>
          <a:p>
            <a:r>
              <a:rPr lang="en-US"/>
              <a:t>| Account caveat | gold.dim_account does not currently contain customerKey |</a:t>
            </a:r>
          </a:p>
          <a:p>
            <a:endParaRPr lang="en-US"/>
          </a:p>
          <a:p>
            <a:r>
              <a:rPr lang="en-US"/>
              <a:t>**Verification boundary:** table metadata and sample rows were inspected, not full-table key uniqueness or graph queries. No remote Graph item was created or changed. Follow the checks below before presenting. Confirm that this remains approved synthetic/demo data; avoid adding unnecessary personal or account details.</a:t>
            </a:r>
          </a:p>
          <a:p>
            <a:endParaRPr lang="en-US"/>
          </a:p>
          <a:p>
            <a:r>
              <a:rPr lang="en-US"/>
              <a:t>## 1. Understand the Small Demo Model</a:t>
            </a:r>
          </a:p>
          <a:p>
            <a:endParaRPr lang="en-US"/>
          </a:p>
          <a:p>
            <a:r>
              <a:rPr lang="en-US"/>
              <a:t>```mermaid</a:t>
            </a:r>
          </a:p>
          <a:p>
            <a:r>
              <a:rPr lang="en-US"/>
              <a:t>flowchart LR</a:t>
            </a:r>
          </a:p>
          <a:p>
            <a:r>
              <a:rPr lang="en-US"/>
              <a:t>    C[Customer] --&gt;|makesTransaction| T[Transaction]</a:t>
            </a:r>
          </a:p>
          <a:p>
            <a:r>
              <a:rPr lang="en-US"/>
              <a:t>    T --&gt;|atMerchant| M[Merchant]</a:t>
            </a:r>
          </a:p>
          <a:p>
            <a:r>
              <a:rPr lang="en-US"/>
              <a:t>    T --&gt;|hasAlert| F[FraudAlert]</a:t>
            </a:r>
          </a:p>
          <a:p>
            <a:r>
              <a:rPr lang="en-US"/>
              <a:t>```</a:t>
            </a:r>
          </a:p>
          <a:p>
            <a:endParaRPr lang="en-US"/>
          </a:p>
          <a:p>
            <a:r>
              <a:rPr lang="en-US"/>
              <a:t>- Customer tells you **who** made the transaction.</a:t>
            </a:r>
          </a:p>
          <a:p>
            <a:r>
              <a:rPr lang="en-US"/>
              <a:t>- Transaction tells you **what happened**.</a:t>
            </a:r>
          </a:p>
          <a:p>
            <a:r>
              <a:rPr lang="en-US"/>
              <a:t>- Merchant tells you **where it happened**.</a:t>
            </a:r>
          </a:p>
          <a:p>
            <a:r>
              <a:rPr lang="en-US"/>
              <a:t>- FraudAlert tells you **what was recorded for review**.</a:t>
            </a:r>
          </a:p>
          <a:p>
            <a:endParaRPr lang="en-US"/>
          </a:p>
          <a:p>
            <a:r>
              <a:rPr lang="en-US"/>
              <a:t>The arrows are deliberately named to read naturally. Use the exact case-sensitive labels below in queries. These are labels for the **new demo graph**, not labels assumed to exist in an older ontology graph.</a:t>
            </a:r>
          </a:p>
          <a:p>
            <a:endParaRPr lang="en-US"/>
          </a:p>
          <a:p>
            <a:r>
              <a:rPr lang="en-US"/>
              <a:t>### Node Mapping</a:t>
            </a:r>
          </a:p>
          <a:p>
            <a:endParaRPr lang="en-US"/>
          </a:p>
          <a:p>
            <a:r>
              <a:rPr lang="en-US"/>
              <a:t>| Node label | Source table | Node key | Properties to include |</a:t>
            </a:r>
          </a:p>
          <a:p>
            <a:r>
              <a:rPr lang="en-US"/>
              <a:t>| --- | --- | --- | --- |</a:t>
            </a:r>
          </a:p>
          <a:p>
            <a:r>
              <a:rPr lang="en-US"/>
              <a:t>| Customer | gold.dim_customer | customerKey | customerKey, region, segment |</a:t>
            </a:r>
          </a:p>
          <a:p>
            <a:r>
              <a:rPr lang="en-US"/>
              <a:t>| Transaction | gold.fact_transaction | txnId | txnId, customerKey, amount, currency, channel, isFraud |</a:t>
            </a:r>
          </a:p>
          <a:p>
            <a:r>
              <a:rPr lang="en-US"/>
              <a:t>| Merchant | gold.dim_merchant | merchantId | merchantId, name, category, country, riskFlag |</a:t>
            </a:r>
          </a:p>
          <a:p>
            <a:r>
              <a:rPr lang="en-US"/>
              <a:t>| FraudAlert | gold.fact_fraud_alert | alertId | alertId, severity, status, type |</a:t>
            </a:r>
          </a:p>
          <a:p>
            <a:endParaRPr lang="en-US"/>
          </a:p>
          <a:p>
            <a:r>
              <a:rPr lang="en-US"/>
              <a:t>Customer names, email, cardId, and account identifiers are unnecessary for this demo. Add properties explicitly; do not select all columns.</a:t>
            </a:r>
          </a:p>
          <a:p>
            <a:endParaRPr lang="en-US"/>
          </a:p>
          <a:p>
            <a:r>
              <a:rPr lang="en-US"/>
              <a:t>### Edge Mapping</a:t>
            </a:r>
          </a:p>
          <a:p>
            <a:endParaRPr lang="en-US"/>
          </a:p>
          <a:p>
            <a:r>
              <a:rPr lang="en-US"/>
              <a:t>| Edge label | Source table | Origin node | Origin key column in source table | Target node | Target key column in source table |</a:t>
            </a:r>
          </a:p>
          <a:p>
            <a:r>
              <a:rPr lang="en-US"/>
              <a:t>| --- | --- | --- | --- | --- | --- |</a:t>
            </a:r>
          </a:p>
          <a:p>
            <a:r>
              <a:rPr lang="en-US"/>
              <a:t>| makesTransaction | gold.fact_transaction | Customer | customerKey | Transaction | txnId |</a:t>
            </a:r>
          </a:p>
          <a:p>
            <a:r>
              <a:rPr lang="en-US"/>
              <a:t>| atMerchant | gold.fact_transaction | Transaction | txnId | Merchant | merchantId |</a:t>
            </a:r>
          </a:p>
          <a:p>
            <a:r>
              <a:rPr lang="en-US"/>
              <a:t>| hasAlert | gold.fact_fraud_alert | Transaction | txnId | FraudAlert | alertId |</a:t>
            </a:r>
          </a:p>
          <a:p>
            <a:endParaRPr lang="en-US"/>
          </a:p>
          <a:p>
            <a:r>
              <a:rPr lang="en-US"/>
              <a:t>**Important:** for an edge, both key-column selections refer to the **edge source table**. For example, makesTransaction uses customerKey and txnId from fact_transaction, not a column selected from dim_customer.</a:t>
            </a:r>
          </a:p>
          <a:p>
            <a:endParaRPr lang="en-US"/>
          </a:p>
          <a:p>
            <a:r>
              <a:rPr lang="en-US"/>
              <a:t>## 2. Check the Source Data</a:t>
            </a:r>
          </a:p>
          <a:p>
            <a:endParaRPr lang="en-US"/>
          </a:p>
          <a:p>
            <a:r>
              <a:rPr lang="en-US"/>
              <a:t>1. Open [Microsoft Fabric](https://fabric.microsoft.com/).</a:t>
            </a:r>
          </a:p>
          <a:p>
            <a:r>
              <a:rPr lang="en-US"/>
              <a:t>2. Confirm the intended tenant, select **Workspaces**, then **YOUR_WORKSPACE_NAME**.</a:t>
            </a:r>
          </a:p>
          <a:p>
            <a:r>
              <a:rPr lang="en-US"/>
              <a:t>3. Open **FabricIQ**.</a:t>
            </a:r>
          </a:p>
          <a:p>
            <a:r>
              <a:rPr lang="en-US"/>
              <a:t>4. In the Lakehouse Explorer, expand **Tables &gt; gold**.</a:t>
            </a:r>
          </a:p>
          <a:p>
            <a:r>
              <a:rPr lang="en-US"/>
              <a:t>5. Open dim_customer, fact_transaction, dim_merchant, and fact_fraud_alert to review the columns in the mapping above.</a:t>
            </a:r>
          </a:p>
          <a:p>
            <a:r>
              <a:rPr lang="en-US"/>
              <a:t>6. Confirm that the graph creator has workspace authoring permissions and access to the source tables. Graph prerequisites include a supported region and an active Fabric F2-or-higher capacity or trial.</a:t>
            </a:r>
          </a:p>
          <a:p>
            <a:r>
              <a:rPr lang="en-US"/>
              <a:t>7. In the lakehouse's **SQL analytics endpoint**, check that each node key is unique and non-null across its full source table. You can do this with your existing SQL tools; a table preview alone does not prove uniqueness.</a:t>
            </a:r>
          </a:p>
          <a:p>
            <a:r>
              <a:rPr lang="en-US"/>
              <a:t>8. Check endpoint coverage: transaction.customerKey must match customer.customerKey; transaction.merchantId must match merchant.merchantId; alert.txnId must match transaction.txnId. All these keys were reported as varchar, so the observed types match.</a:t>
            </a:r>
          </a:p>
          <a:p>
            <a:endParaRPr lang="en-US"/>
          </a:p>
          <a:p>
            <a:r>
              <a:rPr lang="en-US"/>
              <a:t>Use customerKey for the shared customer identity, not customerId or borrowerId. Do not create a Customer-to-Account edge on customerKey: that column is absent from the current account table, and this small demo does not require Account.</a:t>
            </a:r>
          </a:p>
          <a:p>
            <a:endParaRPr lang="en-US"/>
          </a:p>
          <a:p>
            <a:r>
              <a:rPr lang="en-US"/>
              <a:t>## 3. Create the Graph Model</a:t>
            </a:r>
          </a:p>
          <a:p>
            <a:endParaRPr lang="en-US"/>
          </a:p>
          <a:p>
            <a:r>
              <a:rPr lang="en-US"/>
              <a:t>1. Return to **YOUR_WORKSPACE_NAME**.</a:t>
            </a:r>
          </a:p>
          <a:p>
            <a:r>
              <a:rPr lang="en-US"/>
              <a:t>2. Select **+ New item**.</a:t>
            </a:r>
          </a:p>
          <a:p>
            <a:r>
              <a:rPr lang="en-US"/>
              <a:t>3. Search for **graph**.</a:t>
            </a:r>
          </a:p>
          <a:p>
            <a:r>
              <a:rPr lang="en-US"/>
              <a:t>4. Select **Graph model**.</a:t>
            </a:r>
          </a:p>
          <a:p>
            <a:r>
              <a:rPr lang="en-US"/>
              <a:t>5. Enter `FabricIQCustomerRiskDemo` and select **Create**.</a:t>
            </a:r>
          </a:p>
          <a:p>
            <a:r>
              <a:rPr lang="en-US"/>
              <a:t>6. The editor opens in **Model** mode.</a:t>
            </a:r>
          </a:p>
          <a:p>
            <a:r>
              <a:rPr lang="en-US"/>
              <a:t>7. Select **Get data** in the top ribbon.</a:t>
            </a:r>
          </a:p>
          <a:p>
            <a:r>
              <a:rPr lang="en-US"/>
              <a:t>8. In the **OneLake catalog**, select **FabricIQ** in **YOUR_WORKSPACE_NAME**, then select **Add**.</a:t>
            </a:r>
          </a:p>
          <a:p>
            <a:r>
              <a:rPr lang="en-US"/>
              <a:t>9. Select the four tables under **gold** listed in the node mapping.</a:t>
            </a:r>
          </a:p>
          <a:p>
            <a:r>
              <a:rPr lang="en-US"/>
              <a:t>10. Select **Load**.</a:t>
            </a:r>
          </a:p>
          <a:p>
            <a:endParaRPr lang="en-US"/>
          </a:p>
          <a:p>
            <a:r>
              <a:rPr lang="en-US"/>
              <a:t>**Checkpoint:** the source picker exposes the required gold tables. If it does not, stop and check the source picker, permissions, and current schema support. Do not drop the schema, rebuild the lakehouse, or overwrite source data as a workaround.</a:t>
            </a:r>
          </a:p>
          <a:p>
            <a:endParaRPr lang="en-US"/>
          </a:p>
          <a:p>
            <a:r>
              <a:rPr lang="en-US"/>
              <a:t>If an item with this name already exists, inspect it first. Create a separately named demo item rather than overwriting someone else's graph.</a:t>
            </a:r>
          </a:p>
          <a:p>
            <a:endParaRPr lang="en-US"/>
          </a:p>
          <a:p>
            <a:r>
              <a:rPr lang="en-US"/>
              <a:t>## 4. Add the Four Node Types</a:t>
            </a:r>
          </a:p>
          <a:p>
            <a:endParaRPr lang="en-US"/>
          </a:p>
          <a:p>
            <a:r>
              <a:rPr lang="en-US"/>
              <a:t>### First Node: Customer</a:t>
            </a:r>
          </a:p>
          <a:p>
            <a:endParaRPr lang="en-US"/>
          </a:p>
          <a:p>
            <a:r>
              <a:rPr lang="en-US"/>
              <a:t>1. Select **Add node**.</a:t>
            </a:r>
          </a:p>
          <a:p>
            <a:r>
              <a:rPr lang="en-US"/>
              <a:t>2. Set **Node label** to `Customer`.</a:t>
            </a:r>
          </a:p>
          <a:p>
            <a:r>
              <a:rPr lang="en-US"/>
              <a:t>3. Set **Source table** to `gold.dim_customer`.</a:t>
            </a:r>
          </a:p>
          <a:p>
            <a:r>
              <a:rPr lang="en-US"/>
              <a:t>4. Set **Key** to `customerKey`.</a:t>
            </a:r>
          </a:p>
          <a:p>
            <a:r>
              <a:rPr lang="en-US"/>
              <a:t>5. Select **+ Add property** and choose customerKey, region, and segment. Keep their property names unchanged.</a:t>
            </a:r>
          </a:p>
          <a:p>
            <a:r>
              <a:rPr lang="en-US"/>
              <a:t>6. Apply the property selection if prompted, then select **Create**.</a:t>
            </a:r>
          </a:p>
          <a:p>
            <a:endParaRPr lang="en-US"/>
          </a:p>
          <a:p>
            <a:r>
              <a:rPr lang="en-US"/>
              <a:t>### Remaining Nodes</a:t>
            </a:r>
          </a:p>
          <a:p>
            <a:endParaRPr lang="en-US"/>
          </a:p>
          <a:p>
            <a:r>
              <a:rPr lang="en-US"/>
              <a:t>Repeat **Add node** for Transaction, Merchant, and FraudAlert using the exact node mapping in section 1.</a:t>
            </a:r>
          </a:p>
          <a:p>
            <a:endParaRPr lang="en-US"/>
          </a:p>
          <a:p>
            <a:r>
              <a:rPr lang="en-US"/>
              <a:t>**Checkpoint:** four node types appear on the Model canvas. These circles represent types, not individual customer or transaction records. Select a node to verify its table, key, and properties before continuing.</a:t>
            </a:r>
          </a:p>
          <a:p>
            <a:endParaRPr lang="en-US"/>
          </a:p>
          <a:p>
            <a:r>
              <a:rPr lang="en-US"/>
              <a:t>## 5. Add the Three Edge Types</a:t>
            </a:r>
          </a:p>
          <a:p>
            <a:endParaRPr lang="en-US"/>
          </a:p>
          <a:p>
            <a:r>
              <a:rPr lang="en-US"/>
              <a:t>### First Edge: makesTransaction</a:t>
            </a:r>
          </a:p>
          <a:p>
            <a:endParaRPr lang="en-US"/>
          </a:p>
          <a:p>
            <a:r>
              <a:rPr lang="en-US"/>
              <a:t>1. Select **Add edge**.</a:t>
            </a:r>
          </a:p>
          <a:p>
            <a:r>
              <a:rPr lang="en-US"/>
              <a:t>2. Set **Edge label** to `makesTransaction`.</a:t>
            </a:r>
          </a:p>
          <a:p>
            <a:r>
              <a:rPr lang="en-US"/>
              <a:t>3. Set **Source table** to `gold.fact_transaction`.</a:t>
            </a:r>
          </a:p>
          <a:p>
            <a:r>
              <a:rPr lang="en-US"/>
              <a:t>4. Set **Origin node** to `Customer`.</a:t>
            </a:r>
          </a:p>
          <a:p>
            <a:r>
              <a:rPr lang="en-US"/>
              <a:t>5. Set **Origin key** to `customerKey` from the source table.</a:t>
            </a:r>
          </a:p>
          <a:p>
            <a:r>
              <a:rPr lang="en-US"/>
              <a:t>6. Set **Target node** to `Transaction`.</a:t>
            </a:r>
          </a:p>
          <a:p>
            <a:r>
              <a:rPr lang="en-US"/>
              <a:t>7. Set **Target key** to `txnId` from the source table.</a:t>
            </a:r>
          </a:p>
          <a:p>
            <a:r>
              <a:rPr lang="en-US"/>
              <a:t>8. Leave edge properties empty and select **Create**.</a:t>
            </a:r>
          </a:p>
          <a:p>
            <a:endParaRPr lang="en-US"/>
          </a:p>
          <a:p>
            <a:r>
              <a:rPr lang="en-US"/>
              <a:t>### Remaining Edges</a:t>
            </a:r>
          </a:p>
          <a:p>
            <a:endParaRPr lang="en-US"/>
          </a:p>
          <a:p>
            <a:r>
              <a:rPr lang="en-US"/>
              <a:t>Repeat **Add edge** for atMerchant and hasAlert using the edge mapping in section 1. Keep the direction exactly as listed.</a:t>
            </a:r>
          </a:p>
          <a:p>
            <a:endParaRPr lang="en-US"/>
          </a:p>
          <a:p>
            <a:r>
              <a:rPr lang="en-US"/>
              <a:t>**Checkpoint:** Customer -&gt; Transaction -&gt; Merchant, with Transaction -&gt; FraudAlert. The same source table can supply a node type and an edge type; you do not need separate relationship tables here.</a:t>
            </a:r>
          </a:p>
          <a:p>
            <a:endParaRPr lang="en-US"/>
          </a:p>
          <a:p>
            <a:r>
              <a:rPr lang="en-US"/>
              <a:t>## 6. Save and Load the Graph</a:t>
            </a:r>
          </a:p>
          <a:p>
            <a:endParaRPr lang="en-US"/>
          </a:p>
          <a:p>
            <a:r>
              <a:rPr lang="en-US"/>
              <a:t>1. Select **Save** in the top ribbon.</a:t>
            </a:r>
          </a:p>
          <a:p>
            <a:r>
              <a:rPr lang="en-US"/>
              <a:t>2. Wait for **Data load is in progress** to change to **Data load completed...**.</a:t>
            </a:r>
          </a:p>
          <a:p>
            <a:r>
              <a:rPr lang="en-US"/>
              <a:t>3. Record the completed load time.</a:t>
            </a:r>
          </a:p>
          <a:p>
            <a:r>
              <a:rPr lang="en-US"/>
              <a:t>4. Do not start the live customer demo while loading is still in progress.</a:t>
            </a:r>
          </a:p>
          <a:p>
            <a:endParaRPr lang="en-US"/>
          </a:p>
          <a:p>
            <a:r>
              <a:rPr lang="en-US"/>
              <a:t>Saving persists the model and ingests source data into the queryable graph. Structural edits trigger a full reload. Source updates are not automatically visible in the loaded graph; refresh it before the demo. To schedule later refreshes, use workspace Graph item **... &gt; Schedule &gt; Add schedule**, configure the frequency, and **Save**.</a:t>
            </a:r>
          </a:p>
          <a:p>
            <a:endParaRPr lang="en-US"/>
          </a:p>
          <a:p>
            <a:r>
              <a:rPr lang="en-US"/>
              <a:t>## 7. Rehearse Three Simple Questions</a:t>
            </a:r>
          </a:p>
          <a:p>
            <a:endParaRPr lang="en-US"/>
          </a:p>
          <a:p>
            <a:r>
              <a:rPr lang="en-US"/>
              <a:t>Run the following in the **Graph model code editor**, not a notebook, Warehouse SQL editor, or Eventhouse KQL editor:</a:t>
            </a:r>
          </a:p>
          <a:p>
            <a:endParaRPr lang="en-US"/>
          </a:p>
          <a:p>
            <a:r>
              <a:rPr lang="en-US"/>
              <a:t>1. Select **Modes &gt; Query**.</a:t>
            </a:r>
          </a:p>
          <a:p>
            <a:r>
              <a:rPr lang="en-US"/>
              <a:t>2. Select **Query builder &gt; Code editor** in the top ribbon.</a:t>
            </a:r>
          </a:p>
          <a:p>
            <a:r>
              <a:rPr lang="en-US"/>
              <a:t>3. Paste one query at a time.</a:t>
            </a:r>
          </a:p>
          <a:p>
            <a:r>
              <a:rPr lang="en-US"/>
              <a:t>4. Select **Run query**.</a:t>
            </a:r>
          </a:p>
          <a:p>
            <a:endParaRPr lang="en-US"/>
          </a:p>
          <a:p>
            <a:r>
              <a:rPr lang="en-US"/>
              <a:t>### Question 1: Can We Trace a Known Transaction?</a:t>
            </a:r>
          </a:p>
          <a:p>
            <a:endParaRPr lang="en-US"/>
          </a:p>
          <a:p>
            <a:r>
              <a:rPr lang="en-US"/>
              <a:t>This transaction was observed in the current lakehouse preview. Use it as an initial wiring check, not a fraud example.</a:t>
            </a:r>
          </a:p>
          <a:p>
            <a:endParaRPr lang="en-US"/>
          </a:p>
          <a:p>
            <a:r>
              <a:rPr lang="en-US"/>
              <a:t>```gql</a:t>
            </a:r>
          </a:p>
          <a:p>
            <a:r>
              <a:rPr lang="en-US"/>
              <a:t>MATCH (customer:Customer)-[:makesTransaction]-&gt;(transaction:Transaction)-[:atMerchant]-&gt;(merchant:Merchant)</a:t>
            </a:r>
          </a:p>
          <a:p>
            <a:r>
              <a:rPr lang="en-US"/>
              <a:t>WHERE transaction.txnId = 'TX-00044001'</a:t>
            </a:r>
          </a:p>
          <a:p>
            <a:r>
              <a:rPr lang="en-US"/>
              <a:t>RETURN customer.customerKey AS customer_key,</a:t>
            </a:r>
          </a:p>
          <a:p>
            <a:r>
              <a:rPr lang="en-US"/>
              <a:t>       transaction.txnId AS transaction_id,</a:t>
            </a:r>
          </a:p>
          <a:p>
            <a:r>
              <a:rPr lang="en-US"/>
              <a:t>       transaction.amount AS amount,</a:t>
            </a:r>
          </a:p>
          <a:p>
            <a:r>
              <a:rPr lang="en-US"/>
              <a:t>       transaction.currency AS currency,</a:t>
            </a:r>
          </a:p>
          <a:p>
            <a:r>
              <a:rPr lang="en-US"/>
              <a:t>       merchant.merchantId AS merchant_id</a:t>
            </a:r>
          </a:p>
          <a:p>
            <a:r>
              <a:rPr lang="en-US"/>
              <a:t>LIMIT 5</a:t>
            </a:r>
          </a:p>
          <a:p>
            <a:r>
              <a:rPr lang="en-US"/>
              <a:t>```</a:t>
            </a:r>
          </a:p>
          <a:p>
            <a:endParaRPr lang="en-US"/>
          </a:p>
          <a:p>
            <a:r>
              <a:rPr lang="en-US"/>
              <a:t>**Source-preview checkpoint:** customerKey = CUST-001159, merchantId = MER-0013, amount = 94.25, currency = USD. A graph result matching these values still depends on successful loading and matching customer/merchant endpoints.</a:t>
            </a:r>
          </a:p>
          <a:p>
            <a:endParaRPr lang="en-US"/>
          </a:p>
          <a:p>
            <a:r>
              <a:rPr lang="en-US"/>
              <a:t>**Say:** "We started with one transaction and followed its two relationships to the customer and merchant."</a:t>
            </a:r>
          </a:p>
          <a:p>
            <a:endParaRPr lang="en-US"/>
          </a:p>
          <a:p>
            <a:r>
              <a:rPr lang="en-US"/>
              <a:t>### Question 2: Which Flagged Merchants Have the Most Connected Activity?</a:t>
            </a:r>
          </a:p>
          <a:p>
            <a:endParaRPr lang="en-US"/>
          </a:p>
          <a:p>
            <a:r>
              <a:rPr lang="en-US"/>
              <a:t>```gql</a:t>
            </a:r>
          </a:p>
          <a:p>
            <a:r>
              <a:rPr lang="en-US"/>
              <a:t>MATCH (customer:Customer)-[:makesTransaction]-&gt;(transaction:Transaction)-[:atMerchant]-&gt;(merchant:Merchant)</a:t>
            </a:r>
          </a:p>
          <a:p>
            <a:r>
              <a:rPr lang="en-US"/>
              <a:t>WHERE merchant.riskFlag = true</a:t>
            </a:r>
          </a:p>
          <a:p>
            <a:r>
              <a:rPr lang="en-US"/>
              <a:t>RETURN merchant.merchantId AS merchant_id,</a:t>
            </a:r>
          </a:p>
          <a:p>
            <a:r>
              <a:rPr lang="en-US"/>
              <a:t>       merchant.name AS merchant_name,</a:t>
            </a:r>
          </a:p>
          <a:p>
            <a:r>
              <a:rPr lang="en-US"/>
              <a:t>       count(DISTINCT transaction.txnId) AS transaction_count,</a:t>
            </a:r>
          </a:p>
          <a:p>
            <a:r>
              <a:rPr lang="en-US"/>
              <a:t>       count(DISTINCT customer.customerKey) AS customer_count</a:t>
            </a:r>
          </a:p>
          <a:p>
            <a:r>
              <a:rPr lang="en-US"/>
              <a:t>GROUP BY merchant_id, merchant_name</a:t>
            </a:r>
          </a:p>
          <a:p>
            <a:r>
              <a:rPr lang="en-US"/>
              <a:t>ORDER BY transaction_count DESC</a:t>
            </a:r>
          </a:p>
          <a:p>
            <a:r>
              <a:rPr lang="en-US"/>
              <a:t>LIMIT 5</a:t>
            </a:r>
          </a:p>
          <a:p>
            <a:r>
              <a:rPr lang="en-US"/>
              <a:t>```</a:t>
            </a:r>
          </a:p>
          <a:p>
            <a:endParaRPr lang="en-US"/>
          </a:p>
          <a:p>
            <a:r>
              <a:rPr lang="en-US"/>
              <a:t>**Checkpoint:** record a merchant ID returned by this query. No ranked results or full-table riskFlag distribution were verified while writing this guide. If no rows return, inspect the source flags, graph loading, and endpoint mappings rather than assuming a particular count.</a:t>
            </a:r>
          </a:p>
          <a:p>
            <a:endParaRPr lang="en-US"/>
          </a:p>
          <a:p>
            <a:r>
              <a:rPr lang="en-US"/>
              <a:t>**Say:** "This shows activity at merchants already flagged in the source data. It prioritizes review; it does not prove that every transaction or customer is fraudulent."</a:t>
            </a:r>
          </a:p>
          <a:p>
            <a:endParaRPr lang="en-US"/>
          </a:p>
          <a:p>
            <a:r>
              <a:rPr lang="en-US"/>
              <a:t>### Question 3: Follow a Recorded Fraud Alert to Its Customer and Merchant</a:t>
            </a:r>
          </a:p>
          <a:p>
            <a:endParaRPr lang="en-US"/>
          </a:p>
          <a:p>
            <a:r>
              <a:rPr lang="en-US"/>
              <a:t>The alert AL-0000093 was observed in the current lakehouse preview with High severity and Open status.</a:t>
            </a:r>
          </a:p>
          <a:p>
            <a:endParaRPr lang="en-US"/>
          </a:p>
          <a:p>
            <a:r>
              <a:rPr lang="en-US"/>
              <a:t>```gql</a:t>
            </a:r>
          </a:p>
          <a:p>
            <a:r>
              <a:rPr lang="en-US"/>
              <a:t>MATCH (customer:Customer)-[:makesTransaction]-&gt;(transaction:Transaction)-[:atMerchant]-&gt;(merchant:Merchant),</a:t>
            </a:r>
          </a:p>
          <a:p>
            <a:r>
              <a:rPr lang="en-US"/>
              <a:t>      (transaction)-[:hasAlert]-&gt;(alert:FraudAlert)</a:t>
            </a:r>
          </a:p>
          <a:p>
            <a:r>
              <a:rPr lang="en-US"/>
              <a:t>WHERE alert.alertId = 'AL-0000093'</a:t>
            </a:r>
          </a:p>
          <a:p>
            <a:r>
              <a:rPr lang="en-US"/>
              <a:t>RETURN customer.customerKey AS customer_key,</a:t>
            </a:r>
          </a:p>
          <a:p>
            <a:r>
              <a:rPr lang="en-US"/>
              <a:t>       transaction.txnId AS transaction_id,</a:t>
            </a:r>
          </a:p>
          <a:p>
            <a:r>
              <a:rPr lang="en-US"/>
              <a:t>       merchant.merchantId AS merchant_id,</a:t>
            </a:r>
          </a:p>
          <a:p>
            <a:r>
              <a:rPr lang="en-US"/>
              <a:t>       alert.alertId AS alert_id,</a:t>
            </a:r>
          </a:p>
          <a:p>
            <a:r>
              <a:rPr lang="en-US"/>
              <a:t>       alert.type AS alert_type,</a:t>
            </a:r>
          </a:p>
          <a:p>
            <a:r>
              <a:rPr lang="en-US"/>
              <a:t>       alert.severity AS severity,</a:t>
            </a:r>
          </a:p>
          <a:p>
            <a:r>
              <a:rPr lang="en-US"/>
              <a:t>       alert.status AS status</a:t>
            </a:r>
          </a:p>
          <a:p>
            <a:r>
              <a:rPr lang="en-US"/>
              <a:t>LIMIT 10</a:t>
            </a:r>
          </a:p>
          <a:p>
            <a:r>
              <a:rPr lang="en-US"/>
              <a:t>```</a:t>
            </a:r>
          </a:p>
          <a:p>
            <a:endParaRPr lang="en-US"/>
          </a:p>
          <a:p>
            <a:r>
              <a:rPr lang="en-US"/>
              <a:t>**Source-preview checkpoint:** customerKey = CUST-002026, txnId = TX-00047093, type = CrossBorderHighValue, severity = High, status = Open. The merchant for this alert was not independently retrieved; check it during rehearsal. Source values can change, so reconcile after the graph refresh.</a:t>
            </a:r>
          </a:p>
          <a:p>
            <a:endParaRPr lang="en-US"/>
          </a:p>
          <a:p>
            <a:r>
              <a:rPr lang="en-US"/>
              <a:t>**Say:** "The graph connects the recorded alert to a transaction, its customer, and the merchant. The path is evidence for an investigator, not an automated decision."</a:t>
            </a:r>
          </a:p>
          <a:p>
            <a:endParaRPr lang="en-US"/>
          </a:p>
          <a:p>
            <a:r>
              <a:rPr lang="en-US"/>
              <a:t>## 8. Show the Same Story Visually</a:t>
            </a:r>
          </a:p>
          <a:p>
            <a:endParaRPr lang="en-US"/>
          </a:p>
          <a:p>
            <a:r>
              <a:rPr lang="en-US"/>
              <a:t>Use the recorded alert to keep the visual result small and meaningful.</a:t>
            </a:r>
          </a:p>
          <a:p>
            <a:endParaRPr lang="en-US"/>
          </a:p>
          <a:p>
            <a:r>
              <a:rPr lang="en-US"/>
              <a:t>1. Stay in **Query** mode and select the visual **Query builder** rather than Code editor.</a:t>
            </a:r>
          </a:p>
          <a:p>
            <a:r>
              <a:rPr lang="en-US"/>
              <a:t>2. Start a new visual query and select **Add a node &gt; Transaction**.</a:t>
            </a:r>
          </a:p>
          <a:p>
            <a:r>
              <a:rPr lang="en-US"/>
              <a:t>3. Open the right-side **Components** pane using its puzzle-piece icon.</a:t>
            </a:r>
          </a:p>
          <a:p>
            <a:r>
              <a:rPr lang="en-US"/>
              <a:t>4. With Transaction selected, choose **atMerchant** to add Merchant.</a:t>
            </a:r>
          </a:p>
          <a:p>
            <a:r>
              <a:rPr lang="en-US"/>
              <a:t>5. Select Transaction again and choose **hasAlert** to add FraudAlert.</a:t>
            </a:r>
          </a:p>
          <a:p>
            <a:r>
              <a:rPr lang="en-US"/>
              <a:t>6. Add the incoming **makesTransaction** relationship and Customer from Components. Verify that Customer -&gt; Transaction is preserved; do not reverse the model edge to make the builder work.</a:t>
            </a:r>
          </a:p>
          <a:p>
            <a:r>
              <a:rPr lang="en-US"/>
              <a:t>7. Select FraudAlert, then **Filter**.</a:t>
            </a:r>
          </a:p>
          <a:p>
            <a:r>
              <a:rPr lang="en-US"/>
              <a:t>8. Set alertId equal to `AL-0000093`, then select **Apply**.</a:t>
            </a:r>
          </a:p>
          <a:p>
            <a:r>
              <a:rPr lang="en-US"/>
              <a:t>9. Select **Run query**.</a:t>
            </a:r>
          </a:p>
          <a:p>
            <a:r>
              <a:rPr lang="en-US"/>
              <a:t>10. Close Components and collapse the builder pane to enlarge the results.</a:t>
            </a:r>
          </a:p>
          <a:p>
            <a:r>
              <a:rPr lang="en-US"/>
              <a:t>11. Show **Diagram** view. Select a node to inspect its properties and drag nodes apart so connections are legible.</a:t>
            </a:r>
          </a:p>
          <a:p>
            <a:r>
              <a:rPr lang="en-US"/>
              <a:t>12. Switch to **Table** view to show the same evidence as records.</a:t>
            </a:r>
          </a:p>
          <a:p>
            <a:endParaRPr lang="en-US"/>
          </a:p>
          <a:p>
            <a:r>
              <a:rPr lang="en-US"/>
              <a:t>**Checkpoint:** the diagram displays individual records, unlike the Model canvas's node types. Rehearse incoming-edge selection in your actual UI; controls can vary. If the builder does not offer the incoming edge from Transaction, begin at Customer and add makesTransaction, then atMerchant and hasAlert.</a:t>
            </a:r>
          </a:p>
          <a:p>
            <a:endParaRPr lang="en-US"/>
          </a:p>
          <a:p>
            <a:r>
              <a:rPr lang="en-US"/>
              <a:t>**Say:** "This is the difference between knowing the records exist and seeing how those records connect."</a:t>
            </a:r>
          </a:p>
          <a:p>
            <a:endParaRPr lang="en-US"/>
          </a:p>
          <a:p>
            <a:r>
              <a:rPr lang="en-US"/>
              <a:t>## 9. Save the Investigation</a:t>
            </a:r>
          </a:p>
          <a:p>
            <a:endParaRPr lang="en-US"/>
          </a:p>
          <a:p>
            <a:r>
              <a:rPr lang="en-US"/>
              <a:t>1. In Query mode, select **Create queryset**.</a:t>
            </a:r>
          </a:p>
          <a:p>
            <a:r>
              <a:rPr lang="en-US"/>
              <a:t>2. Enter `FabricIQCustomerRiskQueries`.</a:t>
            </a:r>
          </a:p>
          <a:p>
            <a:r>
              <a:rPr lang="en-US"/>
              <a:t>3. Set **Location** to **YOUR_WORKSPACE_NAME** and select **Create**.</a:t>
            </a:r>
          </a:p>
          <a:p>
            <a:r>
              <a:rPr lang="en-US"/>
              <a:t>4. Rename the saved query to `TraceFraudAlert` using its **... &gt; Rename** menu.</a:t>
            </a:r>
          </a:p>
          <a:p>
            <a:r>
              <a:rPr lang="en-US"/>
              <a:t>5. Reopen the queryset from the workspace and verify that it reruns.</a:t>
            </a:r>
          </a:p>
          <a:p>
            <a:endParaRPr lang="en-US"/>
          </a:p>
          <a:p>
            <a:r>
              <a:rPr lang="en-US"/>
              <a:t>Querysets let appropriately authorized workspace users reuse the investigation. They are not a substitute for workspace and underlying-data access controls.</a:t>
            </a:r>
          </a:p>
          <a:p>
            <a:endParaRPr lang="en-US"/>
          </a:p>
          <a:p>
            <a:r>
              <a:rPr lang="en-US"/>
              <a:t>## 10. Optional: Extend the Demo Into Lending</a:t>
            </a:r>
          </a:p>
          <a:p>
            <a:endParaRPr lang="en-US"/>
          </a:p>
          <a:p>
            <a:r>
              <a:rPr lang="en-US"/>
              <a:t>Only add this after the simple payments demo works. The metadata confirms the following tables and columns are already present; no Account enrichment is required.</a:t>
            </a:r>
          </a:p>
          <a:p>
            <a:endParaRPr lang="en-US"/>
          </a:p>
          <a:p>
            <a:r>
              <a:rPr lang="en-US"/>
              <a:t>### Add Two Node Types</a:t>
            </a:r>
          </a:p>
          <a:p>
            <a:endParaRPr lang="en-US"/>
          </a:p>
          <a:p>
            <a:r>
              <a:rPr lang="en-US"/>
              <a:t>| Node label | Source table | Key | Properties |</a:t>
            </a:r>
          </a:p>
          <a:p>
            <a:r>
              <a:rPr lang="en-US"/>
              <a:t>| --- | --- | --- | --- |</a:t>
            </a:r>
          </a:p>
          <a:p>
            <a:r>
              <a:rPr lang="en-US"/>
              <a:t>| Loan | gold.fact_loan | loanId | loanId, balance, dpd |</a:t>
            </a:r>
          </a:p>
          <a:p>
            <a:r>
              <a:rPr lang="en-US"/>
              <a:t>| DelinquencyEvent | gold.fact_delinquency | eventId | eventId, dpdBucket |</a:t>
            </a:r>
          </a:p>
          <a:p>
            <a:endParaRPr lang="en-US"/>
          </a:p>
          <a:p>
            <a:r>
              <a:rPr lang="en-US"/>
              <a:t>### Add Two Edge Types</a:t>
            </a:r>
          </a:p>
          <a:p>
            <a:endParaRPr lang="en-US"/>
          </a:p>
          <a:p>
            <a:r>
              <a:rPr lang="en-US"/>
              <a:t>| Edge label | Source table | Origin node / key column | Target node / key column |</a:t>
            </a:r>
          </a:p>
          <a:p>
            <a:r>
              <a:rPr lang="en-US"/>
              <a:t>| --- | --- | --- | --- |</a:t>
            </a:r>
          </a:p>
          <a:p>
            <a:r>
              <a:rPr lang="en-US"/>
              <a:t>| ownsLoan | gold.fact_loan | Customer / customerKey | Loan / loanId |</a:t>
            </a:r>
          </a:p>
          <a:p>
            <a:r>
              <a:rPr lang="en-US"/>
              <a:t>| hasDelinquency | gold.fact_delinquency | Loan / loanId | DelinquencyEvent / eventId |</a:t>
            </a:r>
          </a:p>
          <a:p>
            <a:endParaRPr lang="en-US"/>
          </a:p>
          <a:p>
            <a:r>
              <a:rPr lang="en-US"/>
              <a:t>Use **Get data** to add these two tables, then **Add node** and **Add edge** using the mappings. Select **Save** and wait for the full graph reload to finish.</a:t>
            </a:r>
          </a:p>
          <a:p>
            <a:endParaRPr lang="en-US"/>
          </a:p>
          <a:p>
            <a:r>
              <a:rPr lang="en-US"/>
              <a:t>### Cross-Domain Question</a:t>
            </a:r>
          </a:p>
          <a:p>
            <a:endParaRPr lang="en-US"/>
          </a:p>
          <a:p>
            <a:r>
              <a:rPr lang="en-US"/>
              <a:t>```gql</a:t>
            </a:r>
          </a:p>
          <a:p>
            <a:r>
              <a:rPr lang="en-US"/>
              <a:t>MATCH (alert:FraudAlert)&lt;-[:hasAlert]-(transaction:Transaction)&lt;-[:makesTransaction]-(customer:Customer)-[:ownsLoan]-&gt;(loan:Loan)-[:hasDelinquency]-&gt;(delinquency:DelinquencyEvent)</a:t>
            </a:r>
          </a:p>
          <a:p>
            <a:r>
              <a:rPr lang="en-US"/>
              <a:t>RETURN count(DISTINCT customer.customerKey) AS customers_with_both,</a:t>
            </a:r>
          </a:p>
          <a:p>
            <a:r>
              <a:rPr lang="en-US"/>
              <a:t>       count(DISTINCT loan.loanId) AS connected_loans</a:t>
            </a:r>
          </a:p>
          <a:p>
            <a:r>
              <a:rPr lang="en-US"/>
              <a:t>```</a:t>
            </a:r>
          </a:p>
          <a:p>
            <a:endParaRPr lang="en-US"/>
          </a:p>
          <a:p>
            <a:r>
              <a:rPr lang="en-US"/>
              <a:t>**Say:** "We can now navigate from a fraud alert through payments to a customer, then into lending."</a:t>
            </a:r>
          </a:p>
          <a:p>
            <a:endParaRPr lang="en-US"/>
          </a:p>
          <a:p>
            <a:r>
              <a:rPr lang="en-US"/>
              <a:t>**Meaning:** customers with a recorded alert on a transaction they made, and a delinquency event on a loan they own. This does not establish causation or current delinquency. Specify status and time windows for production use.</a:t>
            </a:r>
          </a:p>
          <a:p>
            <a:endParaRPr lang="en-US"/>
          </a:p>
          <a:p>
            <a:r>
              <a:rPr lang="en-US"/>
              <a:t>**Rehearsal check:** compare distinct customer counts with the equivalent source-table joins through txnId, customerKey, and loanId. No cross-domain graph result is claimed as verified here. Do not sum loan balances over the matched paths: multiple alerts or events can repeat a loan.</a:t>
            </a:r>
          </a:p>
          <a:p>
            <a:endParaRPr lang="en-US"/>
          </a:p>
          <a:p>
            <a:r>
              <a:rPr lang="en-US"/>
              <a:t>## 11. Customer Presentation Sequence</a:t>
            </a:r>
          </a:p>
          <a:p>
            <a:endParaRPr lang="en-US"/>
          </a:p>
          <a:p>
            <a:r>
              <a:rPr lang="en-US"/>
              <a:t>| Minutes | Show | Main message |</a:t>
            </a:r>
          </a:p>
          <a:p>
            <a:r>
              <a:rPr lang="en-US"/>
              <a:t>| --- | --- | --- |</a:t>
            </a:r>
          </a:p>
          <a:p>
            <a:r>
              <a:rPr lang="en-US"/>
              <a:t>| 0-2 | Four-node Model canvas | Nodes are entities; edges describe their relationships. |</a:t>
            </a:r>
          </a:p>
          <a:p>
            <a:r>
              <a:rPr lang="en-US"/>
              <a:t>| 2-4 | Known transaction query | Trace a record to the customer and merchant. |</a:t>
            </a:r>
          </a:p>
          <a:p>
            <a:r>
              <a:rPr lang="en-US"/>
              <a:t>| 4-7 | Fraud-alert visual query | Explain a recorded alert through its connected evidence. |</a:t>
            </a:r>
          </a:p>
          <a:p>
            <a:r>
              <a:rPr lang="en-US"/>
              <a:t>| 7-10 | Flagged-merchant ranking | Summarize connections using distinct entities. |</a:t>
            </a:r>
          </a:p>
          <a:p>
            <a:r>
              <a:rPr lang="en-US"/>
              <a:t>| 10-12 | Saved queryset | Preserve the investigation for reuse. |</a:t>
            </a:r>
          </a:p>
          <a:p>
            <a:r>
              <a:rPr lang="en-US"/>
              <a:t>| 12-15, optional | Lending extension | Follow a connected question across business domains. |</a:t>
            </a:r>
          </a:p>
          <a:p>
            <a:endParaRPr lang="en-US"/>
          </a:p>
          <a:p>
            <a:r>
              <a:rPr lang="en-US"/>
              <a:t>Do not build all nodes and edges in front of the customer. Open the prepared graph and inspect one node and one edge mapping, then spend the session exploring results.</a:t>
            </a:r>
          </a:p>
          <a:p>
            <a:endParaRPr lang="en-US"/>
          </a:p>
          <a:p>
            <a:r>
              <a:rPr lang="en-US"/>
              <a:t>## 12. Final Rehearsal Checklist</a:t>
            </a:r>
          </a:p>
          <a:p>
            <a:endParaRPr lang="en-US"/>
          </a:p>
          <a:p>
            <a:r>
              <a:rPr lang="en-US"/>
              <a:t>- Graph loading completed; refresh time recorded.</a:t>
            </a:r>
          </a:p>
          <a:p>
            <a:r>
              <a:rPr lang="en-US"/>
              <a:t>- All node keys checked for uniqueness and nulls; edge endpoints reconciled.</a:t>
            </a:r>
          </a:p>
          <a:p>
            <a:r>
              <a:rPr lang="en-US"/>
              <a:t>- Known transaction and alert match the source-preview checkpoints or updated source values.</a:t>
            </a:r>
          </a:p>
          <a:p>
            <a:r>
              <a:rPr lang="en-US"/>
              <a:t>- A flagged merchant selected from actual graph results, not assumed from an older POC.</a:t>
            </a:r>
          </a:p>
          <a:p>
            <a:r>
              <a:rPr lang="en-US"/>
              <a:t>- Diagram is small and readable; filters are already rehearsed.</a:t>
            </a:r>
          </a:p>
          <a:p>
            <a:r>
              <a:rPr lang="en-US"/>
              <a:t>- Saved queryset reopens and runs.</a:t>
            </a:r>
          </a:p>
          <a:p>
            <a:r>
              <a:rPr lang="en-US"/>
              <a:t>- Optional lending counts match an independent source calculation.</a:t>
            </a:r>
          </a:p>
          <a:p>
            <a:r>
              <a:rPr lang="en-US"/>
              <a:t>- Intended presenter identity can access the graph and source data; do not assume semantic-model RLS protects this graph.</a:t>
            </a:r>
          </a:p>
          <a:p>
            <a:r>
              <a:rPr lang="en-US"/>
              <a:t>- Screenshots or a brief recording are available as a clearly labeled fallback.</a:t>
            </a:r>
          </a:p>
          <a:p>
            <a:r>
              <a:rPr lang="en-US"/>
              <a:t>- Customer data classification, source access, and capacity cost are approved. Graph uses Fabric capacity and cache storage.</a:t>
            </a:r>
          </a:p>
          <a:p>
            <a:endParaRPr lang="en-US"/>
          </a:p>
          <a:p>
            <a:r>
              <a:rPr lang="en-US"/>
              <a:t>## Official Documentation</a:t>
            </a:r>
          </a:p>
          <a:p>
            <a:endParaRPr lang="en-US"/>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p:txBody>
      </p:sp>
      <p:sp>
        <p:nvSpPr>
          <p:cNvPr id="4" name="Slide Number Placeholder 3"/>
          <p:cNvSpPr>
            <a:spLocks noGrp="1"/>
          </p:cNvSpPr>
          <p:nvPr>
            <p:ph type="sldNum" sz="quarter" idx="5"/>
          </p:nvPr>
        </p:nvSpPr>
        <p:spPr/>
        <p:txBody>
          <a:bodyPr/>
          <a:lstStyle/>
          <a:p>
            <a:fld id="{4443CF16-5BFA-4F06-858D-0B559A50196A}" type="slidenum">
              <a:rPr lang="en-US" smtClean="0"/>
              <a:t>1</a:t>
            </a:fld>
            <a:endParaRPr lang="en-US"/>
          </a:p>
        </p:txBody>
      </p:sp>
    </p:spTree>
    <p:extLst>
      <p:ext uri="{BB962C8B-B14F-4D97-AF65-F5344CB8AC3E}">
        <p14:creationId xmlns:p14="http://schemas.microsoft.com/office/powerpoint/2010/main" val="2372922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**Story:** "Start with a transaction, see its customer and merchant, then follow a fraud alert through the same connections."</a:t>
            </a:r>
          </a:p>
          <a:p>
            <a:endParaRPr lang="en-US"/>
          </a:p>
          <a:p>
            <a:r>
              <a:rPr lang="en-US"/>
              <a:t>Build a **standalone Graph model** in `YOUR_WORKSPACE_NAME`, using four existing tables in `FabricIQ.gold`. No ontology, new source tables, data upload, or notebook is needed. Build and refresh before the meeting; show exploration during the customer demo.</a:t>
            </a:r>
          </a:p>
          <a:p>
            <a:endParaRPr lang="en-US"/>
          </a:p>
          <a:p>
            <a:r>
              <a:rPr lang="en-US"/>
              <a:t>**Preparation:** allow 30-45 minutes plus graph loading time.  </a:t>
            </a:r>
          </a:p>
          <a:p>
            <a:r>
              <a:rPr lang="en-US"/>
              <a:t>**Customer demo:** 10-15 minutes.  </a:t>
            </a:r>
          </a:p>
          <a:p>
            <a:r>
              <a:rPr lang="en-US"/>
              <a:t>**Optional extension:** connect customers to loans and delinquency events.</a:t>
            </a:r>
          </a:p>
          <a:p>
            <a:endParaRPr lang="en-US"/>
          </a:p>
          <a:p>
            <a:r>
              <a:rPr lang="en-US"/>
              <a:t>### What Was Verified</a:t>
            </a:r>
          </a:p>
          <a:p>
            <a:endParaRPr lang="en-US"/>
          </a:p>
          <a:p>
            <a:r>
              <a:rPr lang="en-US"/>
              <a:t>Read-only Fabric tools confirmed the following environment and table metadata. Sample rows were retrieved from the transaction, merchant, and fraud-alert tables. The tool retrieval timestamps were October 9, 2026 UTC.</a:t>
            </a:r>
          </a:p>
          <a:p>
            <a:endParaRPr lang="en-US"/>
          </a:p>
          <a:p>
            <a:r>
              <a:rPr lang="en-US"/>
              <a:t>| Item | Verified value |</a:t>
            </a:r>
          </a:p>
          <a:p>
            <a:r>
              <a:rPr lang="en-US"/>
              <a:t>| --- | --- |</a:t>
            </a:r>
          </a:p>
          <a:p>
            <a:r>
              <a:rPr lang="en-US"/>
              <a:t>| Workspace | YOUR_WORKSPACE_NAME |</a:t>
            </a:r>
          </a:p>
          <a:p>
            <a:r>
              <a:rPr lang="en-US"/>
              <a:t>| Workspace ID | 00000000-0000-0000-0000-000000000003 |</a:t>
            </a:r>
          </a:p>
          <a:p>
            <a:r>
              <a:rPr lang="en-US"/>
              <a:t>| Lakehouse | FabricIQ |</a:t>
            </a:r>
          </a:p>
          <a:p>
            <a:r>
              <a:rPr lang="en-US"/>
              <a:t>| Lakehouse ID | 00000000-0000-0000-0000-000000000005 |</a:t>
            </a:r>
          </a:p>
          <a:p>
            <a:r>
              <a:rPr lang="en-US"/>
              <a:t>| Lakehouse layout | Schema-enabled; demo tables are in gold, not dbo |</a:t>
            </a:r>
          </a:p>
          <a:p>
            <a:r>
              <a:rPr lang="en-US"/>
              <a:t>| Merchant risk flag | gold.dim_merchant.riskFlag is bit / Boolean |</a:t>
            </a:r>
          </a:p>
          <a:p>
            <a:r>
              <a:rPr lang="en-US"/>
              <a:t>| Customer join key | customerKey is present in customer, transaction, fraud-alert, loan, and delinquency tables |</a:t>
            </a:r>
          </a:p>
          <a:p>
            <a:r>
              <a:rPr lang="en-US"/>
              <a:t>| Account caveat | gold.dim_account does not currently contain customerKey |</a:t>
            </a:r>
          </a:p>
          <a:p>
            <a:endParaRPr lang="en-US"/>
          </a:p>
          <a:p>
            <a:r>
              <a:rPr lang="en-US"/>
              <a:t>**Verification boundary:** table metadata and sample rows were inspected, not full-table key uniqueness or graph queries. No remote Graph item was created or changed. Follow the checks below before presenting. Confirm that this remains approved synthetic/demo data; avoid adding unnecessary personal or account details.
1. Open [Microsoft Fabric](https://fabric.microsoft.com/).</a:t>
            </a:r>
          </a:p>
          <a:p>
            <a:r>
              <a:rPr lang="en-US"/>
              <a:t>2. Confirm the intended tenant, select **Workspaces**, then **YOUR_WORKSPACE_NAME**.</a:t>
            </a:r>
          </a:p>
          <a:p>
            <a:r>
              <a:rPr lang="en-US"/>
              <a:t>3. Open **FabricIQ**.</a:t>
            </a:r>
          </a:p>
          <a:p>
            <a:r>
              <a:rPr lang="en-US"/>
              <a:t>4. In the Lakehouse Explorer, expand **Tables &gt; gold**.</a:t>
            </a:r>
          </a:p>
          <a:p>
            <a:r>
              <a:rPr lang="en-US"/>
              <a:t>5. Open dim_customer, fact_transaction, dim_merchant, and fact_fraud_alert to review the columns in the mapping above.</a:t>
            </a:r>
          </a:p>
          <a:p>
            <a:r>
              <a:rPr lang="en-US"/>
              <a:t>6. Confirm that the graph creator has workspace authoring permissions and access to the source tables. Graph prerequisites include a supported region and an active Fabric F2-or-higher capacity or trial.</a:t>
            </a:r>
          </a:p>
          <a:p>
            <a:r>
              <a:rPr lang="en-US"/>
              <a:t>7. In the lakehouse's **SQL analytics endpoint**, check that each node key is unique and non-null across its full source table. You can do this with your existing SQL tools; a table preview alone does not prove uniqueness.</a:t>
            </a:r>
          </a:p>
          <a:p>
            <a:r>
              <a:rPr lang="en-US"/>
              <a:t>8. Check endpoint coverage: transaction.customerKey must match customer.customerKey; transaction.merchantId must match merchant.merchantId; alert.txnId must match transaction.txnId. All these keys were reported as varchar, so the observed types match.</a:t>
            </a:r>
          </a:p>
          <a:p>
            <a:endParaRPr lang="en-US"/>
          </a:p>
          <a:p>
            <a:r>
              <a:rPr lang="en-US"/>
              <a:t>Use customerKey for the shared customer identity, not customerId or borrowerId. Do not create a Customer-to-Account edge on customerKey: that column is absent from the current account table, and this small demo does not require Account.</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2</a:t>
            </a:fld>
            <a:endParaRPr lang="en-US"/>
          </a:p>
        </p:txBody>
      </p:sp>
    </p:spTree>
    <p:extLst>
      <p:ext uri="{BB962C8B-B14F-4D97-AF65-F5344CB8AC3E}">
        <p14:creationId xmlns:p14="http://schemas.microsoft.com/office/powerpoint/2010/main" val="36689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```mermaid</a:t>
            </a:r>
          </a:p>
          <a:p>
            <a:r>
              <a:rPr lang="en-US"/>
              <a:t>flowchart LR</a:t>
            </a:r>
          </a:p>
          <a:p>
            <a:r>
              <a:rPr lang="en-US"/>
              <a:t>    C[Customer] --&gt;|makesTransaction| T[Transaction]</a:t>
            </a:r>
          </a:p>
          <a:p>
            <a:r>
              <a:rPr lang="en-US"/>
              <a:t>    T --&gt;|atMerchant| M[Merchant]</a:t>
            </a:r>
          </a:p>
          <a:p>
            <a:r>
              <a:rPr lang="en-US"/>
              <a:t>    T --&gt;|hasAlert| F[FraudAlert]</a:t>
            </a:r>
          </a:p>
          <a:p>
            <a:r>
              <a:rPr lang="en-US"/>
              <a:t>```</a:t>
            </a:r>
          </a:p>
          <a:p>
            <a:endParaRPr lang="en-US"/>
          </a:p>
          <a:p>
            <a:r>
              <a:rPr lang="en-US"/>
              <a:t>- Customer tells you **who** made the transaction.</a:t>
            </a:r>
          </a:p>
          <a:p>
            <a:r>
              <a:rPr lang="en-US"/>
              <a:t>- Transaction tells you **what happened**.</a:t>
            </a:r>
          </a:p>
          <a:p>
            <a:r>
              <a:rPr lang="en-US"/>
              <a:t>- Merchant tells you **where it happened**.</a:t>
            </a:r>
          </a:p>
          <a:p>
            <a:r>
              <a:rPr lang="en-US"/>
              <a:t>- FraudAlert tells you **what was recorded for review**.</a:t>
            </a:r>
          </a:p>
          <a:p>
            <a:endParaRPr lang="en-US"/>
          </a:p>
          <a:p>
            <a:r>
              <a:rPr lang="en-US"/>
              <a:t>The arrows are deliberately named to read naturally. Use the exact case-sensitive labels below in queries. These are labels for the **new demo graph**, not labels assumed to exist in an older ontology graph.</a:t>
            </a:r>
          </a:p>
          <a:p>
            <a:endParaRPr lang="en-US"/>
          </a:p>
          <a:p>
            <a:r>
              <a:rPr lang="en-US"/>
              <a:t>### Node Mapping</a:t>
            </a:r>
          </a:p>
          <a:p>
            <a:endParaRPr lang="en-US"/>
          </a:p>
          <a:p>
            <a:r>
              <a:rPr lang="en-US"/>
              <a:t>| Node label | Source table | Node key | Properties to include |</a:t>
            </a:r>
          </a:p>
          <a:p>
            <a:r>
              <a:rPr lang="en-US"/>
              <a:t>| --- | --- | --- | --- |</a:t>
            </a:r>
          </a:p>
          <a:p>
            <a:r>
              <a:rPr lang="en-US"/>
              <a:t>| Customer | gold.dim_customer | customerKey | customerKey, region, segment |</a:t>
            </a:r>
          </a:p>
          <a:p>
            <a:r>
              <a:rPr lang="en-US"/>
              <a:t>| Transaction | gold.fact_transaction | txnId | txnId, customerKey, amount, currency, channel, isFraud |</a:t>
            </a:r>
          </a:p>
          <a:p>
            <a:r>
              <a:rPr lang="en-US"/>
              <a:t>| Merchant | gold.dim_merchant | merchantId | merchantId, name, category, country, riskFlag |</a:t>
            </a:r>
          </a:p>
          <a:p>
            <a:r>
              <a:rPr lang="en-US"/>
              <a:t>| FraudAlert | gold.fact_fraud_alert | alertId | alertId, severity, status, type |</a:t>
            </a:r>
          </a:p>
          <a:p>
            <a:endParaRPr lang="en-US"/>
          </a:p>
          <a:p>
            <a:r>
              <a:rPr lang="en-US"/>
              <a:t>Customer names, email, cardId, and account identifiers are unnecessary for this demo. Add properties explicitly; do not select all columns.</a:t>
            </a:r>
          </a:p>
          <a:p>
            <a:endParaRPr lang="en-US"/>
          </a:p>
          <a:p>
            <a:r>
              <a:rPr lang="en-US"/>
              <a:t>### Edge Mapping</a:t>
            </a:r>
          </a:p>
          <a:p>
            <a:endParaRPr lang="en-US"/>
          </a:p>
          <a:p>
            <a:r>
              <a:rPr lang="en-US"/>
              <a:t>| Edge label | Source table | Origin node | Origin key column in source table | Target node | Target key column in source table |</a:t>
            </a:r>
          </a:p>
          <a:p>
            <a:r>
              <a:rPr lang="en-US"/>
              <a:t>| --- | --- | --- | --- | --- | --- |</a:t>
            </a:r>
          </a:p>
          <a:p>
            <a:r>
              <a:rPr lang="en-US"/>
              <a:t>| makesTransaction | gold.fact_transaction | Customer | customerKey | Transaction | txnId |</a:t>
            </a:r>
          </a:p>
          <a:p>
            <a:r>
              <a:rPr lang="en-US"/>
              <a:t>| atMerchant | gold.fact_transaction | Transaction | txnId | Merchant | merchantId |</a:t>
            </a:r>
          </a:p>
          <a:p>
            <a:r>
              <a:rPr lang="en-US"/>
              <a:t>| hasAlert | gold.fact_fraud_alert | Transaction | txnId | FraudAlert | alertId |</a:t>
            </a:r>
          </a:p>
          <a:p>
            <a:endParaRPr lang="en-US"/>
          </a:p>
          <a:p>
            <a:r>
              <a:rPr lang="en-US"/>
              <a:t>**Important:** for an edge, both key-column selections refer to the **edge source table**. For example, makesTransaction uses customerKey and txnId from fact_transaction, not a column selected from dim_customer.</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3</a:t>
            </a:fld>
            <a:endParaRPr lang="en-US"/>
          </a:p>
        </p:txBody>
      </p:sp>
    </p:spTree>
    <p:extLst>
      <p:ext uri="{BB962C8B-B14F-4D97-AF65-F5344CB8AC3E}">
        <p14:creationId xmlns:p14="http://schemas.microsoft.com/office/powerpoint/2010/main" val="2648354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```mermaid</a:t>
            </a:r>
          </a:p>
          <a:p>
            <a:r>
              <a:rPr lang="en-US"/>
              <a:t>flowchart LR</a:t>
            </a:r>
          </a:p>
          <a:p>
            <a:r>
              <a:rPr lang="en-US"/>
              <a:t>    C[Customer] --&gt;|makesTransaction| T[Transaction]</a:t>
            </a:r>
          </a:p>
          <a:p>
            <a:r>
              <a:rPr lang="en-US"/>
              <a:t>    T --&gt;|atMerchant| M[Merchant]</a:t>
            </a:r>
          </a:p>
          <a:p>
            <a:r>
              <a:rPr lang="en-US"/>
              <a:t>    T --&gt;|hasAlert| F[FraudAlert]</a:t>
            </a:r>
          </a:p>
          <a:p>
            <a:r>
              <a:rPr lang="en-US"/>
              <a:t>```</a:t>
            </a:r>
          </a:p>
          <a:p>
            <a:endParaRPr lang="en-US"/>
          </a:p>
          <a:p>
            <a:r>
              <a:rPr lang="en-US"/>
              <a:t>- Customer tells you **who** made the transaction.</a:t>
            </a:r>
          </a:p>
          <a:p>
            <a:r>
              <a:rPr lang="en-US"/>
              <a:t>- Transaction tells you **what happened**.</a:t>
            </a:r>
          </a:p>
          <a:p>
            <a:r>
              <a:rPr lang="en-US"/>
              <a:t>- Merchant tells you **where it happened**.</a:t>
            </a:r>
          </a:p>
          <a:p>
            <a:r>
              <a:rPr lang="en-US"/>
              <a:t>- FraudAlert tells you **what was recorded for review**.</a:t>
            </a:r>
          </a:p>
          <a:p>
            <a:endParaRPr lang="en-US"/>
          </a:p>
          <a:p>
            <a:r>
              <a:rPr lang="en-US"/>
              <a:t>The arrows are deliberately named to read naturally. Use the exact case-sensitive labels below in queries. These are labels for the **new demo graph**, not labels assumed to exist in an older ontology graph.</a:t>
            </a:r>
          </a:p>
          <a:p>
            <a:endParaRPr lang="en-US"/>
          </a:p>
          <a:p>
            <a:r>
              <a:rPr lang="en-US"/>
              <a:t>### Node Mapping</a:t>
            </a:r>
          </a:p>
          <a:p>
            <a:endParaRPr lang="en-US"/>
          </a:p>
          <a:p>
            <a:r>
              <a:rPr lang="en-US"/>
              <a:t>| Node label | Source table | Node key | Properties to include |</a:t>
            </a:r>
          </a:p>
          <a:p>
            <a:r>
              <a:rPr lang="en-US"/>
              <a:t>| --- | --- | --- | --- |</a:t>
            </a:r>
          </a:p>
          <a:p>
            <a:r>
              <a:rPr lang="en-US"/>
              <a:t>| Customer | gold.dim_customer | customerKey | customerKey, region, segment |</a:t>
            </a:r>
          </a:p>
          <a:p>
            <a:r>
              <a:rPr lang="en-US"/>
              <a:t>| Transaction | gold.fact_transaction | txnId | txnId, customerKey, amount, currency, channel, isFraud |</a:t>
            </a:r>
          </a:p>
          <a:p>
            <a:r>
              <a:rPr lang="en-US"/>
              <a:t>| Merchant | gold.dim_merchant | merchantId | merchantId, name, category, country, riskFlag |</a:t>
            </a:r>
          </a:p>
          <a:p>
            <a:r>
              <a:rPr lang="en-US"/>
              <a:t>| FraudAlert | gold.fact_fraud_alert | alertId | alertId, severity, status, type |</a:t>
            </a:r>
          </a:p>
          <a:p>
            <a:endParaRPr lang="en-US"/>
          </a:p>
          <a:p>
            <a:r>
              <a:rPr lang="en-US"/>
              <a:t>Customer names, email, cardId, and account identifiers are unnecessary for this demo. Add properties explicitly; do not select all columns.</a:t>
            </a:r>
          </a:p>
          <a:p>
            <a:endParaRPr lang="en-US"/>
          </a:p>
          <a:p>
            <a:r>
              <a:rPr lang="en-US"/>
              <a:t>### Edge Mapping</a:t>
            </a:r>
          </a:p>
          <a:p>
            <a:endParaRPr lang="en-US"/>
          </a:p>
          <a:p>
            <a:r>
              <a:rPr lang="en-US"/>
              <a:t>| Edge label | Source table | Origin node | Origin key column in source table | Target node | Target key column in source table |</a:t>
            </a:r>
          </a:p>
          <a:p>
            <a:r>
              <a:rPr lang="en-US"/>
              <a:t>| --- | --- | --- | --- | --- | --- |</a:t>
            </a:r>
          </a:p>
          <a:p>
            <a:r>
              <a:rPr lang="en-US"/>
              <a:t>| makesTransaction | gold.fact_transaction | Customer | customerKey | Transaction | txnId |</a:t>
            </a:r>
          </a:p>
          <a:p>
            <a:r>
              <a:rPr lang="en-US"/>
              <a:t>| atMerchant | gold.fact_transaction | Transaction | txnId | Merchant | merchantId |</a:t>
            </a:r>
          </a:p>
          <a:p>
            <a:r>
              <a:rPr lang="en-US"/>
              <a:t>| hasAlert | gold.fact_fraud_alert | Transaction | txnId | FraudAlert | alertId |</a:t>
            </a:r>
          </a:p>
          <a:p>
            <a:endParaRPr lang="en-US"/>
          </a:p>
          <a:p>
            <a:r>
              <a:rPr lang="en-US"/>
              <a:t>**Important:** for an edge, both key-column selections refer to the **edge source table**. For example, makesTransaction uses customerKey and txnId from fact_transaction, not a column selected from dim_customer.
### First Node: Customer</a:t>
            </a:r>
          </a:p>
          <a:p>
            <a:endParaRPr lang="en-US"/>
          </a:p>
          <a:p>
            <a:r>
              <a:rPr lang="en-US"/>
              <a:t>1. Select **Add node**.</a:t>
            </a:r>
          </a:p>
          <a:p>
            <a:r>
              <a:rPr lang="en-US"/>
              <a:t>2. Set **Node label** to `Customer`.</a:t>
            </a:r>
          </a:p>
          <a:p>
            <a:r>
              <a:rPr lang="en-US"/>
              <a:t>3. Set **Source table** to `gold.dim_customer`.</a:t>
            </a:r>
          </a:p>
          <a:p>
            <a:r>
              <a:rPr lang="en-US"/>
              <a:t>4. Set **Key** to `customerKey`.</a:t>
            </a:r>
          </a:p>
          <a:p>
            <a:r>
              <a:rPr lang="en-US"/>
              <a:t>5. Select **+ Add property** and choose customerKey, region, and segment. Keep their property names unchanged.</a:t>
            </a:r>
          </a:p>
          <a:p>
            <a:r>
              <a:rPr lang="en-US"/>
              <a:t>6. Apply the property selection if prompted, then select **Create**.</a:t>
            </a:r>
          </a:p>
          <a:p>
            <a:endParaRPr lang="en-US"/>
          </a:p>
          <a:p>
            <a:r>
              <a:rPr lang="en-US"/>
              <a:t>### Remaining Nodes</a:t>
            </a:r>
          </a:p>
          <a:p>
            <a:endParaRPr lang="en-US"/>
          </a:p>
          <a:p>
            <a:r>
              <a:rPr lang="en-US"/>
              <a:t>Repeat **Add node** for Transaction, Merchant, and FraudAlert using the exact node mapping in section 1.</a:t>
            </a:r>
          </a:p>
          <a:p>
            <a:endParaRPr lang="en-US"/>
          </a:p>
          <a:p>
            <a:r>
              <a:rPr lang="en-US"/>
              <a:t>**Checkpoint:** four node types appear on the Model canvas. These circles represent types, not individual customer or transaction records. Select a node to verify its table, key, and properties before continuing.</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4</a:t>
            </a:fld>
            <a:endParaRPr lang="en-US"/>
          </a:p>
        </p:txBody>
      </p:sp>
    </p:spTree>
    <p:extLst>
      <p:ext uri="{BB962C8B-B14F-4D97-AF65-F5344CB8AC3E}">
        <p14:creationId xmlns:p14="http://schemas.microsoft.com/office/powerpoint/2010/main" val="2374256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```mermaid</a:t>
            </a:r>
          </a:p>
          <a:p>
            <a:r>
              <a:rPr lang="en-US"/>
              <a:t>flowchart LR</a:t>
            </a:r>
          </a:p>
          <a:p>
            <a:r>
              <a:rPr lang="en-US"/>
              <a:t>    C[Customer] --&gt;|makesTransaction| T[Transaction]</a:t>
            </a:r>
          </a:p>
          <a:p>
            <a:r>
              <a:rPr lang="en-US"/>
              <a:t>    T --&gt;|atMerchant| M[Merchant]</a:t>
            </a:r>
          </a:p>
          <a:p>
            <a:r>
              <a:rPr lang="en-US"/>
              <a:t>    T --&gt;|hasAlert| F[FraudAlert]</a:t>
            </a:r>
          </a:p>
          <a:p>
            <a:r>
              <a:rPr lang="en-US"/>
              <a:t>```</a:t>
            </a:r>
          </a:p>
          <a:p>
            <a:endParaRPr lang="en-US"/>
          </a:p>
          <a:p>
            <a:r>
              <a:rPr lang="en-US"/>
              <a:t>- Customer tells you **who** made the transaction.</a:t>
            </a:r>
          </a:p>
          <a:p>
            <a:r>
              <a:rPr lang="en-US"/>
              <a:t>- Transaction tells you **what happened**.</a:t>
            </a:r>
          </a:p>
          <a:p>
            <a:r>
              <a:rPr lang="en-US"/>
              <a:t>- Merchant tells you **where it happened**.</a:t>
            </a:r>
          </a:p>
          <a:p>
            <a:r>
              <a:rPr lang="en-US"/>
              <a:t>- FraudAlert tells you **what was recorded for review**.</a:t>
            </a:r>
          </a:p>
          <a:p>
            <a:endParaRPr lang="en-US"/>
          </a:p>
          <a:p>
            <a:r>
              <a:rPr lang="en-US"/>
              <a:t>The arrows are deliberately named to read naturally. Use the exact case-sensitive labels below in queries. These are labels for the **new demo graph**, not labels assumed to exist in an older ontology graph.</a:t>
            </a:r>
          </a:p>
          <a:p>
            <a:endParaRPr lang="en-US"/>
          </a:p>
          <a:p>
            <a:r>
              <a:rPr lang="en-US"/>
              <a:t>### Node Mapping</a:t>
            </a:r>
          </a:p>
          <a:p>
            <a:endParaRPr lang="en-US"/>
          </a:p>
          <a:p>
            <a:r>
              <a:rPr lang="en-US"/>
              <a:t>| Node label | Source table | Node key | Properties to include |</a:t>
            </a:r>
          </a:p>
          <a:p>
            <a:r>
              <a:rPr lang="en-US"/>
              <a:t>| --- | --- | --- | --- |</a:t>
            </a:r>
          </a:p>
          <a:p>
            <a:r>
              <a:rPr lang="en-US"/>
              <a:t>| Customer | gold.dim_customer | customerKey | customerKey, region, segment |</a:t>
            </a:r>
          </a:p>
          <a:p>
            <a:r>
              <a:rPr lang="en-US"/>
              <a:t>| Transaction | gold.fact_transaction | txnId | txnId, customerKey, amount, currency, channel, isFraud |</a:t>
            </a:r>
          </a:p>
          <a:p>
            <a:r>
              <a:rPr lang="en-US"/>
              <a:t>| Merchant | gold.dim_merchant | merchantId | merchantId, name, category, country, riskFlag |</a:t>
            </a:r>
          </a:p>
          <a:p>
            <a:r>
              <a:rPr lang="en-US"/>
              <a:t>| FraudAlert | gold.fact_fraud_alert | alertId | alertId, severity, status, type |</a:t>
            </a:r>
          </a:p>
          <a:p>
            <a:endParaRPr lang="en-US"/>
          </a:p>
          <a:p>
            <a:r>
              <a:rPr lang="en-US"/>
              <a:t>Customer names, email, cardId, and account identifiers are unnecessary for this demo. Add properties explicitly; do not select all columns.</a:t>
            </a:r>
          </a:p>
          <a:p>
            <a:endParaRPr lang="en-US"/>
          </a:p>
          <a:p>
            <a:r>
              <a:rPr lang="en-US"/>
              <a:t>### Edge Mapping</a:t>
            </a:r>
          </a:p>
          <a:p>
            <a:endParaRPr lang="en-US"/>
          </a:p>
          <a:p>
            <a:r>
              <a:rPr lang="en-US"/>
              <a:t>| Edge label | Source table | Origin node | Origin key column in source table | Target node | Target key column in source table |</a:t>
            </a:r>
          </a:p>
          <a:p>
            <a:r>
              <a:rPr lang="en-US"/>
              <a:t>| --- | --- | --- | --- | --- | --- |</a:t>
            </a:r>
          </a:p>
          <a:p>
            <a:r>
              <a:rPr lang="en-US"/>
              <a:t>| makesTransaction | gold.fact_transaction | Customer | customerKey | Transaction | txnId |</a:t>
            </a:r>
          </a:p>
          <a:p>
            <a:r>
              <a:rPr lang="en-US"/>
              <a:t>| atMerchant | gold.fact_transaction | Transaction | txnId | Merchant | merchantId |</a:t>
            </a:r>
          </a:p>
          <a:p>
            <a:r>
              <a:rPr lang="en-US"/>
              <a:t>| hasAlert | gold.fact_fraud_alert | Transaction | txnId | FraudAlert | alertId |</a:t>
            </a:r>
          </a:p>
          <a:p>
            <a:endParaRPr lang="en-US"/>
          </a:p>
          <a:p>
            <a:r>
              <a:rPr lang="en-US"/>
              <a:t>**Important:** for an edge, both key-column selections refer to the **edge source table**. For example, makesTransaction uses customerKey and txnId from fact_transaction, not a column selected from dim_customer.
### First Edge: makesTransaction</a:t>
            </a:r>
          </a:p>
          <a:p>
            <a:endParaRPr lang="en-US"/>
          </a:p>
          <a:p>
            <a:r>
              <a:rPr lang="en-US"/>
              <a:t>1. Select **Add edge**.</a:t>
            </a:r>
          </a:p>
          <a:p>
            <a:r>
              <a:rPr lang="en-US"/>
              <a:t>2. Set **Edge label** to `makesTransaction`.</a:t>
            </a:r>
          </a:p>
          <a:p>
            <a:r>
              <a:rPr lang="en-US"/>
              <a:t>3. Set **Source table** to `gold.fact_transaction`.</a:t>
            </a:r>
          </a:p>
          <a:p>
            <a:r>
              <a:rPr lang="en-US"/>
              <a:t>4. Set **Origin node** to `Customer`.</a:t>
            </a:r>
          </a:p>
          <a:p>
            <a:r>
              <a:rPr lang="en-US"/>
              <a:t>5. Set **Origin key** to `customerKey` from the source table.</a:t>
            </a:r>
          </a:p>
          <a:p>
            <a:r>
              <a:rPr lang="en-US"/>
              <a:t>6. Set **Target node** to `Transaction`.</a:t>
            </a:r>
          </a:p>
          <a:p>
            <a:r>
              <a:rPr lang="en-US"/>
              <a:t>7. Set **Target key** to `txnId` from the source table.</a:t>
            </a:r>
          </a:p>
          <a:p>
            <a:r>
              <a:rPr lang="en-US"/>
              <a:t>8. Leave edge properties empty and select **Create**.</a:t>
            </a:r>
          </a:p>
          <a:p>
            <a:endParaRPr lang="en-US"/>
          </a:p>
          <a:p>
            <a:r>
              <a:rPr lang="en-US"/>
              <a:t>### Remaining Edges</a:t>
            </a:r>
          </a:p>
          <a:p>
            <a:endParaRPr lang="en-US"/>
          </a:p>
          <a:p>
            <a:r>
              <a:rPr lang="en-US"/>
              <a:t>Repeat **Add edge** for atMerchant and hasAlert using the edge mapping in section 1. Keep the direction exactly as listed.</a:t>
            </a:r>
          </a:p>
          <a:p>
            <a:endParaRPr lang="en-US"/>
          </a:p>
          <a:p>
            <a:r>
              <a:rPr lang="en-US"/>
              <a:t>**Checkpoint:** Customer -&gt; Transaction -&gt; Merchant, with Transaction -&gt; FraudAlert. The same source table can supply a node type and an edge type; you do not need separate relationship tables here.</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5</a:t>
            </a:fld>
            <a:endParaRPr lang="en-US"/>
          </a:p>
        </p:txBody>
      </p:sp>
    </p:spTree>
    <p:extLst>
      <p:ext uri="{BB962C8B-B14F-4D97-AF65-F5344CB8AC3E}">
        <p14:creationId xmlns:p14="http://schemas.microsoft.com/office/powerpoint/2010/main" val="1585183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1. Return to **YOUR_WORKSPACE_NAME**.</a:t>
            </a:r>
          </a:p>
          <a:p>
            <a:r>
              <a:rPr lang="en-US"/>
              <a:t>2. Select **+ New item**.</a:t>
            </a:r>
          </a:p>
          <a:p>
            <a:r>
              <a:rPr lang="en-US"/>
              <a:t>3. Search for **graph**.</a:t>
            </a:r>
          </a:p>
          <a:p>
            <a:r>
              <a:rPr lang="en-US"/>
              <a:t>4. Select **Graph model**.</a:t>
            </a:r>
          </a:p>
          <a:p>
            <a:r>
              <a:rPr lang="en-US"/>
              <a:t>5. Enter `FabricIQCustomerRiskDemo` and select **Create**.</a:t>
            </a:r>
          </a:p>
          <a:p>
            <a:r>
              <a:rPr lang="en-US"/>
              <a:t>6. The editor opens in **Model** mode.</a:t>
            </a:r>
          </a:p>
          <a:p>
            <a:r>
              <a:rPr lang="en-US"/>
              <a:t>7. Select **Get data** in the top ribbon.</a:t>
            </a:r>
          </a:p>
          <a:p>
            <a:r>
              <a:rPr lang="en-US"/>
              <a:t>8. In the **OneLake catalog**, select **FabricIQ** in **YOUR_WORKSPACE_NAME**, then select **Add**.</a:t>
            </a:r>
          </a:p>
          <a:p>
            <a:r>
              <a:rPr lang="en-US"/>
              <a:t>9. Select the four tables under **gold** listed in the node mapping.</a:t>
            </a:r>
          </a:p>
          <a:p>
            <a:r>
              <a:rPr lang="en-US"/>
              <a:t>10. Select **Load**.</a:t>
            </a:r>
          </a:p>
          <a:p>
            <a:endParaRPr lang="en-US"/>
          </a:p>
          <a:p>
            <a:r>
              <a:rPr lang="en-US"/>
              <a:t>**Checkpoint:** the source picker exposes the required gold tables. If it does not, stop and check the source picker, permissions, and current schema support. Do not drop the schema, rebuild the lakehouse, or overwrite source data as a workaround.</a:t>
            </a:r>
          </a:p>
          <a:p>
            <a:endParaRPr lang="en-US"/>
          </a:p>
          <a:p>
            <a:r>
              <a:rPr lang="en-US"/>
              <a:t>If an item with this name already exists, inspect it first. Create a separately named demo item rather than overwriting someone else's graph.</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6</a:t>
            </a:fld>
            <a:endParaRPr lang="en-US"/>
          </a:p>
        </p:txBody>
      </p:sp>
    </p:spTree>
    <p:extLst>
      <p:ext uri="{BB962C8B-B14F-4D97-AF65-F5344CB8AC3E}">
        <p14:creationId xmlns:p14="http://schemas.microsoft.com/office/powerpoint/2010/main" val="2188010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1. Select **Save** in the top ribbon.</a:t>
            </a:r>
          </a:p>
          <a:p>
            <a:r>
              <a:rPr lang="en-US"/>
              <a:t>2. Wait for **Data load is in progress** to change to **Data load completed...**.</a:t>
            </a:r>
          </a:p>
          <a:p>
            <a:r>
              <a:rPr lang="en-US"/>
              <a:t>3. Record the completed load time.</a:t>
            </a:r>
          </a:p>
          <a:p>
            <a:r>
              <a:rPr lang="en-US"/>
              <a:t>4. Do not start the live customer demo while loading is still in progress.</a:t>
            </a:r>
          </a:p>
          <a:p>
            <a:endParaRPr lang="en-US"/>
          </a:p>
          <a:p>
            <a:r>
              <a:rPr lang="en-US"/>
              <a:t>Saving persists the model and ingests source data into the queryable graph. Structural edits trigger a full reload. Source updates are not automatically visible in the loaded graph; refresh it before the demo. To schedule later refreshes, use workspace Graph item **... &gt; Schedule &gt; Add schedule**, configure the frequency, and **Save**.
1. Open [Microsoft Fabric](https://fabric.microsoft.com/).</a:t>
            </a:r>
          </a:p>
          <a:p>
            <a:r>
              <a:rPr lang="en-US"/>
              <a:t>2. Confirm the intended tenant, select **Workspaces**, then **YOUR_WORKSPACE_NAME**.</a:t>
            </a:r>
          </a:p>
          <a:p>
            <a:r>
              <a:rPr lang="en-US"/>
              <a:t>3. Open **FabricIQ**.</a:t>
            </a:r>
          </a:p>
          <a:p>
            <a:r>
              <a:rPr lang="en-US"/>
              <a:t>4. In the Lakehouse Explorer, expand **Tables &gt; gold**.</a:t>
            </a:r>
          </a:p>
          <a:p>
            <a:r>
              <a:rPr lang="en-US"/>
              <a:t>5. Open dim_customer, fact_transaction, dim_merchant, and fact_fraud_alert to review the columns in the mapping above.</a:t>
            </a:r>
          </a:p>
          <a:p>
            <a:r>
              <a:rPr lang="en-US"/>
              <a:t>6. Confirm that the graph creator has workspace authoring permissions and access to the source tables. Graph prerequisites include a supported region and an active Fabric F2-or-higher capacity or trial.</a:t>
            </a:r>
          </a:p>
          <a:p>
            <a:r>
              <a:rPr lang="en-US"/>
              <a:t>7. In the lakehouse's **SQL analytics endpoint**, check that each node key is unique and non-null across its full source table. You can do this with your existing SQL tools; a table preview alone does not prove uniqueness.</a:t>
            </a:r>
          </a:p>
          <a:p>
            <a:r>
              <a:rPr lang="en-US"/>
              <a:t>8. Check endpoint coverage: transaction.customerKey must match customer.customerKey; transaction.merchantId must match merchant.merchantId; alert.txnId must match transaction.txnId. All these keys were reported as varchar, so the observed types match.</a:t>
            </a:r>
          </a:p>
          <a:p>
            <a:endParaRPr lang="en-US"/>
          </a:p>
          <a:p>
            <a:r>
              <a:rPr lang="en-US"/>
              <a:t>Use customerKey for the shared customer identity, not customerId or borrowerId. Do not create a Customer-to-Account edge on customerKey: that column is absent from the current account table, and this small demo does not require Account.</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7</a:t>
            </a:fld>
            <a:endParaRPr lang="en-US"/>
          </a:p>
        </p:txBody>
      </p:sp>
    </p:spTree>
    <p:extLst>
      <p:ext uri="{BB962C8B-B14F-4D97-AF65-F5344CB8AC3E}">
        <p14:creationId xmlns:p14="http://schemas.microsoft.com/office/powerpoint/2010/main" val="916825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This transaction was observed in the current lakehouse preview. Use it as an initial wiring check, not a fraud example.</a:t>
            </a:r>
          </a:p>
          <a:p>
            <a:endParaRPr lang="en-US"/>
          </a:p>
          <a:p>
            <a:r>
              <a:rPr lang="en-US"/>
              <a:t>```gql</a:t>
            </a:r>
          </a:p>
          <a:p>
            <a:r>
              <a:rPr lang="en-US"/>
              <a:t>MATCH (customer:Customer)-[:makesTransaction]-&gt;(transaction:Transaction)-[:atMerchant]-&gt;(merchant:Merchant)</a:t>
            </a:r>
          </a:p>
          <a:p>
            <a:r>
              <a:rPr lang="en-US"/>
              <a:t>WHERE transaction.txnId = 'TX-00044001'</a:t>
            </a:r>
          </a:p>
          <a:p>
            <a:r>
              <a:rPr lang="en-US"/>
              <a:t>RETURN customer.customerKey AS customer_key,</a:t>
            </a:r>
          </a:p>
          <a:p>
            <a:r>
              <a:rPr lang="en-US"/>
              <a:t>       transaction.txnId AS transaction_id,</a:t>
            </a:r>
          </a:p>
          <a:p>
            <a:r>
              <a:rPr lang="en-US"/>
              <a:t>       transaction.amount AS amount,</a:t>
            </a:r>
          </a:p>
          <a:p>
            <a:r>
              <a:rPr lang="en-US"/>
              <a:t>       transaction.currency AS currency,</a:t>
            </a:r>
          </a:p>
          <a:p>
            <a:r>
              <a:rPr lang="en-US"/>
              <a:t>       merchant.merchantId AS merchant_id</a:t>
            </a:r>
          </a:p>
          <a:p>
            <a:r>
              <a:rPr lang="en-US"/>
              <a:t>LIMIT 5</a:t>
            </a:r>
          </a:p>
          <a:p>
            <a:r>
              <a:rPr lang="en-US"/>
              <a:t>```</a:t>
            </a:r>
          </a:p>
          <a:p>
            <a:endParaRPr lang="en-US"/>
          </a:p>
          <a:p>
            <a:r>
              <a:rPr lang="en-US"/>
              <a:t>**Source-preview checkpoint:** customerKey = CUST-001159, merchantId = MER-0013, amount = 94.25, currency = USD. A graph result matching these values still depends on successful loading and matching customer/merchant endpoints.</a:t>
            </a:r>
          </a:p>
          <a:p>
            <a:endParaRPr lang="en-US"/>
          </a:p>
          <a:p>
            <a:r>
              <a:rPr lang="en-US"/>
              <a:t>**Say:** "We started with one transaction and followed its two relationships to the customer and merchant."</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8</a:t>
            </a:fld>
            <a:endParaRPr lang="en-US"/>
          </a:p>
        </p:txBody>
      </p:sp>
    </p:spTree>
    <p:extLst>
      <p:ext uri="{BB962C8B-B14F-4D97-AF65-F5344CB8AC3E}">
        <p14:creationId xmlns:p14="http://schemas.microsoft.com/office/powerpoint/2010/main" val="675531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```gql</a:t>
            </a:r>
          </a:p>
          <a:p>
            <a:r>
              <a:rPr lang="en-US"/>
              <a:t>MATCH (customer:Customer)-[:makesTransaction]-&gt;(transaction:Transaction)-[:atMerchant]-&gt;(merchant:Merchant)</a:t>
            </a:r>
          </a:p>
          <a:p>
            <a:r>
              <a:rPr lang="en-US"/>
              <a:t>WHERE merchant.riskFlag = true</a:t>
            </a:r>
          </a:p>
          <a:p>
            <a:r>
              <a:rPr lang="en-US"/>
              <a:t>RETURN merchant.merchantId AS merchant_id,</a:t>
            </a:r>
          </a:p>
          <a:p>
            <a:r>
              <a:rPr lang="en-US"/>
              <a:t>       merchant.name AS merchant_name,</a:t>
            </a:r>
          </a:p>
          <a:p>
            <a:r>
              <a:rPr lang="en-US"/>
              <a:t>       count(DISTINCT transaction.txnId) AS transaction_count,</a:t>
            </a:r>
          </a:p>
          <a:p>
            <a:r>
              <a:rPr lang="en-US"/>
              <a:t>       count(DISTINCT customer.customerKey) AS customer_count</a:t>
            </a:r>
          </a:p>
          <a:p>
            <a:r>
              <a:rPr lang="en-US"/>
              <a:t>GROUP BY merchant_id, merchant_name</a:t>
            </a:r>
          </a:p>
          <a:p>
            <a:r>
              <a:rPr lang="en-US"/>
              <a:t>ORDER BY transaction_count DESC</a:t>
            </a:r>
          </a:p>
          <a:p>
            <a:r>
              <a:rPr lang="en-US"/>
              <a:t>LIMIT 5</a:t>
            </a:r>
          </a:p>
          <a:p>
            <a:r>
              <a:rPr lang="en-US"/>
              <a:t>```</a:t>
            </a:r>
          </a:p>
          <a:p>
            <a:endParaRPr lang="en-US"/>
          </a:p>
          <a:p>
            <a:r>
              <a:rPr lang="en-US"/>
              <a:t>**Checkpoint:** record a merchant ID returned by this query. No ranked results or full-table riskFlag distribution were verified while writing this guide. If no rows return, inspect the source flags, graph loading, and endpoint mappings rather than assuming a particular count.</a:t>
            </a:r>
          </a:p>
          <a:p>
            <a:endParaRPr lang="en-US"/>
          </a:p>
          <a:p>
            <a:r>
              <a:rPr lang="en-US"/>
              <a:t>**Say:** "This shows activity at merchants already flagged in the source data. It prioritizes review; it does not prove that every transaction or customer is fraudulent."</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9</a:t>
            </a:fld>
            <a:endParaRPr lang="en-US"/>
          </a:p>
        </p:txBody>
      </p:sp>
    </p:spTree>
    <p:extLst>
      <p:ext uri="{BB962C8B-B14F-4D97-AF65-F5344CB8AC3E}">
        <p14:creationId xmlns:p14="http://schemas.microsoft.com/office/powerpoint/2010/main" val="1735012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The alert AL-0000093 was observed in the current lakehouse preview with High severity and Open status.</a:t>
            </a:r>
          </a:p>
          <a:p>
            <a:endParaRPr lang="en-US"/>
          </a:p>
          <a:p>
            <a:r>
              <a:rPr lang="en-US"/>
              <a:t>```gql</a:t>
            </a:r>
          </a:p>
          <a:p>
            <a:r>
              <a:rPr lang="en-US"/>
              <a:t>MATCH (customer:Customer)-[:makesTransaction]-&gt;(transaction:Transaction)-[:atMerchant]-&gt;(merchant:Merchant),</a:t>
            </a:r>
          </a:p>
          <a:p>
            <a:r>
              <a:rPr lang="en-US"/>
              <a:t>      (transaction)-[:hasAlert]-&gt;(alert:FraudAlert)</a:t>
            </a:r>
          </a:p>
          <a:p>
            <a:r>
              <a:rPr lang="en-US"/>
              <a:t>WHERE alert.alertId = 'AL-0000093'</a:t>
            </a:r>
          </a:p>
          <a:p>
            <a:r>
              <a:rPr lang="en-US"/>
              <a:t>RETURN customer.customerKey AS customer_key,</a:t>
            </a:r>
          </a:p>
          <a:p>
            <a:r>
              <a:rPr lang="en-US"/>
              <a:t>       transaction.txnId AS transaction_id,</a:t>
            </a:r>
          </a:p>
          <a:p>
            <a:r>
              <a:rPr lang="en-US"/>
              <a:t>       merchant.merchantId AS merchant_id,</a:t>
            </a:r>
          </a:p>
          <a:p>
            <a:r>
              <a:rPr lang="en-US"/>
              <a:t>       alert.alertId AS alert_id,</a:t>
            </a:r>
          </a:p>
          <a:p>
            <a:r>
              <a:rPr lang="en-US"/>
              <a:t>       alert.type AS alert_type,</a:t>
            </a:r>
          </a:p>
          <a:p>
            <a:r>
              <a:rPr lang="en-US"/>
              <a:t>       alert.severity AS severity,</a:t>
            </a:r>
          </a:p>
          <a:p>
            <a:r>
              <a:rPr lang="en-US"/>
              <a:t>       alert.status AS status</a:t>
            </a:r>
          </a:p>
          <a:p>
            <a:r>
              <a:rPr lang="en-US"/>
              <a:t>LIMIT 10</a:t>
            </a:r>
          </a:p>
          <a:p>
            <a:r>
              <a:rPr lang="en-US"/>
              <a:t>```</a:t>
            </a:r>
          </a:p>
          <a:p>
            <a:endParaRPr lang="en-US"/>
          </a:p>
          <a:p>
            <a:r>
              <a:rPr lang="en-US"/>
              <a:t>**Source-preview checkpoint:** customerKey = CUST-002026, txnId = TX-00047093, type = CrossBorderHighValue, severity = High, status = Open. The merchant for this alert was not independently retrieved; check it during rehearsal. Source values can change, so reconcile after the graph refresh.</a:t>
            </a:r>
          </a:p>
          <a:p>
            <a:endParaRPr lang="en-US"/>
          </a:p>
          <a:p>
            <a:r>
              <a:rPr lang="en-US"/>
              <a:t>**Say:** "The graph connects the recorded alert to a transaction, its customer, and the merchant. The path is evidence for an investigator, not an automated decision."</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10</a:t>
            </a:fld>
            <a:endParaRPr lang="en-US"/>
          </a:p>
        </p:txBody>
      </p:sp>
    </p:spTree>
    <p:extLst>
      <p:ext uri="{BB962C8B-B14F-4D97-AF65-F5344CB8AC3E}">
        <p14:creationId xmlns:p14="http://schemas.microsoft.com/office/powerpoint/2010/main" val="3074395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Use the recorded alert to keep the visual result small and meaningful.</a:t>
            </a:r>
          </a:p>
          <a:p>
            <a:endParaRPr lang="en-US"/>
          </a:p>
          <a:p>
            <a:r>
              <a:rPr lang="en-US"/>
              <a:t>1. Stay in **Query** mode and select the visual **Query builder** rather than Code editor.</a:t>
            </a:r>
          </a:p>
          <a:p>
            <a:r>
              <a:rPr lang="en-US"/>
              <a:t>2. Start a new visual query and select **Add a node &gt; Transaction**.</a:t>
            </a:r>
          </a:p>
          <a:p>
            <a:r>
              <a:rPr lang="en-US"/>
              <a:t>3. Open the right-side **Components** pane using its puzzle-piece icon.</a:t>
            </a:r>
          </a:p>
          <a:p>
            <a:r>
              <a:rPr lang="en-US"/>
              <a:t>4. With Transaction selected, choose **atMerchant** to add Merchant.</a:t>
            </a:r>
          </a:p>
          <a:p>
            <a:r>
              <a:rPr lang="en-US"/>
              <a:t>5. Select Transaction again and choose **hasAlert** to add FraudAlert.</a:t>
            </a:r>
          </a:p>
          <a:p>
            <a:r>
              <a:rPr lang="en-US"/>
              <a:t>6. Add the incoming **makesTransaction** relationship and Customer from Components. Verify that Customer -&gt; Transaction is preserved; do not reverse the model edge to make the builder work.</a:t>
            </a:r>
          </a:p>
          <a:p>
            <a:r>
              <a:rPr lang="en-US"/>
              <a:t>7. Select FraudAlert, then **Filter**.</a:t>
            </a:r>
          </a:p>
          <a:p>
            <a:r>
              <a:rPr lang="en-US"/>
              <a:t>8. Set alertId equal to `AL-0000093`, then select **Apply**.</a:t>
            </a:r>
          </a:p>
          <a:p>
            <a:r>
              <a:rPr lang="en-US"/>
              <a:t>9. Select **Run query**.</a:t>
            </a:r>
          </a:p>
          <a:p>
            <a:r>
              <a:rPr lang="en-US"/>
              <a:t>10. Close Components and collapse the builder pane to enlarge the results.</a:t>
            </a:r>
          </a:p>
          <a:p>
            <a:r>
              <a:rPr lang="en-US"/>
              <a:t>11. Show **Diagram** view. Select a node to inspect its properties and drag nodes apart so connections are legible.</a:t>
            </a:r>
          </a:p>
          <a:p>
            <a:r>
              <a:rPr lang="en-US"/>
              <a:t>12. Switch to **Table** view to show the same evidence as records.</a:t>
            </a:r>
          </a:p>
          <a:p>
            <a:endParaRPr lang="en-US"/>
          </a:p>
          <a:p>
            <a:r>
              <a:rPr lang="en-US"/>
              <a:t>**Checkpoint:** the diagram displays individual records, unlike the Model canvas's node types. Rehearse incoming-edge selection in your actual UI; controls can vary. If the builder does not offer the incoming edge from Transaction, begin at Customer and add makesTransaction, then atMerchant and hasAlert.</a:t>
            </a:r>
          </a:p>
          <a:p>
            <a:endParaRPr lang="en-US"/>
          </a:p>
          <a:p>
            <a:r>
              <a:rPr lang="en-US"/>
              <a:t>**Say:** "This is the difference between knowing the records exist and seeing how those records connect."</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11</a:t>
            </a:fld>
            <a:endParaRPr lang="en-US"/>
          </a:p>
        </p:txBody>
      </p:sp>
    </p:spTree>
    <p:extLst>
      <p:ext uri="{BB962C8B-B14F-4D97-AF65-F5344CB8AC3E}">
        <p14:creationId xmlns:p14="http://schemas.microsoft.com/office/powerpoint/2010/main" val="2618356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1. In Query mode, select **Create queryset**.</a:t>
            </a:r>
          </a:p>
          <a:p>
            <a:r>
              <a:rPr lang="en-US"/>
              <a:t>2. Enter `FabricIQCustomerRiskQueries`.</a:t>
            </a:r>
          </a:p>
          <a:p>
            <a:r>
              <a:rPr lang="en-US"/>
              <a:t>3. Set **Location** to **YOUR_WORKSPACE_NAME** and select **Create**.</a:t>
            </a:r>
          </a:p>
          <a:p>
            <a:r>
              <a:rPr lang="en-US"/>
              <a:t>4. Rename the saved query to `TraceFraudAlert` using its **... &gt; Rename** menu.</a:t>
            </a:r>
          </a:p>
          <a:p>
            <a:r>
              <a:rPr lang="en-US"/>
              <a:t>5. Reopen the queryset from the workspace and verify that it reruns.</a:t>
            </a:r>
          </a:p>
          <a:p>
            <a:endParaRPr lang="en-US"/>
          </a:p>
          <a:p>
            <a:r>
              <a:rPr lang="en-US"/>
              <a:t>Querysets let appropriately authorized workspace users reuse the investigation. They are not a substitute for workspace and underlying-data access controls.</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12</a:t>
            </a:fld>
            <a:endParaRPr lang="en-US"/>
          </a:p>
        </p:txBody>
      </p:sp>
    </p:spTree>
    <p:extLst>
      <p:ext uri="{BB962C8B-B14F-4D97-AF65-F5344CB8AC3E}">
        <p14:creationId xmlns:p14="http://schemas.microsoft.com/office/powerpoint/2010/main" val="3515407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Only add this after the simple payments demo works. The metadata confirms the following tables and columns are already present; no Account enrichment is required.</a:t>
            </a:r>
          </a:p>
          <a:p>
            <a:endParaRPr lang="en-US"/>
          </a:p>
          <a:p>
            <a:r>
              <a:rPr lang="en-US"/>
              <a:t>### Add Two Node Types</a:t>
            </a:r>
          </a:p>
          <a:p>
            <a:endParaRPr lang="en-US"/>
          </a:p>
          <a:p>
            <a:r>
              <a:rPr lang="en-US"/>
              <a:t>| Node label | Source table | Key | Properties |</a:t>
            </a:r>
          </a:p>
          <a:p>
            <a:r>
              <a:rPr lang="en-US"/>
              <a:t>| --- | --- | --- | --- |</a:t>
            </a:r>
          </a:p>
          <a:p>
            <a:r>
              <a:rPr lang="en-US"/>
              <a:t>| Loan | gold.fact_loan | loanId | loanId, balance, dpd |</a:t>
            </a:r>
          </a:p>
          <a:p>
            <a:r>
              <a:rPr lang="en-US"/>
              <a:t>| DelinquencyEvent | gold.fact_delinquency | eventId | eventId, dpdBucket |</a:t>
            </a:r>
          </a:p>
          <a:p>
            <a:endParaRPr lang="en-US"/>
          </a:p>
          <a:p>
            <a:r>
              <a:rPr lang="en-US"/>
              <a:t>### Add Two Edge Types</a:t>
            </a:r>
          </a:p>
          <a:p>
            <a:endParaRPr lang="en-US"/>
          </a:p>
          <a:p>
            <a:r>
              <a:rPr lang="en-US"/>
              <a:t>| Edge label | Source table | Origin node / key column | Target node / key column |</a:t>
            </a:r>
          </a:p>
          <a:p>
            <a:r>
              <a:rPr lang="en-US"/>
              <a:t>| --- | --- | --- | --- |</a:t>
            </a:r>
          </a:p>
          <a:p>
            <a:r>
              <a:rPr lang="en-US"/>
              <a:t>| ownsLoan | gold.fact_loan | Customer / customerKey | Loan / loanId |</a:t>
            </a:r>
          </a:p>
          <a:p>
            <a:r>
              <a:rPr lang="en-US"/>
              <a:t>| hasDelinquency | gold.fact_delinquency | Loan / loanId | DelinquencyEvent / eventId |</a:t>
            </a:r>
          </a:p>
          <a:p>
            <a:endParaRPr lang="en-US"/>
          </a:p>
          <a:p>
            <a:r>
              <a:rPr lang="en-US"/>
              <a:t>Use **Get data** to add these two tables, then **Add node** and **Add edge** using the mappings. Select **Save** and wait for the full graph reload to finish.</a:t>
            </a:r>
          </a:p>
          <a:p>
            <a:endParaRPr lang="en-US"/>
          </a:p>
          <a:p>
            <a:r>
              <a:rPr lang="en-US"/>
              <a:t>### Cross-Domain Question</a:t>
            </a:r>
          </a:p>
          <a:p>
            <a:endParaRPr lang="en-US"/>
          </a:p>
          <a:p>
            <a:r>
              <a:rPr lang="en-US"/>
              <a:t>```gql</a:t>
            </a:r>
          </a:p>
          <a:p>
            <a:r>
              <a:rPr lang="en-US"/>
              <a:t>MATCH (alert:FraudAlert)&lt;-[:hasAlert]-(transaction:Transaction)&lt;-[:makesTransaction]-(customer:Customer)-[:ownsLoan]-&gt;(loan:Loan)-[:hasDelinquency]-&gt;(delinquency:DelinquencyEvent)</a:t>
            </a:r>
          </a:p>
          <a:p>
            <a:r>
              <a:rPr lang="en-US"/>
              <a:t>RETURN count(DISTINCT customer.customerKey) AS customers_with_both,</a:t>
            </a:r>
          </a:p>
          <a:p>
            <a:r>
              <a:rPr lang="en-US"/>
              <a:t>       count(DISTINCT loan.loanId) AS connected_loans</a:t>
            </a:r>
          </a:p>
          <a:p>
            <a:r>
              <a:rPr lang="en-US"/>
              <a:t>```</a:t>
            </a:r>
          </a:p>
          <a:p>
            <a:endParaRPr lang="en-US"/>
          </a:p>
          <a:p>
            <a:r>
              <a:rPr lang="en-US"/>
              <a:t>**Say:** "We can now navigate from a fraud alert through payments to a customer, then into lending."</a:t>
            </a:r>
          </a:p>
          <a:p>
            <a:endParaRPr lang="en-US"/>
          </a:p>
          <a:p>
            <a:r>
              <a:rPr lang="en-US"/>
              <a:t>**Meaning:** customers with a recorded alert on a transaction they made, and a delinquency event on a loan they own. This does not establish causation or current delinquency. Specify status and time windows for production use.</a:t>
            </a:r>
          </a:p>
          <a:p>
            <a:endParaRPr lang="en-US"/>
          </a:p>
          <a:p>
            <a:r>
              <a:rPr lang="en-US"/>
              <a:t>**Rehearsal check:** compare distinct customer counts with the equivalent source-table joins through txnId, customerKey, and loanId. No cross-domain graph result is claimed as verified here. Do not sum loan balances over the matched paths: multiple alerts or events can repeat a loan.</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13</a:t>
            </a:fld>
            <a:endParaRPr lang="en-US"/>
          </a:p>
        </p:txBody>
      </p:sp>
    </p:spTree>
    <p:extLst>
      <p:ext uri="{BB962C8B-B14F-4D97-AF65-F5344CB8AC3E}">
        <p14:creationId xmlns:p14="http://schemas.microsoft.com/office/powerpoint/2010/main" val="2581958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GUIDE DETAILS</a:t>
            </a:r>
          </a:p>
          <a:p>
            <a:r>
              <a:rPr lang="en-US"/>
              <a:t>| Minutes | Show | Main message |</a:t>
            </a:r>
          </a:p>
          <a:p>
            <a:r>
              <a:rPr lang="en-US"/>
              <a:t>| --- | --- | --- |</a:t>
            </a:r>
          </a:p>
          <a:p>
            <a:r>
              <a:rPr lang="en-US"/>
              <a:t>| 0-2 | Four-node Model canvas | Nodes are entities; edges describe their relationships. |</a:t>
            </a:r>
          </a:p>
          <a:p>
            <a:r>
              <a:rPr lang="en-US"/>
              <a:t>| 2-4 | Known transaction query | Trace a record to the customer and merchant. |</a:t>
            </a:r>
          </a:p>
          <a:p>
            <a:r>
              <a:rPr lang="en-US"/>
              <a:t>| 4-7 | Fraud-alert visual query | Explain a recorded alert through its connected evidence. |</a:t>
            </a:r>
          </a:p>
          <a:p>
            <a:r>
              <a:rPr lang="en-US"/>
              <a:t>| 7-10 | Flagged-merchant ranking | Summarize connections using distinct entities. |</a:t>
            </a:r>
          </a:p>
          <a:p>
            <a:r>
              <a:rPr lang="en-US"/>
              <a:t>| 10-12 | Saved queryset | Preserve the investigation for reuse. |</a:t>
            </a:r>
          </a:p>
          <a:p>
            <a:r>
              <a:rPr lang="en-US"/>
              <a:t>| 12-15, optional | Lending extension | Follow a connected question across business domains. |</a:t>
            </a:r>
          </a:p>
          <a:p>
            <a:endParaRPr lang="en-US"/>
          </a:p>
          <a:p>
            <a:r>
              <a:rPr lang="en-US"/>
              <a:t>Do not build all nodes and edges in front of the customer. Open the prepared graph and inspect one node and one edge mapping, then spend the session exploring results.
- Graph loading completed; refresh time recorded.</a:t>
            </a:r>
          </a:p>
          <a:p>
            <a:r>
              <a:rPr lang="en-US"/>
              <a:t>- All node keys checked for uniqueness and nulls; edge endpoints reconciled.</a:t>
            </a:r>
          </a:p>
          <a:p>
            <a:r>
              <a:rPr lang="en-US"/>
              <a:t>- Known transaction and alert match the source-preview checkpoints or updated source values.</a:t>
            </a:r>
          </a:p>
          <a:p>
            <a:r>
              <a:rPr lang="en-US"/>
              <a:t>- A flagged merchant selected from actual graph results, not assumed from an older POC.</a:t>
            </a:r>
          </a:p>
          <a:p>
            <a:r>
              <a:rPr lang="en-US"/>
              <a:t>- Diagram is small and readable; filters are already rehearsed.</a:t>
            </a:r>
          </a:p>
          <a:p>
            <a:r>
              <a:rPr lang="en-US"/>
              <a:t>- Saved queryset reopens and runs.</a:t>
            </a:r>
          </a:p>
          <a:p>
            <a:r>
              <a:rPr lang="en-US"/>
              <a:t>- Optional lending counts match an independent source calculation.</a:t>
            </a:r>
          </a:p>
          <a:p>
            <a:r>
              <a:rPr lang="en-US"/>
              <a:t>- Intended presenter identity can access the graph and source data; do not assume semantic-model RLS protects this graph.</a:t>
            </a:r>
          </a:p>
          <a:p>
            <a:r>
              <a:rPr lang="en-US"/>
              <a:t>- Screenshots or a brief recording are available as a clearly labeled fallback.</a:t>
            </a:r>
          </a:p>
          <a:p>
            <a:r>
              <a:rPr lang="en-US"/>
              <a:t>- Customer data classification, source access, and capacity cost are approved. Graph uses Fabric capacity and cache storage.</a:t>
            </a:r>
          </a:p>
          <a:p>
            <a:endParaRPr lang="en-US"/>
          </a:p>
          <a:p>
            <a:r>
              <a:rPr lang="en-US"/>
              <a:t>OFFICIAL DOCUMENTATION</a:t>
            </a:r>
          </a:p>
          <a:p>
            <a:r>
              <a:rPr lang="en-US"/>
              <a:t>- [Create your first graph](https://learn.microsoft.com/fabric/graph/quickstart)</a:t>
            </a:r>
          </a:p>
          <a:p>
            <a:r>
              <a:rPr lang="en-US"/>
              <a:t>- [Design a graph schema](https://learn.microsoft.com/fabric/graph/design-graph-schema)</a:t>
            </a:r>
          </a:p>
          <a:p>
            <a:r>
              <a:rPr lang="en-US"/>
              <a:t>- [Query the graph with the query builder](https://learn.microsoft.com/fabric/graph/tutorial-query-builder)</a:t>
            </a:r>
          </a:p>
          <a:p>
            <a:r>
              <a:rPr lang="en-US"/>
              <a:t>- [Manage and refresh data](https://learn.microsoft.com/fabric/graph/manage-data)</a:t>
            </a:r>
          </a:p>
          <a:p>
            <a:r>
              <a:rPr lang="en-US"/>
              <a:t>- [GQL language guide](https://learn.microsoft.com/fabric/graph/gql-language-guide)</a:t>
            </a:r>
          </a:p>
          <a:p>
            <a:r>
              <a:rPr lang="en-US"/>
              <a:t>- [Current limitations](https://learn.microsoft.com/fabric/graph/limitations)</a:t>
            </a:r>
          </a:p>
          <a:p>
            <a:endParaRPr lang="en-US"/>
          </a:p>
          <a:p>
            <a:r>
              <a:rPr lang="en-US"/>
              <a:t>Illustrations are editable schematics, not product screenshots. Source-preview checkpoints are not verified graph results.</a:t>
            </a:r>
          </a:p>
        </p:txBody>
      </p:sp>
      <p:sp>
        <p:nvSpPr>
          <p:cNvPr id="4" name="Slide Number Placeholder 3"/>
          <p:cNvSpPr>
            <a:spLocks noGrp="1"/>
          </p:cNvSpPr>
          <p:nvPr>
            <p:ph type="sldNum" sz="quarter" idx="5"/>
          </p:nvPr>
        </p:nvSpPr>
        <p:spPr/>
        <p:txBody>
          <a:bodyPr/>
          <a:lstStyle/>
          <a:p>
            <a:fld id="{4443CF16-5BFA-4F06-858D-0B559A50196A}" type="slidenum">
              <a:rPr lang="en-US" smtClean="0"/>
              <a:t>14</a:t>
            </a:fld>
            <a:endParaRPr lang="en-US"/>
          </a:p>
        </p:txBody>
      </p:sp>
    </p:spTree>
    <p:extLst>
      <p:ext uri="{BB962C8B-B14F-4D97-AF65-F5344CB8AC3E}">
        <p14:creationId xmlns:p14="http://schemas.microsoft.com/office/powerpoint/2010/main" val="3641000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781B8-AC67-5A47-D664-D6AA5B164E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0DA902-3EF3-F7CB-3822-605C6620D5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81F204-0514-50DD-6B66-2DD883E66169}"/>
              </a:ext>
            </a:extLst>
          </p:cNvPr>
          <p:cNvSpPr>
            <a:spLocks noGrp="1"/>
          </p:cNvSpPr>
          <p:nvPr>
            <p:ph type="dt" sz="half" idx="10"/>
          </p:nvPr>
        </p:nvSpPr>
        <p:spPr/>
        <p:txBody>
          <a:bodyPr/>
          <a:lstStyle/>
          <a:p>
            <a:fld id="{720161BF-17D6-4B6C-B351-1DFFDB30772E}" type="datetimeFigureOut">
              <a:rPr lang="en-US" smtClean="0"/>
              <a:t>10/8/2026</a:t>
            </a:fld>
            <a:endParaRPr lang="en-US"/>
          </a:p>
        </p:txBody>
      </p:sp>
      <p:sp>
        <p:nvSpPr>
          <p:cNvPr id="5" name="Footer Placeholder 4">
            <a:extLst>
              <a:ext uri="{FF2B5EF4-FFF2-40B4-BE49-F238E27FC236}">
                <a16:creationId xmlns:a16="http://schemas.microsoft.com/office/drawing/2014/main" id="{0CC776F3-92B0-BF8F-7FA7-99184BFE21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40532E-1C0D-DBEE-A026-72248ABB7843}"/>
              </a:ext>
            </a:extLst>
          </p:cNvPr>
          <p:cNvSpPr>
            <a:spLocks noGrp="1"/>
          </p:cNvSpPr>
          <p:nvPr>
            <p:ph type="sldNum" sz="quarter" idx="12"/>
          </p:nvPr>
        </p:nvSpPr>
        <p:spPr/>
        <p:txBody>
          <a:bodyPr/>
          <a:lstStyle/>
          <a:p>
            <a:fld id="{5507EE1A-4F09-42B1-BD63-1C75968EAC6F}" type="slidenum">
              <a:rPr lang="en-US" smtClean="0"/>
              <a:t>‹#›</a:t>
            </a:fld>
            <a:endParaRPr lang="en-US"/>
          </a:p>
        </p:txBody>
      </p:sp>
    </p:spTree>
    <p:extLst>
      <p:ext uri="{BB962C8B-B14F-4D97-AF65-F5344CB8AC3E}">
        <p14:creationId xmlns:p14="http://schemas.microsoft.com/office/powerpoint/2010/main" val="2534492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44B4-1D3A-234E-E4AA-51DE48732E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E63B56-83DE-5EEC-23B1-EDEDCF3D3B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FC4227-609B-35DC-8CCE-C2EE8E5839BD}"/>
              </a:ext>
            </a:extLst>
          </p:cNvPr>
          <p:cNvSpPr>
            <a:spLocks noGrp="1"/>
          </p:cNvSpPr>
          <p:nvPr>
            <p:ph type="dt" sz="half" idx="10"/>
          </p:nvPr>
        </p:nvSpPr>
        <p:spPr/>
        <p:txBody>
          <a:bodyPr/>
          <a:lstStyle/>
          <a:p>
            <a:fld id="{720161BF-17D6-4B6C-B351-1DFFDB30772E}" type="datetimeFigureOut">
              <a:rPr lang="en-US" smtClean="0"/>
              <a:t>10/8/2026</a:t>
            </a:fld>
            <a:endParaRPr lang="en-US"/>
          </a:p>
        </p:txBody>
      </p:sp>
      <p:sp>
        <p:nvSpPr>
          <p:cNvPr id="5" name="Footer Placeholder 4">
            <a:extLst>
              <a:ext uri="{FF2B5EF4-FFF2-40B4-BE49-F238E27FC236}">
                <a16:creationId xmlns:a16="http://schemas.microsoft.com/office/drawing/2014/main" id="{203AE50E-520C-88B0-C1C3-1F86C88A44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92D8ED-A044-8013-E298-FC94ACBC9B57}"/>
              </a:ext>
            </a:extLst>
          </p:cNvPr>
          <p:cNvSpPr>
            <a:spLocks noGrp="1"/>
          </p:cNvSpPr>
          <p:nvPr>
            <p:ph type="sldNum" sz="quarter" idx="12"/>
          </p:nvPr>
        </p:nvSpPr>
        <p:spPr/>
        <p:txBody>
          <a:bodyPr/>
          <a:lstStyle/>
          <a:p>
            <a:fld id="{5507EE1A-4F09-42B1-BD63-1C75968EAC6F}" type="slidenum">
              <a:rPr lang="en-US" smtClean="0"/>
              <a:t>‹#›</a:t>
            </a:fld>
            <a:endParaRPr lang="en-US"/>
          </a:p>
        </p:txBody>
      </p:sp>
    </p:spTree>
    <p:extLst>
      <p:ext uri="{BB962C8B-B14F-4D97-AF65-F5344CB8AC3E}">
        <p14:creationId xmlns:p14="http://schemas.microsoft.com/office/powerpoint/2010/main" val="3186886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E4692-6269-9B63-C636-7AB3C47B64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161E50-B24D-9472-073F-58EAFF249C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1C5E22-BEEC-101D-3C5A-B7C307BD094B}"/>
              </a:ext>
            </a:extLst>
          </p:cNvPr>
          <p:cNvSpPr>
            <a:spLocks noGrp="1"/>
          </p:cNvSpPr>
          <p:nvPr>
            <p:ph type="dt" sz="half" idx="10"/>
          </p:nvPr>
        </p:nvSpPr>
        <p:spPr/>
        <p:txBody>
          <a:bodyPr/>
          <a:lstStyle/>
          <a:p>
            <a:fld id="{720161BF-17D6-4B6C-B351-1DFFDB30772E}" type="datetimeFigureOut">
              <a:rPr lang="en-US" smtClean="0"/>
              <a:t>10/8/2026</a:t>
            </a:fld>
            <a:endParaRPr lang="en-US"/>
          </a:p>
        </p:txBody>
      </p:sp>
      <p:sp>
        <p:nvSpPr>
          <p:cNvPr id="5" name="Footer Placeholder 4">
            <a:extLst>
              <a:ext uri="{FF2B5EF4-FFF2-40B4-BE49-F238E27FC236}">
                <a16:creationId xmlns:a16="http://schemas.microsoft.com/office/drawing/2014/main" id="{80EFB5FD-6807-DC3E-A78E-AEB22EE26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3C65B3-CE70-6187-1B70-AA724B3DABF9}"/>
              </a:ext>
            </a:extLst>
          </p:cNvPr>
          <p:cNvSpPr>
            <a:spLocks noGrp="1"/>
          </p:cNvSpPr>
          <p:nvPr>
            <p:ph type="sldNum" sz="quarter" idx="12"/>
          </p:nvPr>
        </p:nvSpPr>
        <p:spPr/>
        <p:txBody>
          <a:bodyPr/>
          <a:lstStyle/>
          <a:p>
            <a:fld id="{5507EE1A-4F09-42B1-BD63-1C75968EAC6F}" type="slidenum">
              <a:rPr lang="en-US" smtClean="0"/>
              <a:t>‹#›</a:t>
            </a:fld>
            <a:endParaRPr lang="en-US"/>
          </a:p>
        </p:txBody>
      </p:sp>
    </p:spTree>
    <p:extLst>
      <p:ext uri="{BB962C8B-B14F-4D97-AF65-F5344CB8AC3E}">
        <p14:creationId xmlns:p14="http://schemas.microsoft.com/office/powerpoint/2010/main" val="4170390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53AAC-35AF-CED9-E0B1-3E5C9159E5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E81EFD-C2D4-4542-2506-09706F0E4A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66E821-8A6E-E28C-6CF7-FCA9E7E589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D1C377-57D5-5F2B-53F4-9B4F46FEDB1A}"/>
              </a:ext>
            </a:extLst>
          </p:cNvPr>
          <p:cNvSpPr>
            <a:spLocks noGrp="1"/>
          </p:cNvSpPr>
          <p:nvPr>
            <p:ph type="dt" sz="half" idx="10"/>
          </p:nvPr>
        </p:nvSpPr>
        <p:spPr/>
        <p:txBody>
          <a:bodyPr/>
          <a:lstStyle/>
          <a:p>
            <a:fld id="{720161BF-17D6-4B6C-B351-1DFFDB30772E}" type="datetimeFigureOut">
              <a:rPr lang="en-US" smtClean="0"/>
              <a:t>10/8/2026</a:t>
            </a:fld>
            <a:endParaRPr lang="en-US"/>
          </a:p>
        </p:txBody>
      </p:sp>
      <p:sp>
        <p:nvSpPr>
          <p:cNvPr id="6" name="Footer Placeholder 5">
            <a:extLst>
              <a:ext uri="{FF2B5EF4-FFF2-40B4-BE49-F238E27FC236}">
                <a16:creationId xmlns:a16="http://schemas.microsoft.com/office/drawing/2014/main" id="{B8B5B0DA-A5EA-FB14-F74F-A3CD1AAE1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E8ED09-FD4C-509D-1AA4-06BE085DFB59}"/>
              </a:ext>
            </a:extLst>
          </p:cNvPr>
          <p:cNvSpPr>
            <a:spLocks noGrp="1"/>
          </p:cNvSpPr>
          <p:nvPr>
            <p:ph type="sldNum" sz="quarter" idx="12"/>
          </p:nvPr>
        </p:nvSpPr>
        <p:spPr/>
        <p:txBody>
          <a:bodyPr/>
          <a:lstStyle/>
          <a:p>
            <a:fld id="{5507EE1A-4F09-42B1-BD63-1C75968EAC6F}" type="slidenum">
              <a:rPr lang="en-US" smtClean="0"/>
              <a:t>‹#›</a:t>
            </a:fld>
            <a:endParaRPr lang="en-US"/>
          </a:p>
        </p:txBody>
      </p:sp>
    </p:spTree>
    <p:extLst>
      <p:ext uri="{BB962C8B-B14F-4D97-AF65-F5344CB8AC3E}">
        <p14:creationId xmlns:p14="http://schemas.microsoft.com/office/powerpoint/2010/main" val="3982786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F5472-90C0-99C4-F60F-BCE3226EE43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361F2C-AE29-B0B5-3B90-9D574ABB6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080D5D-E92A-6996-F61E-6F50763315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316A7F-85B1-ACF4-5C5C-8240E5BF9F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B06D2C-F373-2088-269E-46F4B7EDDC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D291E4-6428-B867-A747-949493A234B9}"/>
              </a:ext>
            </a:extLst>
          </p:cNvPr>
          <p:cNvSpPr>
            <a:spLocks noGrp="1"/>
          </p:cNvSpPr>
          <p:nvPr>
            <p:ph type="dt" sz="half" idx="10"/>
          </p:nvPr>
        </p:nvSpPr>
        <p:spPr/>
        <p:txBody>
          <a:bodyPr/>
          <a:lstStyle/>
          <a:p>
            <a:fld id="{720161BF-17D6-4B6C-B351-1DFFDB30772E}" type="datetimeFigureOut">
              <a:rPr lang="en-US" smtClean="0"/>
              <a:t>10/8/2026</a:t>
            </a:fld>
            <a:endParaRPr lang="en-US"/>
          </a:p>
        </p:txBody>
      </p:sp>
      <p:sp>
        <p:nvSpPr>
          <p:cNvPr id="8" name="Footer Placeholder 7">
            <a:extLst>
              <a:ext uri="{FF2B5EF4-FFF2-40B4-BE49-F238E27FC236}">
                <a16:creationId xmlns:a16="http://schemas.microsoft.com/office/drawing/2014/main" id="{72FB6921-59A3-6C1D-AC3D-47556387B0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F9C603-D898-9C48-088A-3601CCDC7E27}"/>
              </a:ext>
            </a:extLst>
          </p:cNvPr>
          <p:cNvSpPr>
            <a:spLocks noGrp="1"/>
          </p:cNvSpPr>
          <p:nvPr>
            <p:ph type="sldNum" sz="quarter" idx="12"/>
          </p:nvPr>
        </p:nvSpPr>
        <p:spPr/>
        <p:txBody>
          <a:bodyPr/>
          <a:lstStyle/>
          <a:p>
            <a:fld id="{5507EE1A-4F09-42B1-BD63-1C75968EAC6F}" type="slidenum">
              <a:rPr lang="en-US" smtClean="0"/>
              <a:t>‹#›</a:t>
            </a:fld>
            <a:endParaRPr lang="en-US"/>
          </a:p>
        </p:txBody>
      </p:sp>
    </p:spTree>
    <p:extLst>
      <p:ext uri="{BB962C8B-B14F-4D97-AF65-F5344CB8AC3E}">
        <p14:creationId xmlns:p14="http://schemas.microsoft.com/office/powerpoint/2010/main" val="1122039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D3704-C130-2D42-223E-299F86A088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E5DDF1-80BC-28FB-6AD1-111A4EE92BFC}"/>
              </a:ext>
            </a:extLst>
          </p:cNvPr>
          <p:cNvSpPr>
            <a:spLocks noGrp="1"/>
          </p:cNvSpPr>
          <p:nvPr>
            <p:ph type="dt" sz="half" idx="10"/>
          </p:nvPr>
        </p:nvSpPr>
        <p:spPr/>
        <p:txBody>
          <a:bodyPr/>
          <a:lstStyle/>
          <a:p>
            <a:fld id="{720161BF-17D6-4B6C-B351-1DFFDB30772E}" type="datetimeFigureOut">
              <a:rPr lang="en-US" smtClean="0"/>
              <a:t>10/8/2026</a:t>
            </a:fld>
            <a:endParaRPr lang="en-US"/>
          </a:p>
        </p:txBody>
      </p:sp>
      <p:sp>
        <p:nvSpPr>
          <p:cNvPr id="4" name="Footer Placeholder 3">
            <a:extLst>
              <a:ext uri="{FF2B5EF4-FFF2-40B4-BE49-F238E27FC236}">
                <a16:creationId xmlns:a16="http://schemas.microsoft.com/office/drawing/2014/main" id="{9604615E-8B5E-9600-CFF0-7A19611599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141983-6535-6C4F-14C0-DE0504749A75}"/>
              </a:ext>
            </a:extLst>
          </p:cNvPr>
          <p:cNvSpPr>
            <a:spLocks noGrp="1"/>
          </p:cNvSpPr>
          <p:nvPr>
            <p:ph type="sldNum" sz="quarter" idx="12"/>
          </p:nvPr>
        </p:nvSpPr>
        <p:spPr/>
        <p:txBody>
          <a:bodyPr/>
          <a:lstStyle/>
          <a:p>
            <a:fld id="{5507EE1A-4F09-42B1-BD63-1C75968EAC6F}" type="slidenum">
              <a:rPr lang="en-US" smtClean="0"/>
              <a:t>‹#›</a:t>
            </a:fld>
            <a:endParaRPr lang="en-US"/>
          </a:p>
        </p:txBody>
      </p:sp>
    </p:spTree>
    <p:extLst>
      <p:ext uri="{BB962C8B-B14F-4D97-AF65-F5344CB8AC3E}">
        <p14:creationId xmlns:p14="http://schemas.microsoft.com/office/powerpoint/2010/main" val="3484370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3DB59A-6351-92AA-18CF-0B6855D52E14}"/>
              </a:ext>
            </a:extLst>
          </p:cNvPr>
          <p:cNvSpPr>
            <a:spLocks noGrp="1"/>
          </p:cNvSpPr>
          <p:nvPr>
            <p:ph type="dt" sz="half" idx="10"/>
          </p:nvPr>
        </p:nvSpPr>
        <p:spPr/>
        <p:txBody>
          <a:bodyPr/>
          <a:lstStyle/>
          <a:p>
            <a:fld id="{720161BF-17D6-4B6C-B351-1DFFDB30772E}" type="datetimeFigureOut">
              <a:rPr lang="en-US" smtClean="0"/>
              <a:t>10/8/2026</a:t>
            </a:fld>
            <a:endParaRPr lang="en-US"/>
          </a:p>
        </p:txBody>
      </p:sp>
      <p:sp>
        <p:nvSpPr>
          <p:cNvPr id="3" name="Footer Placeholder 2">
            <a:extLst>
              <a:ext uri="{FF2B5EF4-FFF2-40B4-BE49-F238E27FC236}">
                <a16:creationId xmlns:a16="http://schemas.microsoft.com/office/drawing/2014/main" id="{B6F86E44-10F6-67F0-1B37-19643C42F2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15F3A3-8088-9B38-0250-CD0E13583FCD}"/>
              </a:ext>
            </a:extLst>
          </p:cNvPr>
          <p:cNvSpPr>
            <a:spLocks noGrp="1"/>
          </p:cNvSpPr>
          <p:nvPr>
            <p:ph type="sldNum" sz="quarter" idx="12"/>
          </p:nvPr>
        </p:nvSpPr>
        <p:spPr/>
        <p:txBody>
          <a:bodyPr/>
          <a:lstStyle/>
          <a:p>
            <a:fld id="{5507EE1A-4F09-42B1-BD63-1C75968EAC6F}" type="slidenum">
              <a:rPr lang="en-US" smtClean="0"/>
              <a:t>‹#›</a:t>
            </a:fld>
            <a:endParaRPr lang="en-US"/>
          </a:p>
        </p:txBody>
      </p:sp>
    </p:spTree>
    <p:extLst>
      <p:ext uri="{BB962C8B-B14F-4D97-AF65-F5344CB8AC3E}">
        <p14:creationId xmlns:p14="http://schemas.microsoft.com/office/powerpoint/2010/main" val="2530405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8676A-0456-561B-36AB-BDD3084337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AA32B8-C8A0-7629-0D83-26109B5D5F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959F17-5677-EE3C-C867-573A6D44A9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6911E4-7683-059C-0120-CFC042A39593}"/>
              </a:ext>
            </a:extLst>
          </p:cNvPr>
          <p:cNvSpPr>
            <a:spLocks noGrp="1"/>
          </p:cNvSpPr>
          <p:nvPr>
            <p:ph type="dt" sz="half" idx="10"/>
          </p:nvPr>
        </p:nvSpPr>
        <p:spPr/>
        <p:txBody>
          <a:bodyPr/>
          <a:lstStyle/>
          <a:p>
            <a:fld id="{720161BF-17D6-4B6C-B351-1DFFDB30772E}" type="datetimeFigureOut">
              <a:rPr lang="en-US" smtClean="0"/>
              <a:t>10/8/2026</a:t>
            </a:fld>
            <a:endParaRPr lang="en-US"/>
          </a:p>
        </p:txBody>
      </p:sp>
      <p:sp>
        <p:nvSpPr>
          <p:cNvPr id="6" name="Footer Placeholder 5">
            <a:extLst>
              <a:ext uri="{FF2B5EF4-FFF2-40B4-BE49-F238E27FC236}">
                <a16:creationId xmlns:a16="http://schemas.microsoft.com/office/drawing/2014/main" id="{B359BC2B-D31A-5C52-DC94-EC69C3A1A7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015D22-B47C-73A3-CB1C-B51F9CE8BA5A}"/>
              </a:ext>
            </a:extLst>
          </p:cNvPr>
          <p:cNvSpPr>
            <a:spLocks noGrp="1"/>
          </p:cNvSpPr>
          <p:nvPr>
            <p:ph type="sldNum" sz="quarter" idx="12"/>
          </p:nvPr>
        </p:nvSpPr>
        <p:spPr/>
        <p:txBody>
          <a:bodyPr/>
          <a:lstStyle/>
          <a:p>
            <a:fld id="{5507EE1A-4F09-42B1-BD63-1C75968EAC6F}" type="slidenum">
              <a:rPr lang="en-US" smtClean="0"/>
              <a:t>‹#›</a:t>
            </a:fld>
            <a:endParaRPr lang="en-US"/>
          </a:p>
        </p:txBody>
      </p:sp>
    </p:spTree>
    <p:extLst>
      <p:ext uri="{BB962C8B-B14F-4D97-AF65-F5344CB8AC3E}">
        <p14:creationId xmlns:p14="http://schemas.microsoft.com/office/powerpoint/2010/main" val="3334105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C61C0-B48D-FC1D-877D-08E4CFFDDF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A606FB-B81B-D980-D94B-E4F81512405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1F952B-2698-4B26-E357-8C3129CFF6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D41007-9543-3F75-AB2E-5B172FF11400}"/>
              </a:ext>
            </a:extLst>
          </p:cNvPr>
          <p:cNvSpPr>
            <a:spLocks noGrp="1"/>
          </p:cNvSpPr>
          <p:nvPr>
            <p:ph type="dt" sz="half" idx="10"/>
          </p:nvPr>
        </p:nvSpPr>
        <p:spPr/>
        <p:txBody>
          <a:bodyPr/>
          <a:lstStyle/>
          <a:p>
            <a:fld id="{720161BF-17D6-4B6C-B351-1DFFDB30772E}" type="datetimeFigureOut">
              <a:rPr lang="en-US" smtClean="0"/>
              <a:t>10/8/2026</a:t>
            </a:fld>
            <a:endParaRPr lang="en-US"/>
          </a:p>
        </p:txBody>
      </p:sp>
      <p:sp>
        <p:nvSpPr>
          <p:cNvPr id="6" name="Footer Placeholder 5">
            <a:extLst>
              <a:ext uri="{FF2B5EF4-FFF2-40B4-BE49-F238E27FC236}">
                <a16:creationId xmlns:a16="http://schemas.microsoft.com/office/drawing/2014/main" id="{85574141-BCA7-9CA4-1393-D38E41EFE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26DEB7-70DB-F0FF-2B5B-76B40726F287}"/>
              </a:ext>
            </a:extLst>
          </p:cNvPr>
          <p:cNvSpPr>
            <a:spLocks noGrp="1"/>
          </p:cNvSpPr>
          <p:nvPr>
            <p:ph type="sldNum" sz="quarter" idx="12"/>
          </p:nvPr>
        </p:nvSpPr>
        <p:spPr/>
        <p:txBody>
          <a:bodyPr/>
          <a:lstStyle/>
          <a:p>
            <a:fld id="{5507EE1A-4F09-42B1-BD63-1C75968EAC6F}" type="slidenum">
              <a:rPr lang="en-US" smtClean="0"/>
              <a:t>‹#›</a:t>
            </a:fld>
            <a:endParaRPr lang="en-US"/>
          </a:p>
        </p:txBody>
      </p:sp>
    </p:spTree>
    <p:extLst>
      <p:ext uri="{BB962C8B-B14F-4D97-AF65-F5344CB8AC3E}">
        <p14:creationId xmlns:p14="http://schemas.microsoft.com/office/powerpoint/2010/main" val="2048078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9C654-7EFA-4F9F-9849-C141A78495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6E3BB1-7996-D5CF-8FB0-4F7E65DF86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7FA406-B81B-05D1-B224-48ACA79241F3}"/>
              </a:ext>
            </a:extLst>
          </p:cNvPr>
          <p:cNvSpPr>
            <a:spLocks noGrp="1"/>
          </p:cNvSpPr>
          <p:nvPr>
            <p:ph type="dt" sz="half" idx="10"/>
          </p:nvPr>
        </p:nvSpPr>
        <p:spPr/>
        <p:txBody>
          <a:bodyPr/>
          <a:lstStyle/>
          <a:p>
            <a:fld id="{720161BF-17D6-4B6C-B351-1DFFDB30772E}" type="datetimeFigureOut">
              <a:rPr lang="en-US" smtClean="0"/>
              <a:t>10/8/2026</a:t>
            </a:fld>
            <a:endParaRPr lang="en-US"/>
          </a:p>
        </p:txBody>
      </p:sp>
      <p:sp>
        <p:nvSpPr>
          <p:cNvPr id="5" name="Footer Placeholder 4">
            <a:extLst>
              <a:ext uri="{FF2B5EF4-FFF2-40B4-BE49-F238E27FC236}">
                <a16:creationId xmlns:a16="http://schemas.microsoft.com/office/drawing/2014/main" id="{A2CEB214-3306-5C98-4FED-86DE23ADD9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18D754-CDDD-940F-59C1-1B1977F49220}"/>
              </a:ext>
            </a:extLst>
          </p:cNvPr>
          <p:cNvSpPr>
            <a:spLocks noGrp="1"/>
          </p:cNvSpPr>
          <p:nvPr>
            <p:ph type="sldNum" sz="quarter" idx="12"/>
          </p:nvPr>
        </p:nvSpPr>
        <p:spPr/>
        <p:txBody>
          <a:bodyPr/>
          <a:lstStyle/>
          <a:p>
            <a:fld id="{5507EE1A-4F09-42B1-BD63-1C75968EAC6F}" type="slidenum">
              <a:rPr lang="en-US" smtClean="0"/>
              <a:t>‹#›</a:t>
            </a:fld>
            <a:endParaRPr lang="en-US"/>
          </a:p>
        </p:txBody>
      </p:sp>
    </p:spTree>
    <p:extLst>
      <p:ext uri="{BB962C8B-B14F-4D97-AF65-F5344CB8AC3E}">
        <p14:creationId xmlns:p14="http://schemas.microsoft.com/office/powerpoint/2010/main" val="3708058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9830BC-3069-C2CA-E976-F5E9C4E731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1E3509-D6F3-6E43-F58C-9064D01962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A22993-F100-4016-5994-9F7E928918D5}"/>
              </a:ext>
            </a:extLst>
          </p:cNvPr>
          <p:cNvSpPr>
            <a:spLocks noGrp="1"/>
          </p:cNvSpPr>
          <p:nvPr>
            <p:ph type="dt" sz="half" idx="10"/>
          </p:nvPr>
        </p:nvSpPr>
        <p:spPr/>
        <p:txBody>
          <a:bodyPr/>
          <a:lstStyle/>
          <a:p>
            <a:fld id="{720161BF-17D6-4B6C-B351-1DFFDB30772E}" type="datetimeFigureOut">
              <a:rPr lang="en-US" smtClean="0"/>
              <a:t>10/8/2026</a:t>
            </a:fld>
            <a:endParaRPr lang="en-US"/>
          </a:p>
        </p:txBody>
      </p:sp>
      <p:sp>
        <p:nvSpPr>
          <p:cNvPr id="5" name="Footer Placeholder 4">
            <a:extLst>
              <a:ext uri="{FF2B5EF4-FFF2-40B4-BE49-F238E27FC236}">
                <a16:creationId xmlns:a16="http://schemas.microsoft.com/office/drawing/2014/main" id="{CF664FB0-ADC8-CCC2-88E9-368F8AF4B9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133335-5E0C-97DE-0401-22ECD8EFA955}"/>
              </a:ext>
            </a:extLst>
          </p:cNvPr>
          <p:cNvSpPr>
            <a:spLocks noGrp="1"/>
          </p:cNvSpPr>
          <p:nvPr>
            <p:ph type="sldNum" sz="quarter" idx="12"/>
          </p:nvPr>
        </p:nvSpPr>
        <p:spPr/>
        <p:txBody>
          <a:bodyPr/>
          <a:lstStyle/>
          <a:p>
            <a:fld id="{5507EE1A-4F09-42B1-BD63-1C75968EAC6F}" type="slidenum">
              <a:rPr lang="en-US" smtClean="0"/>
              <a:t>‹#›</a:t>
            </a:fld>
            <a:endParaRPr lang="en-US"/>
          </a:p>
        </p:txBody>
      </p:sp>
    </p:spTree>
    <p:extLst>
      <p:ext uri="{BB962C8B-B14F-4D97-AF65-F5344CB8AC3E}">
        <p14:creationId xmlns:p14="http://schemas.microsoft.com/office/powerpoint/2010/main" val="1666870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F793C8-93CB-A326-D15A-B15C561CBB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6F1D5D-4D9F-D03D-F079-C9B6C6C3CC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FE7004-688F-0424-F849-1688CA627D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0161BF-17D6-4B6C-B351-1DFFDB30772E}" type="datetimeFigureOut">
              <a:rPr lang="en-US" smtClean="0"/>
              <a:t>10/8/2026</a:t>
            </a:fld>
            <a:endParaRPr lang="en-US"/>
          </a:p>
        </p:txBody>
      </p:sp>
      <p:sp>
        <p:nvSpPr>
          <p:cNvPr id="5" name="Footer Placeholder 4">
            <a:extLst>
              <a:ext uri="{FF2B5EF4-FFF2-40B4-BE49-F238E27FC236}">
                <a16:creationId xmlns:a16="http://schemas.microsoft.com/office/drawing/2014/main" id="{0800522A-3C05-D17B-E1EB-D7B9068E35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97851C8-FDA1-E020-8411-84DBE153A7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07EE1A-4F09-42B1-BD63-1C75968EAC6F}" type="slidenum">
              <a:rPr lang="en-US" smtClean="0"/>
              <a:t>‹#›</a:t>
            </a:fld>
            <a:endParaRPr lang="en-US"/>
          </a:p>
        </p:txBody>
      </p:sp>
    </p:spTree>
    <p:extLst>
      <p:ext uri="{BB962C8B-B14F-4D97-AF65-F5344CB8AC3E}">
        <p14:creationId xmlns:p14="http://schemas.microsoft.com/office/powerpoint/2010/main" val="2511613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AD1B1E-4564-C994-2213-49147F172011}"/>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DBFF57F-627B-A9A7-3E1D-1AC454D4BE34}"/>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A8245062-D6AD-1661-6641-CE2F28D10DEB}"/>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FabricIQ Customer Graph Demo</a:t>
            </a:r>
          </a:p>
        </p:txBody>
      </p:sp>
      <p:sp>
        <p:nvSpPr>
          <p:cNvPr id="5" name="TextBox 4">
            <a:extLst>
              <a:ext uri="{FF2B5EF4-FFF2-40B4-BE49-F238E27FC236}">
                <a16:creationId xmlns:a16="http://schemas.microsoft.com/office/drawing/2014/main" id="{EB98AF93-7FC0-840F-32B3-14E9D652537D}"/>
              </a:ext>
            </a:extLst>
          </p:cNvPr>
          <p:cNvSpPr txBox="1"/>
          <p:nvPr/>
        </p:nvSpPr>
        <p:spPr>
          <a:xfrm>
            <a:off x="609600" y="1905000"/>
            <a:ext cx="10972800" cy="2185214"/>
          </a:xfrm>
          <a:prstGeom prst="rect">
            <a:avLst/>
          </a:prstGeom>
          <a:noFill/>
        </p:spPr>
        <p:txBody>
          <a:bodyPr vert="horz" wrap="square" lIns="0" tIns="0" rIns="0" bIns="0" rtlCol="0">
            <a:spAutoFit/>
          </a:bodyPr>
          <a:lstStyle/>
          <a:p>
            <a:pPr>
              <a:spcAft>
                <a:spcPts val="2000"/>
              </a:spcAft>
            </a:pPr>
            <a:r>
              <a:rPr lang="en-US" sz="2300">
                <a:solidFill>
                  <a:srgbClr val="282425"/>
                </a:solidFill>
                <a:latin typeface="Aptos" panose="020B0004020202020204" pitchFamily="34" charset="0"/>
              </a:rPr>
              <a:t>Trace a transaction to its customer and merchant.
Follow a recorded fraud alert through the same connections.
Build before the meeting; explore during the demo.
Customer session: 10-15 minutes.</a:t>
            </a:r>
          </a:p>
        </p:txBody>
      </p:sp>
      <p:sp>
        <p:nvSpPr>
          <p:cNvPr id="6" name="TextBox 5">
            <a:extLst>
              <a:ext uri="{FF2B5EF4-FFF2-40B4-BE49-F238E27FC236}">
                <a16:creationId xmlns:a16="http://schemas.microsoft.com/office/drawing/2014/main" id="{60988B6D-5064-BA9E-8FEA-98BA3750D55E}"/>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C4E3FE24-98B3-0813-2771-5F2CDCF66894}"/>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01 / 14</a:t>
            </a:r>
          </a:p>
        </p:txBody>
      </p:sp>
    </p:spTree>
    <p:extLst>
      <p:ext uri="{BB962C8B-B14F-4D97-AF65-F5344CB8AC3E}">
        <p14:creationId xmlns:p14="http://schemas.microsoft.com/office/powerpoint/2010/main" val="3859459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FA7CCC-5767-083E-DC6F-32BD15F83DA9}"/>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C937DAE-8263-4E6A-3405-5EBF4402125C}"/>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4CC9C35A-11EF-C29B-63AE-1683934B9A72}"/>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Use the Existing Lakehouse</a:t>
            </a:r>
          </a:p>
        </p:txBody>
      </p:sp>
      <p:sp>
        <p:nvSpPr>
          <p:cNvPr id="5" name="TextBox 4">
            <a:extLst>
              <a:ext uri="{FF2B5EF4-FFF2-40B4-BE49-F238E27FC236}">
                <a16:creationId xmlns:a16="http://schemas.microsoft.com/office/drawing/2014/main" id="{C4A6498F-F914-E7D5-9DBF-7274765917A4}"/>
              </a:ext>
            </a:extLst>
          </p:cNvPr>
          <p:cNvSpPr txBox="1"/>
          <p:nvPr/>
        </p:nvSpPr>
        <p:spPr>
          <a:xfrm>
            <a:off x="609600" y="1905000"/>
            <a:ext cx="10972800" cy="2185214"/>
          </a:xfrm>
          <a:prstGeom prst="rect">
            <a:avLst/>
          </a:prstGeom>
          <a:noFill/>
        </p:spPr>
        <p:txBody>
          <a:bodyPr vert="horz" wrap="square" lIns="0" tIns="0" rIns="0" bIns="0" rtlCol="0">
            <a:spAutoFit/>
          </a:bodyPr>
          <a:lstStyle/>
          <a:p>
            <a:pPr>
              <a:spcAft>
                <a:spcPts val="2000"/>
              </a:spcAft>
            </a:pPr>
            <a:r>
              <a:rPr lang="en-US" sz="2300">
                <a:solidFill>
                  <a:srgbClr val="282425"/>
                </a:solidFill>
                <a:latin typeface="Aptos" panose="020B0004020202020204" pitchFamily="34" charset="0"/>
              </a:rPr>
              <a:t>Workspace: YOUR_WORKSPACE_NAME
Lakehouse: FabricIQ | Schema: gold
Four source tables; no ontology or source-data rewrite.
Metadata and samples checked; graph execution still needs rehearsal.</a:t>
            </a:r>
          </a:p>
        </p:txBody>
      </p:sp>
      <p:sp>
        <p:nvSpPr>
          <p:cNvPr id="6" name="TextBox 5">
            <a:extLst>
              <a:ext uri="{FF2B5EF4-FFF2-40B4-BE49-F238E27FC236}">
                <a16:creationId xmlns:a16="http://schemas.microsoft.com/office/drawing/2014/main" id="{502E9414-3C23-0581-E630-6AC15D55A023}"/>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72EE547C-20EE-B072-4CA5-8A188588840E}"/>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02 / 14</a:t>
            </a:r>
          </a:p>
        </p:txBody>
      </p:sp>
    </p:spTree>
    <p:extLst>
      <p:ext uri="{BB962C8B-B14F-4D97-AF65-F5344CB8AC3E}">
        <p14:creationId xmlns:p14="http://schemas.microsoft.com/office/powerpoint/2010/main" val="3524806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4D4819-DFC8-6CB5-AE20-5CD0FE1B1186}"/>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22743B-515F-5190-E643-54555776323A}"/>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7DE00777-BC40-2471-83D3-B81CC52673BD}"/>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The Four-Node Demo Model</a:t>
            </a:r>
          </a:p>
        </p:txBody>
      </p:sp>
      <p:sp>
        <p:nvSpPr>
          <p:cNvPr id="5" name="TextBox 4">
            <a:extLst>
              <a:ext uri="{FF2B5EF4-FFF2-40B4-BE49-F238E27FC236}">
                <a16:creationId xmlns:a16="http://schemas.microsoft.com/office/drawing/2014/main" id="{9535C049-D7E1-80C2-C6B1-898F88AC18B5}"/>
              </a:ext>
            </a:extLst>
          </p:cNvPr>
          <p:cNvSpPr txBox="1"/>
          <p:nvPr/>
        </p:nvSpPr>
        <p:spPr>
          <a:xfrm>
            <a:off x="609600" y="1866900"/>
            <a:ext cx="10160000" cy="169277"/>
          </a:xfrm>
          <a:prstGeom prst="rect">
            <a:avLst/>
          </a:prstGeom>
          <a:noFill/>
        </p:spPr>
        <p:txBody>
          <a:bodyPr vert="horz" wrap="square" lIns="0" tIns="0" rIns="0" bIns="0" rtlCol="0">
            <a:spAutoFit/>
          </a:bodyPr>
          <a:lstStyle/>
          <a:p>
            <a:pPr>
              <a:spcAft>
                <a:spcPts val="500"/>
              </a:spcAft>
            </a:pPr>
            <a:r>
              <a:rPr lang="en-US" sz="1100" b="1">
                <a:solidFill>
                  <a:srgbClr val="5E6170"/>
                </a:solidFill>
                <a:latin typeface="Aptos" panose="020B0004020202020204" pitchFamily="34" charset="0"/>
              </a:rPr>
              <a:t>ILLUSTRATIVE SCHEMA / NOT A LIVE RESULT</a:t>
            </a:r>
          </a:p>
        </p:txBody>
      </p:sp>
      <p:sp>
        <p:nvSpPr>
          <p:cNvPr id="6" name="Rectangle 5">
            <a:extLst>
              <a:ext uri="{FF2B5EF4-FFF2-40B4-BE49-F238E27FC236}">
                <a16:creationId xmlns:a16="http://schemas.microsoft.com/office/drawing/2014/main" id="{44FE51EF-DE57-4AC6-9624-D6866BF65795}"/>
              </a:ext>
            </a:extLst>
          </p:cNvPr>
          <p:cNvSpPr/>
          <p:nvPr/>
        </p:nvSpPr>
        <p:spPr>
          <a:xfrm>
            <a:off x="1270000" y="2921000"/>
            <a:ext cx="2286000" cy="8255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FFFFFF"/>
                </a:solidFill>
                <a:latin typeface="Aptos" panose="020B0004020202020204" pitchFamily="34" charset="0"/>
              </a:rPr>
              <a:t>Customer</a:t>
            </a:r>
          </a:p>
        </p:txBody>
      </p:sp>
      <p:sp>
        <p:nvSpPr>
          <p:cNvPr id="7" name="Rectangle 6">
            <a:extLst>
              <a:ext uri="{FF2B5EF4-FFF2-40B4-BE49-F238E27FC236}">
                <a16:creationId xmlns:a16="http://schemas.microsoft.com/office/drawing/2014/main" id="{9061B693-9EE9-44D8-2D7D-97465F0B68E4}"/>
              </a:ext>
            </a:extLst>
          </p:cNvPr>
          <p:cNvSpPr/>
          <p:nvPr/>
        </p:nvSpPr>
        <p:spPr>
          <a:xfrm>
            <a:off x="4953000" y="2921000"/>
            <a:ext cx="2286000" cy="8255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FFFFFF"/>
                </a:solidFill>
                <a:latin typeface="Aptos" panose="020B0004020202020204" pitchFamily="34" charset="0"/>
              </a:rPr>
              <a:t>Transaction</a:t>
            </a:r>
          </a:p>
        </p:txBody>
      </p:sp>
      <p:sp>
        <p:nvSpPr>
          <p:cNvPr id="8" name="Rectangle 7">
            <a:extLst>
              <a:ext uri="{FF2B5EF4-FFF2-40B4-BE49-F238E27FC236}">
                <a16:creationId xmlns:a16="http://schemas.microsoft.com/office/drawing/2014/main" id="{644C6C26-B891-966B-61A2-153B5872B3C0}"/>
              </a:ext>
            </a:extLst>
          </p:cNvPr>
          <p:cNvSpPr/>
          <p:nvPr/>
        </p:nvSpPr>
        <p:spPr>
          <a:xfrm>
            <a:off x="8636000" y="2921000"/>
            <a:ext cx="2286000" cy="825500"/>
          </a:xfrm>
          <a:prstGeom prst="rect">
            <a:avLst/>
          </a:prstGeom>
          <a:solidFill>
            <a:srgbClr val="DFB1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Merchant</a:t>
            </a:r>
          </a:p>
        </p:txBody>
      </p:sp>
      <p:sp>
        <p:nvSpPr>
          <p:cNvPr id="9" name="Rectangle 8">
            <a:extLst>
              <a:ext uri="{FF2B5EF4-FFF2-40B4-BE49-F238E27FC236}">
                <a16:creationId xmlns:a16="http://schemas.microsoft.com/office/drawing/2014/main" id="{9D180F1A-E5F6-484D-AA63-24FEB2612631}"/>
              </a:ext>
            </a:extLst>
          </p:cNvPr>
          <p:cNvSpPr/>
          <p:nvPr/>
        </p:nvSpPr>
        <p:spPr>
          <a:xfrm>
            <a:off x="4953000" y="4889500"/>
            <a:ext cx="2286000" cy="825500"/>
          </a:xfrm>
          <a:prstGeom prst="rect">
            <a:avLst/>
          </a:prstGeom>
          <a:solidFill>
            <a:srgbClr val="DFB1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FraudAlert</a:t>
            </a:r>
          </a:p>
        </p:txBody>
      </p:sp>
      <p:cxnSp>
        <p:nvCxnSpPr>
          <p:cNvPr id="10" name="Straight Connector 9">
            <a:extLst>
              <a:ext uri="{FF2B5EF4-FFF2-40B4-BE49-F238E27FC236}">
                <a16:creationId xmlns:a16="http://schemas.microsoft.com/office/drawing/2014/main" id="{002EB10F-ABAB-5F44-31C6-59B56656BA6C}"/>
              </a:ext>
            </a:extLst>
          </p:cNvPr>
          <p:cNvCxnSpPr/>
          <p:nvPr/>
        </p:nvCxnSpPr>
        <p:spPr>
          <a:xfrm>
            <a:off x="3556000" y="3327400"/>
            <a:ext cx="1295400" cy="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AFCB66C-00A1-FAA2-BA83-3C94967A96E0}"/>
              </a:ext>
            </a:extLst>
          </p:cNvPr>
          <p:cNvSpPr txBox="1"/>
          <p:nvPr/>
        </p:nvSpPr>
        <p:spPr>
          <a:xfrm>
            <a:off x="3594100" y="2501900"/>
            <a:ext cx="1905000" cy="169277"/>
          </a:xfrm>
          <a:prstGeom prst="rect">
            <a:avLst/>
          </a:prstGeom>
          <a:noFill/>
        </p:spPr>
        <p:txBody>
          <a:bodyPr vert="horz" wrap="square" lIns="0" tIns="0" rIns="0" bIns="0" rtlCol="0">
            <a:spAutoFit/>
          </a:bodyPr>
          <a:lstStyle/>
          <a:p>
            <a:pPr>
              <a:spcAft>
                <a:spcPts val="500"/>
              </a:spcAft>
            </a:pPr>
            <a:r>
              <a:rPr lang="en-US" sz="1100">
                <a:solidFill>
                  <a:srgbClr val="5E6170"/>
                </a:solidFill>
                <a:latin typeface="Aptos" panose="020B0004020202020204" pitchFamily="34" charset="0"/>
              </a:rPr>
              <a:t>makesTransaction</a:t>
            </a:r>
          </a:p>
        </p:txBody>
      </p:sp>
      <p:cxnSp>
        <p:nvCxnSpPr>
          <p:cNvPr id="12" name="Straight Connector 11">
            <a:extLst>
              <a:ext uri="{FF2B5EF4-FFF2-40B4-BE49-F238E27FC236}">
                <a16:creationId xmlns:a16="http://schemas.microsoft.com/office/drawing/2014/main" id="{489EA376-29D4-56C9-1187-41B72A2390BE}"/>
              </a:ext>
            </a:extLst>
          </p:cNvPr>
          <p:cNvCxnSpPr/>
          <p:nvPr/>
        </p:nvCxnSpPr>
        <p:spPr>
          <a:xfrm>
            <a:off x="7239000" y="3327400"/>
            <a:ext cx="1295400" cy="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90CBD33-2655-79A5-C62E-B12CE153E4FC}"/>
              </a:ext>
            </a:extLst>
          </p:cNvPr>
          <p:cNvSpPr txBox="1"/>
          <p:nvPr/>
        </p:nvSpPr>
        <p:spPr>
          <a:xfrm>
            <a:off x="7366000" y="2794000"/>
            <a:ext cx="1270000" cy="169277"/>
          </a:xfrm>
          <a:prstGeom prst="rect">
            <a:avLst/>
          </a:prstGeom>
          <a:noFill/>
        </p:spPr>
        <p:txBody>
          <a:bodyPr vert="horz" wrap="square" lIns="0" tIns="0" rIns="0" bIns="0" rtlCol="0">
            <a:spAutoFit/>
          </a:bodyPr>
          <a:lstStyle/>
          <a:p>
            <a:pPr>
              <a:spcAft>
                <a:spcPts val="500"/>
              </a:spcAft>
            </a:pPr>
            <a:r>
              <a:rPr lang="en-US" sz="1100">
                <a:solidFill>
                  <a:srgbClr val="5E6170"/>
                </a:solidFill>
                <a:latin typeface="Aptos" panose="020B0004020202020204" pitchFamily="34" charset="0"/>
              </a:rPr>
              <a:t>atMerchant</a:t>
            </a:r>
          </a:p>
        </p:txBody>
      </p:sp>
      <p:cxnSp>
        <p:nvCxnSpPr>
          <p:cNvPr id="14" name="Straight Connector 13">
            <a:extLst>
              <a:ext uri="{FF2B5EF4-FFF2-40B4-BE49-F238E27FC236}">
                <a16:creationId xmlns:a16="http://schemas.microsoft.com/office/drawing/2014/main" id="{6D3FD4E1-FF2D-967D-248D-9CC7DAE528E8}"/>
              </a:ext>
            </a:extLst>
          </p:cNvPr>
          <p:cNvCxnSpPr/>
          <p:nvPr/>
        </p:nvCxnSpPr>
        <p:spPr>
          <a:xfrm>
            <a:off x="6096000" y="3746500"/>
            <a:ext cx="0" cy="104140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2FF956AF-05FD-21B3-0B52-952C0BE2A845}"/>
              </a:ext>
            </a:extLst>
          </p:cNvPr>
          <p:cNvSpPr txBox="1"/>
          <p:nvPr/>
        </p:nvSpPr>
        <p:spPr>
          <a:xfrm>
            <a:off x="6273800" y="4165600"/>
            <a:ext cx="1270000" cy="169277"/>
          </a:xfrm>
          <a:prstGeom prst="rect">
            <a:avLst/>
          </a:prstGeom>
          <a:noFill/>
        </p:spPr>
        <p:txBody>
          <a:bodyPr vert="horz" wrap="square" lIns="0" tIns="0" rIns="0" bIns="0" rtlCol="0">
            <a:spAutoFit/>
          </a:bodyPr>
          <a:lstStyle/>
          <a:p>
            <a:pPr>
              <a:spcAft>
                <a:spcPts val="500"/>
              </a:spcAft>
            </a:pPr>
            <a:r>
              <a:rPr lang="en-US" sz="1100">
                <a:solidFill>
                  <a:srgbClr val="5E6170"/>
                </a:solidFill>
                <a:latin typeface="Aptos" panose="020B0004020202020204" pitchFamily="34" charset="0"/>
              </a:rPr>
              <a:t>hasAlert</a:t>
            </a:r>
          </a:p>
        </p:txBody>
      </p:sp>
      <p:sp>
        <p:nvSpPr>
          <p:cNvPr id="16" name="TextBox 15">
            <a:extLst>
              <a:ext uri="{FF2B5EF4-FFF2-40B4-BE49-F238E27FC236}">
                <a16:creationId xmlns:a16="http://schemas.microsoft.com/office/drawing/2014/main" id="{661E4090-E92C-DD40-7CD0-2FB1B8A17C57}"/>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17" name="TextBox 16">
            <a:extLst>
              <a:ext uri="{FF2B5EF4-FFF2-40B4-BE49-F238E27FC236}">
                <a16:creationId xmlns:a16="http://schemas.microsoft.com/office/drawing/2014/main" id="{AD774DCE-A2E5-8F8F-67EE-9669505FF51A}"/>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03 / 14</a:t>
            </a:r>
          </a:p>
        </p:txBody>
      </p:sp>
    </p:spTree>
    <p:extLst>
      <p:ext uri="{BB962C8B-B14F-4D97-AF65-F5344CB8AC3E}">
        <p14:creationId xmlns:p14="http://schemas.microsoft.com/office/powerpoint/2010/main" val="3512840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35F970-863E-19F9-F66D-8388B3289C35}"/>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2A8EC50-F556-1741-A81F-B7811A963C98}"/>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2CB0EA34-852F-4F7E-AD82-FFB4E7376854}"/>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Configure the Node Types</a:t>
            </a:r>
          </a:p>
        </p:txBody>
      </p:sp>
      <p:graphicFrame>
        <p:nvGraphicFramePr>
          <p:cNvPr id="5" name="Table 4">
            <a:extLst>
              <a:ext uri="{FF2B5EF4-FFF2-40B4-BE49-F238E27FC236}">
                <a16:creationId xmlns:a16="http://schemas.microsoft.com/office/drawing/2014/main" id="{EA178856-9136-F322-C7F3-8BC1BAD153EC}"/>
              </a:ext>
            </a:extLst>
          </p:cNvPr>
          <p:cNvGraphicFramePr>
            <a:graphicFrameLocks noGrp="1"/>
          </p:cNvGraphicFramePr>
          <p:nvPr>
            <p:extLst>
              <p:ext uri="{D42A27DB-BD31-4B8C-83A1-F6EECF244321}">
                <p14:modId xmlns:p14="http://schemas.microsoft.com/office/powerpoint/2010/main" val="276553710"/>
              </p:ext>
            </p:extLst>
          </p:nvPr>
        </p:nvGraphicFramePr>
        <p:xfrm>
          <a:off x="609600" y="1841500"/>
          <a:ext cx="10972800" cy="40640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791288198"/>
                    </a:ext>
                  </a:extLst>
                </a:gridCol>
                <a:gridCol w="2984500">
                  <a:extLst>
                    <a:ext uri="{9D8B030D-6E8A-4147-A177-3AD203B41FA5}">
                      <a16:colId xmlns:a16="http://schemas.microsoft.com/office/drawing/2014/main" val="1370411667"/>
                    </a:ext>
                  </a:extLst>
                </a:gridCol>
                <a:gridCol w="1841500">
                  <a:extLst>
                    <a:ext uri="{9D8B030D-6E8A-4147-A177-3AD203B41FA5}">
                      <a16:colId xmlns:a16="http://schemas.microsoft.com/office/drawing/2014/main" val="172792525"/>
                    </a:ext>
                  </a:extLst>
                </a:gridCol>
                <a:gridCol w="4305300">
                  <a:extLst>
                    <a:ext uri="{9D8B030D-6E8A-4147-A177-3AD203B41FA5}">
                      <a16:colId xmlns:a16="http://schemas.microsoft.com/office/drawing/2014/main" val="2878786427"/>
                    </a:ext>
                  </a:extLst>
                </a:gridCol>
              </a:tblGrid>
              <a:tr h="812800">
                <a:tc>
                  <a:txBody>
                    <a:bodyPr/>
                    <a:lstStyle/>
                    <a:p>
                      <a:r>
                        <a:rPr lang="en-US" sz="1600" b="1">
                          <a:solidFill>
                            <a:srgbClr val="FFFFFF"/>
                          </a:solidFill>
                          <a:latin typeface="Aptos" panose="020B0004020202020204" pitchFamily="34" charset="0"/>
                        </a:rPr>
                        <a:t>Node label</a:t>
                      </a:r>
                    </a:p>
                  </a:txBody>
                  <a:tcPr marL="203200" marR="203200" anchor="ctr">
                    <a:solidFill>
                      <a:srgbClr val="007873"/>
                    </a:solidFill>
                  </a:tcPr>
                </a:tc>
                <a:tc>
                  <a:txBody>
                    <a:bodyPr/>
                    <a:lstStyle/>
                    <a:p>
                      <a:r>
                        <a:rPr lang="en-US" sz="1600" b="1">
                          <a:solidFill>
                            <a:srgbClr val="FFFFFF"/>
                          </a:solidFill>
                          <a:latin typeface="Aptos" panose="020B0004020202020204" pitchFamily="34" charset="0"/>
                        </a:rPr>
                        <a:t>Source table</a:t>
                      </a:r>
                    </a:p>
                  </a:txBody>
                  <a:tcPr marL="203200" marR="203200" anchor="ctr">
                    <a:solidFill>
                      <a:srgbClr val="007873"/>
                    </a:solidFill>
                  </a:tcPr>
                </a:tc>
                <a:tc>
                  <a:txBody>
                    <a:bodyPr/>
                    <a:lstStyle/>
                    <a:p>
                      <a:r>
                        <a:rPr lang="en-US" sz="1600" b="1">
                          <a:solidFill>
                            <a:srgbClr val="FFFFFF"/>
                          </a:solidFill>
                          <a:latin typeface="Aptos" panose="020B0004020202020204" pitchFamily="34" charset="0"/>
                        </a:rPr>
                        <a:t>Node key</a:t>
                      </a:r>
                    </a:p>
                  </a:txBody>
                  <a:tcPr marL="203200" marR="203200" anchor="ctr">
                    <a:solidFill>
                      <a:srgbClr val="007873"/>
                    </a:solidFill>
                  </a:tcPr>
                </a:tc>
                <a:tc>
                  <a:txBody>
                    <a:bodyPr/>
                    <a:lstStyle/>
                    <a:p>
                      <a:r>
                        <a:rPr lang="en-US" sz="1600" b="1">
                          <a:solidFill>
                            <a:srgbClr val="FFFFFF"/>
                          </a:solidFill>
                          <a:latin typeface="Aptos" panose="020B0004020202020204" pitchFamily="34" charset="0"/>
                        </a:rPr>
                        <a:t>Properties to include</a:t>
                      </a:r>
                    </a:p>
                  </a:txBody>
                  <a:tcPr marL="203200" marR="203200" anchor="ctr">
                    <a:solidFill>
                      <a:srgbClr val="007873"/>
                    </a:solidFill>
                  </a:tcPr>
                </a:tc>
                <a:extLst>
                  <a:ext uri="{0D108BD9-81ED-4DB2-BD59-A6C34878D82A}">
                    <a16:rowId xmlns:a16="http://schemas.microsoft.com/office/drawing/2014/main" val="1617405253"/>
                  </a:ext>
                </a:extLst>
              </a:tr>
              <a:tr h="812800">
                <a:tc>
                  <a:txBody>
                    <a:bodyPr/>
                    <a:lstStyle/>
                    <a:p>
                      <a:r>
                        <a:rPr lang="en-US" sz="1600" b="0">
                          <a:solidFill>
                            <a:srgbClr val="282425"/>
                          </a:solidFill>
                          <a:latin typeface="Aptos" panose="020B0004020202020204" pitchFamily="34" charset="0"/>
                        </a:rPr>
                        <a:t>Customer</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gold.dim_customer</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customerKey</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customerKey, region, segment</a:t>
                      </a:r>
                    </a:p>
                  </a:txBody>
                  <a:tcPr marL="203200" marR="203200" anchor="ctr">
                    <a:solidFill>
                      <a:srgbClr val="F0F5F9"/>
                    </a:solidFill>
                  </a:tcPr>
                </a:tc>
                <a:extLst>
                  <a:ext uri="{0D108BD9-81ED-4DB2-BD59-A6C34878D82A}">
                    <a16:rowId xmlns:a16="http://schemas.microsoft.com/office/drawing/2014/main" val="992386827"/>
                  </a:ext>
                </a:extLst>
              </a:tr>
              <a:tr h="812800">
                <a:tc>
                  <a:txBody>
                    <a:bodyPr/>
                    <a:lstStyle/>
                    <a:p>
                      <a:r>
                        <a:rPr lang="en-US" sz="1600" b="0">
                          <a:solidFill>
                            <a:srgbClr val="282425"/>
                          </a:solidFill>
                          <a:latin typeface="Aptos" panose="020B0004020202020204" pitchFamily="34" charset="0"/>
                        </a:rPr>
                        <a:t>Transaction</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gold.fact_transaction</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txnId</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txnId, customerKey, amount, currency, channel, isFraud</a:t>
                      </a:r>
                    </a:p>
                  </a:txBody>
                  <a:tcPr marL="203200" marR="203200" anchor="ctr">
                    <a:solidFill>
                      <a:srgbClr val="F0F5F9"/>
                    </a:solidFill>
                  </a:tcPr>
                </a:tc>
                <a:extLst>
                  <a:ext uri="{0D108BD9-81ED-4DB2-BD59-A6C34878D82A}">
                    <a16:rowId xmlns:a16="http://schemas.microsoft.com/office/drawing/2014/main" val="4128167155"/>
                  </a:ext>
                </a:extLst>
              </a:tr>
              <a:tr h="812800">
                <a:tc>
                  <a:txBody>
                    <a:bodyPr/>
                    <a:lstStyle/>
                    <a:p>
                      <a:r>
                        <a:rPr lang="en-US" sz="1600" b="0">
                          <a:solidFill>
                            <a:srgbClr val="282425"/>
                          </a:solidFill>
                          <a:latin typeface="Aptos" panose="020B0004020202020204" pitchFamily="34" charset="0"/>
                        </a:rPr>
                        <a:t>Merchant</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gold.dim_merchant</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merchantId</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merchantId, name, category, country, riskFlag</a:t>
                      </a:r>
                    </a:p>
                  </a:txBody>
                  <a:tcPr marL="203200" marR="203200" anchor="ctr">
                    <a:solidFill>
                      <a:srgbClr val="F0F5F9"/>
                    </a:solidFill>
                  </a:tcPr>
                </a:tc>
                <a:extLst>
                  <a:ext uri="{0D108BD9-81ED-4DB2-BD59-A6C34878D82A}">
                    <a16:rowId xmlns:a16="http://schemas.microsoft.com/office/drawing/2014/main" val="3520656692"/>
                  </a:ext>
                </a:extLst>
              </a:tr>
              <a:tr h="812800">
                <a:tc>
                  <a:txBody>
                    <a:bodyPr/>
                    <a:lstStyle/>
                    <a:p>
                      <a:r>
                        <a:rPr lang="en-US" sz="1600" b="0">
                          <a:solidFill>
                            <a:srgbClr val="282425"/>
                          </a:solidFill>
                          <a:latin typeface="Aptos" panose="020B0004020202020204" pitchFamily="34" charset="0"/>
                        </a:rPr>
                        <a:t>FraudAlert</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gold.fact_fraud_alert</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alertId</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alertId, severity, status, type</a:t>
                      </a:r>
                    </a:p>
                  </a:txBody>
                  <a:tcPr marL="203200" marR="203200" anchor="ctr">
                    <a:solidFill>
                      <a:srgbClr val="F0F5F9"/>
                    </a:solidFill>
                  </a:tcPr>
                </a:tc>
                <a:extLst>
                  <a:ext uri="{0D108BD9-81ED-4DB2-BD59-A6C34878D82A}">
                    <a16:rowId xmlns:a16="http://schemas.microsoft.com/office/drawing/2014/main" val="302615457"/>
                  </a:ext>
                </a:extLst>
              </a:tr>
            </a:tbl>
          </a:graphicData>
        </a:graphic>
      </p:graphicFrame>
      <p:sp>
        <p:nvSpPr>
          <p:cNvPr id="6" name="TextBox 5">
            <a:extLst>
              <a:ext uri="{FF2B5EF4-FFF2-40B4-BE49-F238E27FC236}">
                <a16:creationId xmlns:a16="http://schemas.microsoft.com/office/drawing/2014/main" id="{C39E3CDD-5CC1-357D-B59D-A95C40BAB622}"/>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921AEB91-E1CB-A7C3-2B38-9DAC264CF90E}"/>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04 / 14</a:t>
            </a:r>
          </a:p>
        </p:txBody>
      </p:sp>
    </p:spTree>
    <p:extLst>
      <p:ext uri="{BB962C8B-B14F-4D97-AF65-F5344CB8AC3E}">
        <p14:creationId xmlns:p14="http://schemas.microsoft.com/office/powerpoint/2010/main" val="1181474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439709-D80C-3B36-C00D-6C4C1EAF0781}"/>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3F07F77-EF85-6967-141D-98378DA23BF4}"/>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C80051C0-6AEA-B7DD-45E9-BF7D3B186FD8}"/>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Configure the Relationships</a:t>
            </a:r>
          </a:p>
        </p:txBody>
      </p:sp>
      <p:graphicFrame>
        <p:nvGraphicFramePr>
          <p:cNvPr id="5" name="Table 4">
            <a:extLst>
              <a:ext uri="{FF2B5EF4-FFF2-40B4-BE49-F238E27FC236}">
                <a16:creationId xmlns:a16="http://schemas.microsoft.com/office/drawing/2014/main" id="{8B982C15-2DE0-D019-DA15-56469BC5609A}"/>
              </a:ext>
            </a:extLst>
          </p:cNvPr>
          <p:cNvGraphicFramePr>
            <a:graphicFrameLocks noGrp="1"/>
          </p:cNvGraphicFramePr>
          <p:nvPr>
            <p:extLst>
              <p:ext uri="{D42A27DB-BD31-4B8C-83A1-F6EECF244321}">
                <p14:modId xmlns:p14="http://schemas.microsoft.com/office/powerpoint/2010/main" val="2449679778"/>
              </p:ext>
            </p:extLst>
          </p:nvPr>
        </p:nvGraphicFramePr>
        <p:xfrm>
          <a:off x="609600" y="1841500"/>
          <a:ext cx="10972800" cy="4064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1388733309"/>
                    </a:ext>
                  </a:extLst>
                </a:gridCol>
                <a:gridCol w="2921000">
                  <a:extLst>
                    <a:ext uri="{9D8B030D-6E8A-4147-A177-3AD203B41FA5}">
                      <a16:colId xmlns:a16="http://schemas.microsoft.com/office/drawing/2014/main" val="1229094901"/>
                    </a:ext>
                  </a:extLst>
                </a:gridCol>
                <a:gridCol w="2667000">
                  <a:extLst>
                    <a:ext uri="{9D8B030D-6E8A-4147-A177-3AD203B41FA5}">
                      <a16:colId xmlns:a16="http://schemas.microsoft.com/office/drawing/2014/main" val="3824622237"/>
                    </a:ext>
                  </a:extLst>
                </a:gridCol>
                <a:gridCol w="2971800">
                  <a:extLst>
                    <a:ext uri="{9D8B030D-6E8A-4147-A177-3AD203B41FA5}">
                      <a16:colId xmlns:a16="http://schemas.microsoft.com/office/drawing/2014/main" val="1372990217"/>
                    </a:ext>
                  </a:extLst>
                </a:gridCol>
              </a:tblGrid>
              <a:tr h="1016000">
                <a:tc>
                  <a:txBody>
                    <a:bodyPr/>
                    <a:lstStyle/>
                    <a:p>
                      <a:r>
                        <a:rPr lang="en-US" sz="1600" b="1">
                          <a:solidFill>
                            <a:srgbClr val="FFFFFF"/>
                          </a:solidFill>
                          <a:latin typeface="Aptos" panose="020B0004020202020204" pitchFamily="34" charset="0"/>
                        </a:rPr>
                        <a:t>Edge</a:t>
                      </a:r>
                    </a:p>
                  </a:txBody>
                  <a:tcPr marL="203200" marR="203200" anchor="ctr">
                    <a:solidFill>
                      <a:srgbClr val="007873"/>
                    </a:solidFill>
                  </a:tcPr>
                </a:tc>
                <a:tc>
                  <a:txBody>
                    <a:bodyPr/>
                    <a:lstStyle/>
                    <a:p>
                      <a:r>
                        <a:rPr lang="en-US" sz="1600" b="1">
                          <a:solidFill>
                            <a:srgbClr val="FFFFFF"/>
                          </a:solidFill>
                          <a:latin typeface="Aptos" panose="020B0004020202020204" pitchFamily="34" charset="0"/>
                        </a:rPr>
                        <a:t>Source table</a:t>
                      </a:r>
                    </a:p>
                  </a:txBody>
                  <a:tcPr marL="203200" marR="203200" anchor="ctr">
                    <a:solidFill>
                      <a:srgbClr val="007873"/>
                    </a:solidFill>
                  </a:tcPr>
                </a:tc>
                <a:tc>
                  <a:txBody>
                    <a:bodyPr/>
                    <a:lstStyle/>
                    <a:p>
                      <a:r>
                        <a:rPr lang="en-US" sz="1600" b="1">
                          <a:solidFill>
                            <a:srgbClr val="FFFFFF"/>
                          </a:solidFill>
                          <a:latin typeface="Aptos" panose="020B0004020202020204" pitchFamily="34" charset="0"/>
                        </a:rPr>
                        <a:t>Origin / source key</a:t>
                      </a:r>
                    </a:p>
                  </a:txBody>
                  <a:tcPr marL="203200" marR="203200" anchor="ctr">
                    <a:solidFill>
                      <a:srgbClr val="007873"/>
                    </a:solidFill>
                  </a:tcPr>
                </a:tc>
                <a:tc>
                  <a:txBody>
                    <a:bodyPr/>
                    <a:lstStyle/>
                    <a:p>
                      <a:r>
                        <a:rPr lang="en-US" sz="1600" b="1">
                          <a:solidFill>
                            <a:srgbClr val="FFFFFF"/>
                          </a:solidFill>
                          <a:latin typeface="Aptos" panose="020B0004020202020204" pitchFamily="34" charset="0"/>
                        </a:rPr>
                        <a:t>Target / source key</a:t>
                      </a:r>
                    </a:p>
                  </a:txBody>
                  <a:tcPr marL="203200" marR="203200" anchor="ctr">
                    <a:solidFill>
                      <a:srgbClr val="007873"/>
                    </a:solidFill>
                  </a:tcPr>
                </a:tc>
                <a:extLst>
                  <a:ext uri="{0D108BD9-81ED-4DB2-BD59-A6C34878D82A}">
                    <a16:rowId xmlns:a16="http://schemas.microsoft.com/office/drawing/2014/main" val="4024299439"/>
                  </a:ext>
                </a:extLst>
              </a:tr>
              <a:tr h="1016000">
                <a:tc>
                  <a:txBody>
                    <a:bodyPr/>
                    <a:lstStyle/>
                    <a:p>
                      <a:r>
                        <a:rPr lang="en-US" sz="1600" b="0">
                          <a:solidFill>
                            <a:srgbClr val="282425"/>
                          </a:solidFill>
                          <a:latin typeface="Aptos" panose="020B0004020202020204" pitchFamily="34" charset="0"/>
                        </a:rPr>
                        <a:t>makesTransaction</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gold.fact_transaction</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Customer / customerKey</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Transaction / txnId</a:t>
                      </a:r>
                    </a:p>
                  </a:txBody>
                  <a:tcPr marL="203200" marR="203200" anchor="ctr">
                    <a:solidFill>
                      <a:srgbClr val="F0F5F9"/>
                    </a:solidFill>
                  </a:tcPr>
                </a:tc>
                <a:extLst>
                  <a:ext uri="{0D108BD9-81ED-4DB2-BD59-A6C34878D82A}">
                    <a16:rowId xmlns:a16="http://schemas.microsoft.com/office/drawing/2014/main" val="260340974"/>
                  </a:ext>
                </a:extLst>
              </a:tr>
              <a:tr h="1016000">
                <a:tc>
                  <a:txBody>
                    <a:bodyPr/>
                    <a:lstStyle/>
                    <a:p>
                      <a:r>
                        <a:rPr lang="en-US" sz="1600" b="0">
                          <a:solidFill>
                            <a:srgbClr val="282425"/>
                          </a:solidFill>
                          <a:latin typeface="Aptos" panose="020B0004020202020204" pitchFamily="34" charset="0"/>
                        </a:rPr>
                        <a:t>atMerchant</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gold.fact_transaction</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Transaction / txnId</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Merchant / merchantId</a:t>
                      </a:r>
                    </a:p>
                  </a:txBody>
                  <a:tcPr marL="203200" marR="203200" anchor="ctr">
                    <a:solidFill>
                      <a:srgbClr val="F0F5F9"/>
                    </a:solidFill>
                  </a:tcPr>
                </a:tc>
                <a:extLst>
                  <a:ext uri="{0D108BD9-81ED-4DB2-BD59-A6C34878D82A}">
                    <a16:rowId xmlns:a16="http://schemas.microsoft.com/office/drawing/2014/main" val="94481931"/>
                  </a:ext>
                </a:extLst>
              </a:tr>
              <a:tr h="1016000">
                <a:tc>
                  <a:txBody>
                    <a:bodyPr/>
                    <a:lstStyle/>
                    <a:p>
                      <a:r>
                        <a:rPr lang="en-US" sz="1600" b="0">
                          <a:solidFill>
                            <a:srgbClr val="282425"/>
                          </a:solidFill>
                          <a:latin typeface="Aptos" panose="020B0004020202020204" pitchFamily="34" charset="0"/>
                        </a:rPr>
                        <a:t>hasAlert</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gold.fact_fraud_alert</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Transaction / txnId</a:t>
                      </a:r>
                    </a:p>
                  </a:txBody>
                  <a:tcPr marL="203200" marR="203200" anchor="ctr">
                    <a:solidFill>
                      <a:srgbClr val="F0F5F9"/>
                    </a:solidFill>
                  </a:tcPr>
                </a:tc>
                <a:tc>
                  <a:txBody>
                    <a:bodyPr/>
                    <a:lstStyle/>
                    <a:p>
                      <a:r>
                        <a:rPr lang="en-US" sz="1600" b="0">
                          <a:solidFill>
                            <a:srgbClr val="282425"/>
                          </a:solidFill>
                          <a:latin typeface="Aptos" panose="020B0004020202020204" pitchFamily="34" charset="0"/>
                        </a:rPr>
                        <a:t>FraudAlert / alertId</a:t>
                      </a:r>
                    </a:p>
                  </a:txBody>
                  <a:tcPr marL="203200" marR="203200" anchor="ctr">
                    <a:solidFill>
                      <a:srgbClr val="F0F5F9"/>
                    </a:solidFill>
                  </a:tcPr>
                </a:tc>
                <a:extLst>
                  <a:ext uri="{0D108BD9-81ED-4DB2-BD59-A6C34878D82A}">
                    <a16:rowId xmlns:a16="http://schemas.microsoft.com/office/drawing/2014/main" val="3421041049"/>
                  </a:ext>
                </a:extLst>
              </a:tr>
            </a:tbl>
          </a:graphicData>
        </a:graphic>
      </p:graphicFrame>
      <p:sp>
        <p:nvSpPr>
          <p:cNvPr id="6" name="TextBox 5">
            <a:extLst>
              <a:ext uri="{FF2B5EF4-FFF2-40B4-BE49-F238E27FC236}">
                <a16:creationId xmlns:a16="http://schemas.microsoft.com/office/drawing/2014/main" id="{1923B2D5-9BCE-2BDF-8BA4-F5F710B81A27}"/>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58569CE9-BA22-8D27-37DB-BD0048160682}"/>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05 / 14</a:t>
            </a:r>
          </a:p>
        </p:txBody>
      </p:sp>
    </p:spTree>
    <p:extLst>
      <p:ext uri="{BB962C8B-B14F-4D97-AF65-F5344CB8AC3E}">
        <p14:creationId xmlns:p14="http://schemas.microsoft.com/office/powerpoint/2010/main" val="72528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D98665-15DF-B09E-776A-37364AB7184A}"/>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CC04AAB-1EC0-B837-11B5-7712FADC5009}"/>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08590205-BB86-3389-7AE7-70F36C224BEF}"/>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Create the Graph Model</a:t>
            </a:r>
          </a:p>
        </p:txBody>
      </p:sp>
      <p:sp>
        <p:nvSpPr>
          <p:cNvPr id="5" name="TextBox 4">
            <a:extLst>
              <a:ext uri="{FF2B5EF4-FFF2-40B4-BE49-F238E27FC236}">
                <a16:creationId xmlns:a16="http://schemas.microsoft.com/office/drawing/2014/main" id="{39D83B45-573A-461A-AA4E-221B06A67C9D}"/>
              </a:ext>
            </a:extLst>
          </p:cNvPr>
          <p:cNvSpPr txBox="1"/>
          <p:nvPr/>
        </p:nvSpPr>
        <p:spPr>
          <a:xfrm>
            <a:off x="609600" y="1905000"/>
            <a:ext cx="10972800" cy="2795637"/>
          </a:xfrm>
          <a:prstGeom prst="rect">
            <a:avLst/>
          </a:prstGeom>
          <a:noFill/>
        </p:spPr>
        <p:txBody>
          <a:bodyPr vert="horz" wrap="square" lIns="0" tIns="0" rIns="0" bIns="0" rtlCol="0">
            <a:spAutoFit/>
          </a:bodyPr>
          <a:lstStyle/>
          <a:p>
            <a:pPr>
              <a:spcAft>
                <a:spcPts val="2000"/>
              </a:spcAft>
            </a:pPr>
            <a:r>
              <a:rPr lang="en-US" sz="2300">
                <a:solidFill>
                  <a:srgbClr val="282425"/>
                </a:solidFill>
                <a:latin typeface="Aptos" panose="020B0004020202020204" pitchFamily="34" charset="0"/>
              </a:rPr>
              <a:t>YOUR_WORKSPACE_NAME &gt; + New item &gt; Graph model
Name: FabricIQCustomerRiskDemo
Get data &gt; OneLake catalog &gt; FabricIQ &gt; Add
Select the four gold tables &gt; Load
Add the mapped nodes and edges; preserve existing items.</a:t>
            </a:r>
          </a:p>
        </p:txBody>
      </p:sp>
      <p:sp>
        <p:nvSpPr>
          <p:cNvPr id="6" name="TextBox 5">
            <a:extLst>
              <a:ext uri="{FF2B5EF4-FFF2-40B4-BE49-F238E27FC236}">
                <a16:creationId xmlns:a16="http://schemas.microsoft.com/office/drawing/2014/main" id="{C4333F2C-0C91-3991-D755-A39B296DBA6D}"/>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543EBB3A-6CF1-4812-A465-3EB3EB48E36D}"/>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06 / 14</a:t>
            </a:r>
          </a:p>
        </p:txBody>
      </p:sp>
    </p:spTree>
    <p:extLst>
      <p:ext uri="{BB962C8B-B14F-4D97-AF65-F5344CB8AC3E}">
        <p14:creationId xmlns:p14="http://schemas.microsoft.com/office/powerpoint/2010/main" val="2637146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634BB7-B17D-10F3-6388-55D5B90981E5}"/>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9733AC5-CD78-53EE-0BC0-B6DCD4EF48A5}"/>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14353D4C-AA2F-C9C3-A59A-3952D4AEE8D2}"/>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Save, Load, and Validate</a:t>
            </a:r>
          </a:p>
        </p:txBody>
      </p:sp>
      <p:sp>
        <p:nvSpPr>
          <p:cNvPr id="5" name="TextBox 4">
            <a:extLst>
              <a:ext uri="{FF2B5EF4-FFF2-40B4-BE49-F238E27FC236}">
                <a16:creationId xmlns:a16="http://schemas.microsoft.com/office/drawing/2014/main" id="{A9C3E619-3C6D-A68F-507D-DCF13A0975FE}"/>
              </a:ext>
            </a:extLst>
          </p:cNvPr>
          <p:cNvSpPr txBox="1"/>
          <p:nvPr/>
        </p:nvSpPr>
        <p:spPr>
          <a:xfrm>
            <a:off x="609600" y="1905000"/>
            <a:ext cx="10972800" cy="2795637"/>
          </a:xfrm>
          <a:prstGeom prst="rect">
            <a:avLst/>
          </a:prstGeom>
          <a:noFill/>
        </p:spPr>
        <p:txBody>
          <a:bodyPr vert="horz" wrap="square" lIns="0" tIns="0" rIns="0" bIns="0" rtlCol="0">
            <a:spAutoFit/>
          </a:bodyPr>
          <a:lstStyle/>
          <a:p>
            <a:pPr>
              <a:spcAft>
                <a:spcPts val="2000"/>
              </a:spcAft>
            </a:pPr>
            <a:r>
              <a:rPr lang="en-US" sz="2300">
                <a:solidFill>
                  <a:srgbClr val="282425"/>
                </a:solidFill>
                <a:latin typeface="Aptos" panose="020B0004020202020204" pitchFamily="34" charset="0"/>
              </a:rPr>
              <a:t>Select Save in the Model ribbon.
Wait for Data load completed before querying.
Record the last completed load or refresh time.
Check unique node keys and matching edge endpoints.
Source updates need refresh; schema changes reload data.</a:t>
            </a:r>
          </a:p>
        </p:txBody>
      </p:sp>
      <p:sp>
        <p:nvSpPr>
          <p:cNvPr id="6" name="TextBox 5">
            <a:extLst>
              <a:ext uri="{FF2B5EF4-FFF2-40B4-BE49-F238E27FC236}">
                <a16:creationId xmlns:a16="http://schemas.microsoft.com/office/drawing/2014/main" id="{9385EFE6-6E60-6FD7-553F-0EDAC370C711}"/>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F1D6860F-A727-2548-90D4-581A0D04E0CA}"/>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07 / 14</a:t>
            </a:r>
          </a:p>
        </p:txBody>
      </p:sp>
    </p:spTree>
    <p:extLst>
      <p:ext uri="{BB962C8B-B14F-4D97-AF65-F5344CB8AC3E}">
        <p14:creationId xmlns:p14="http://schemas.microsoft.com/office/powerpoint/2010/main" val="3024620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D99228-395A-9B1C-4E69-58D39D242F4E}"/>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2074C58-E7F3-36A7-478B-53E9F39CA297}"/>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306261BA-B508-5FFD-7613-15DBD4501575}"/>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Trace One Known Transaction</a:t>
            </a:r>
          </a:p>
        </p:txBody>
      </p:sp>
      <p:sp>
        <p:nvSpPr>
          <p:cNvPr id="5" name="TextBox 4">
            <a:extLst>
              <a:ext uri="{FF2B5EF4-FFF2-40B4-BE49-F238E27FC236}">
                <a16:creationId xmlns:a16="http://schemas.microsoft.com/office/drawing/2014/main" id="{FD0CD12E-0C28-DD06-FCB2-D8FA3B910A26}"/>
              </a:ext>
            </a:extLst>
          </p:cNvPr>
          <p:cNvSpPr txBox="1"/>
          <p:nvPr/>
        </p:nvSpPr>
        <p:spPr>
          <a:xfrm>
            <a:off x="609600" y="1905000"/>
            <a:ext cx="10972800" cy="2795637"/>
          </a:xfrm>
          <a:prstGeom prst="rect">
            <a:avLst/>
          </a:prstGeom>
          <a:noFill/>
        </p:spPr>
        <p:txBody>
          <a:bodyPr vert="horz" wrap="square" lIns="0" tIns="0" rIns="0" bIns="0" rtlCol="0">
            <a:spAutoFit/>
          </a:bodyPr>
          <a:lstStyle/>
          <a:p>
            <a:pPr>
              <a:spcAft>
                <a:spcPts val="2000"/>
              </a:spcAft>
            </a:pPr>
            <a:r>
              <a:rPr lang="en-US" sz="2300">
                <a:solidFill>
                  <a:srgbClr val="282425"/>
                </a:solidFill>
                <a:latin typeface="Aptos" panose="020B0004020202020204" pitchFamily="34" charset="0"/>
              </a:rPr>
              <a:t>Modes &gt; Query &gt; Query builder &gt; Code editor
Use transaction TX-00044001 as a wiring check.
Source preview: customer CUST-001159
Source preview: merchant MER-0013 | USD 94.25
Reconcile these values after the graph loads.</a:t>
            </a:r>
          </a:p>
        </p:txBody>
      </p:sp>
      <p:sp>
        <p:nvSpPr>
          <p:cNvPr id="6" name="TextBox 5">
            <a:extLst>
              <a:ext uri="{FF2B5EF4-FFF2-40B4-BE49-F238E27FC236}">
                <a16:creationId xmlns:a16="http://schemas.microsoft.com/office/drawing/2014/main" id="{870DC258-FA1C-1F60-1145-E47FA1676D3B}"/>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BFF83498-7135-C24A-D4CD-58BB3B7169E2}"/>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08 / 14</a:t>
            </a:r>
          </a:p>
        </p:txBody>
      </p:sp>
    </p:spTree>
    <p:extLst>
      <p:ext uri="{BB962C8B-B14F-4D97-AF65-F5344CB8AC3E}">
        <p14:creationId xmlns:p14="http://schemas.microsoft.com/office/powerpoint/2010/main" val="2417846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4009DC-6D3F-2E66-5B95-5AA3CC3736ED}"/>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07D93CA-5E10-4E37-03FB-605AB9ED6BEF}"/>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87AED93E-FD33-C9E3-86EA-699030791C82}"/>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Rank Activity at Flagged Merchants</a:t>
            </a:r>
          </a:p>
        </p:txBody>
      </p:sp>
      <p:sp>
        <p:nvSpPr>
          <p:cNvPr id="5" name="TextBox 4">
            <a:extLst>
              <a:ext uri="{FF2B5EF4-FFF2-40B4-BE49-F238E27FC236}">
                <a16:creationId xmlns:a16="http://schemas.microsoft.com/office/drawing/2014/main" id="{1A3AC580-DA79-B7FD-ACE3-07F4B78C9FC7}"/>
              </a:ext>
            </a:extLst>
          </p:cNvPr>
          <p:cNvSpPr txBox="1"/>
          <p:nvPr/>
        </p:nvSpPr>
        <p:spPr>
          <a:xfrm>
            <a:off x="609600" y="1905000"/>
            <a:ext cx="10972800" cy="2795637"/>
          </a:xfrm>
          <a:prstGeom prst="rect">
            <a:avLst/>
          </a:prstGeom>
          <a:noFill/>
        </p:spPr>
        <p:txBody>
          <a:bodyPr vert="horz" wrap="square" lIns="0" tIns="0" rIns="0" bIns="0" rtlCol="0">
            <a:spAutoFit/>
          </a:bodyPr>
          <a:lstStyle/>
          <a:p>
            <a:pPr>
              <a:spcAft>
                <a:spcPts val="2000"/>
              </a:spcAft>
            </a:pPr>
            <a:r>
              <a:rPr lang="en-US" sz="2300">
                <a:solidFill>
                  <a:srgbClr val="282425"/>
                </a:solidFill>
                <a:latin typeface="Aptos" panose="020B0004020202020204" pitchFamily="34" charset="0"/>
              </a:rPr>
              <a:t>Filter Merchant.riskFlag = true.
Count distinct transaction IDs and customer keys.
Sort transaction count descending; keep the top five.
Select a merchant from the actual result.
Flagged activity is a review lead, not proof of fraud.</a:t>
            </a:r>
          </a:p>
        </p:txBody>
      </p:sp>
      <p:sp>
        <p:nvSpPr>
          <p:cNvPr id="6" name="TextBox 5">
            <a:extLst>
              <a:ext uri="{FF2B5EF4-FFF2-40B4-BE49-F238E27FC236}">
                <a16:creationId xmlns:a16="http://schemas.microsoft.com/office/drawing/2014/main" id="{99E29609-27F9-F21D-AA32-B1B267D3BE98}"/>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A042056B-9035-FBEB-DB37-B5B7D18AC38B}"/>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09 / 14</a:t>
            </a:r>
          </a:p>
        </p:txBody>
      </p:sp>
    </p:spTree>
    <p:extLst>
      <p:ext uri="{BB962C8B-B14F-4D97-AF65-F5344CB8AC3E}">
        <p14:creationId xmlns:p14="http://schemas.microsoft.com/office/powerpoint/2010/main" val="2455332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88B034-1998-537D-3912-655F4EDA43CE}"/>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ED66F6A-CA2E-B45B-E950-1FB2B8268815}"/>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CC634BC1-B194-A66F-0772-EEA3C457C5B7}"/>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Follow a Recorded Fraud Alert</a:t>
            </a:r>
          </a:p>
        </p:txBody>
      </p:sp>
      <p:sp>
        <p:nvSpPr>
          <p:cNvPr id="5" name="TextBox 4">
            <a:extLst>
              <a:ext uri="{FF2B5EF4-FFF2-40B4-BE49-F238E27FC236}">
                <a16:creationId xmlns:a16="http://schemas.microsoft.com/office/drawing/2014/main" id="{18245589-AA18-7F09-EFF6-F902B3059C57}"/>
              </a:ext>
            </a:extLst>
          </p:cNvPr>
          <p:cNvSpPr txBox="1"/>
          <p:nvPr/>
        </p:nvSpPr>
        <p:spPr>
          <a:xfrm>
            <a:off x="609600" y="1905000"/>
            <a:ext cx="10972800" cy="2795637"/>
          </a:xfrm>
          <a:prstGeom prst="rect">
            <a:avLst/>
          </a:prstGeom>
          <a:noFill/>
        </p:spPr>
        <p:txBody>
          <a:bodyPr vert="horz" wrap="square" lIns="0" tIns="0" rIns="0" bIns="0" rtlCol="0">
            <a:spAutoFit/>
          </a:bodyPr>
          <a:lstStyle/>
          <a:p>
            <a:pPr>
              <a:spcAft>
                <a:spcPts val="2000"/>
              </a:spcAft>
            </a:pPr>
            <a:r>
              <a:rPr lang="en-US" sz="2300">
                <a:solidFill>
                  <a:srgbClr val="282425"/>
                </a:solidFill>
                <a:latin typeface="Aptos" panose="020B0004020202020204" pitchFamily="34" charset="0"/>
              </a:rPr>
              <a:t>Use alert AL-0000093 in the prepared query.
Source preview: High severity | Open status
Source preview: transaction TX-00047093
Source preview: customer CUST-002026
Discover the merchant during rehearsal; do not assume it.</a:t>
            </a:r>
          </a:p>
        </p:txBody>
      </p:sp>
      <p:sp>
        <p:nvSpPr>
          <p:cNvPr id="6" name="TextBox 5">
            <a:extLst>
              <a:ext uri="{FF2B5EF4-FFF2-40B4-BE49-F238E27FC236}">
                <a16:creationId xmlns:a16="http://schemas.microsoft.com/office/drawing/2014/main" id="{7B2BC38F-5944-9CE0-2635-EAFC2F2EAE1F}"/>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896B21EE-C684-E87A-B7C0-4E56193C0C68}"/>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10 / 14</a:t>
            </a:r>
          </a:p>
        </p:txBody>
      </p:sp>
    </p:spTree>
    <p:extLst>
      <p:ext uri="{BB962C8B-B14F-4D97-AF65-F5344CB8AC3E}">
        <p14:creationId xmlns:p14="http://schemas.microsoft.com/office/powerpoint/2010/main" val="2363208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25906B-69E5-7F7F-B226-725BF750C29A}"/>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F1EE249-F5CB-5EA1-6EB7-7CE854EB7C8F}"/>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A2E549B3-65F7-1DF2-F73E-9539BA53586B}"/>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Explore the Evidence Visually</a:t>
            </a:r>
          </a:p>
        </p:txBody>
      </p:sp>
      <p:sp>
        <p:nvSpPr>
          <p:cNvPr id="5" name="TextBox 4">
            <a:extLst>
              <a:ext uri="{FF2B5EF4-FFF2-40B4-BE49-F238E27FC236}">
                <a16:creationId xmlns:a16="http://schemas.microsoft.com/office/drawing/2014/main" id="{D28324A2-0874-50AC-D374-377E385B2C52}"/>
              </a:ext>
            </a:extLst>
          </p:cNvPr>
          <p:cNvSpPr txBox="1"/>
          <p:nvPr/>
        </p:nvSpPr>
        <p:spPr>
          <a:xfrm>
            <a:off x="609600" y="1905000"/>
            <a:ext cx="10972800" cy="2795637"/>
          </a:xfrm>
          <a:prstGeom prst="rect">
            <a:avLst/>
          </a:prstGeom>
          <a:noFill/>
        </p:spPr>
        <p:txBody>
          <a:bodyPr vert="horz" wrap="square" lIns="0" tIns="0" rIns="0" bIns="0" rtlCol="0">
            <a:spAutoFit/>
          </a:bodyPr>
          <a:lstStyle/>
          <a:p>
            <a:pPr>
              <a:spcAft>
                <a:spcPts val="2000"/>
              </a:spcAft>
            </a:pPr>
            <a:r>
              <a:rPr lang="en-US" sz="2300">
                <a:solidFill>
                  <a:srgbClr val="282425"/>
                </a:solidFill>
                <a:latin typeface="Aptos" panose="020B0004020202020204" pitchFamily="34" charset="0"/>
              </a:rPr>
              <a:t>Query builder &gt; Add a node &gt; Transaction
Components: atMerchant, hasAlert, makesTransaction
Filter FraudAlert.alertId = AL-0000093 &gt; Apply
Run query; show Diagram and Table views.
The result shows records, not just entity types.</a:t>
            </a:r>
          </a:p>
        </p:txBody>
      </p:sp>
      <p:sp>
        <p:nvSpPr>
          <p:cNvPr id="6" name="TextBox 5">
            <a:extLst>
              <a:ext uri="{FF2B5EF4-FFF2-40B4-BE49-F238E27FC236}">
                <a16:creationId xmlns:a16="http://schemas.microsoft.com/office/drawing/2014/main" id="{B94758D5-76F7-D961-5A97-7901E9D18F09}"/>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A9EDA677-CAD8-1F4C-A913-BE906A4CF36A}"/>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11 / 14</a:t>
            </a:r>
          </a:p>
        </p:txBody>
      </p:sp>
    </p:spTree>
    <p:extLst>
      <p:ext uri="{BB962C8B-B14F-4D97-AF65-F5344CB8AC3E}">
        <p14:creationId xmlns:p14="http://schemas.microsoft.com/office/powerpoint/2010/main" val="2044902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3E0C92-F2D0-E44E-5EA2-5EF9B381D83E}"/>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972D49D-B1CA-F066-C1E7-AAFB8F9DCBF2}"/>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27B19A55-984B-9E8D-4E0F-CEDA6A701E3A}"/>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Save the Investigation</a:t>
            </a:r>
          </a:p>
        </p:txBody>
      </p:sp>
      <p:sp>
        <p:nvSpPr>
          <p:cNvPr id="5" name="TextBox 4">
            <a:extLst>
              <a:ext uri="{FF2B5EF4-FFF2-40B4-BE49-F238E27FC236}">
                <a16:creationId xmlns:a16="http://schemas.microsoft.com/office/drawing/2014/main" id="{7AD4FA32-5CB6-25B8-EB01-05A2EBCEDFD6}"/>
              </a:ext>
            </a:extLst>
          </p:cNvPr>
          <p:cNvSpPr txBox="1"/>
          <p:nvPr/>
        </p:nvSpPr>
        <p:spPr>
          <a:xfrm>
            <a:off x="609600" y="1905000"/>
            <a:ext cx="10972800" cy="2795637"/>
          </a:xfrm>
          <a:prstGeom prst="rect">
            <a:avLst/>
          </a:prstGeom>
          <a:noFill/>
        </p:spPr>
        <p:txBody>
          <a:bodyPr vert="horz" wrap="square" lIns="0" tIns="0" rIns="0" bIns="0" rtlCol="0">
            <a:spAutoFit/>
          </a:bodyPr>
          <a:lstStyle/>
          <a:p>
            <a:pPr>
              <a:spcAft>
                <a:spcPts val="2000"/>
              </a:spcAft>
            </a:pPr>
            <a:r>
              <a:rPr lang="en-US" sz="2300">
                <a:solidFill>
                  <a:srgbClr val="282425"/>
                </a:solidFill>
                <a:latin typeface="Aptos" panose="020B0004020202020204" pitchFamily="34" charset="0"/>
              </a:rPr>
              <a:t>Query mode &gt; Create queryset
Name: FabricIQCustomerRiskQueries
Location: YOUR_WORKSPACE_NAME
Rename the query to TraceFraudAlert.
Reopen and rerun using an authorized workspace identity.</a:t>
            </a:r>
          </a:p>
        </p:txBody>
      </p:sp>
      <p:sp>
        <p:nvSpPr>
          <p:cNvPr id="6" name="TextBox 5">
            <a:extLst>
              <a:ext uri="{FF2B5EF4-FFF2-40B4-BE49-F238E27FC236}">
                <a16:creationId xmlns:a16="http://schemas.microsoft.com/office/drawing/2014/main" id="{261E3F1E-4C67-4D47-F9DC-C736CFB803AB}"/>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E2EC6E24-2DB5-2C48-E02E-8D2E832FA60D}"/>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12 / 14</a:t>
            </a:r>
          </a:p>
        </p:txBody>
      </p:sp>
    </p:spTree>
    <p:extLst>
      <p:ext uri="{BB962C8B-B14F-4D97-AF65-F5344CB8AC3E}">
        <p14:creationId xmlns:p14="http://schemas.microsoft.com/office/powerpoint/2010/main" val="685342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5952C8-EA73-270A-9047-08E8DE11C7F2}"/>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F77B7DC-8349-4F55-C66E-43B57D24D015}"/>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63278318-730A-C915-A8AB-84458EE55FA6}"/>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Optional: Connect the Lending Domain</a:t>
            </a:r>
          </a:p>
        </p:txBody>
      </p:sp>
      <p:sp>
        <p:nvSpPr>
          <p:cNvPr id="5" name="TextBox 4">
            <a:extLst>
              <a:ext uri="{FF2B5EF4-FFF2-40B4-BE49-F238E27FC236}">
                <a16:creationId xmlns:a16="http://schemas.microsoft.com/office/drawing/2014/main" id="{E5AAD7AA-23AC-17D5-05AD-98969212CBDE}"/>
              </a:ext>
            </a:extLst>
          </p:cNvPr>
          <p:cNvSpPr txBox="1"/>
          <p:nvPr/>
        </p:nvSpPr>
        <p:spPr>
          <a:xfrm>
            <a:off x="609600" y="1866900"/>
            <a:ext cx="10160000" cy="169277"/>
          </a:xfrm>
          <a:prstGeom prst="rect">
            <a:avLst/>
          </a:prstGeom>
          <a:noFill/>
        </p:spPr>
        <p:txBody>
          <a:bodyPr vert="horz" wrap="square" lIns="0" tIns="0" rIns="0" bIns="0" rtlCol="0">
            <a:spAutoFit/>
          </a:bodyPr>
          <a:lstStyle/>
          <a:p>
            <a:pPr>
              <a:spcAft>
                <a:spcPts val="500"/>
              </a:spcAft>
            </a:pPr>
            <a:r>
              <a:rPr lang="en-US" sz="1100" b="1">
                <a:solidFill>
                  <a:srgbClr val="5E6170"/>
                </a:solidFill>
                <a:latin typeface="Aptos" panose="020B0004020202020204" pitchFamily="34" charset="0"/>
              </a:rPr>
              <a:t>ILLUSTRATIVE SCHEMA / NOT A LIVE RESULT</a:t>
            </a:r>
          </a:p>
        </p:txBody>
      </p:sp>
      <p:sp>
        <p:nvSpPr>
          <p:cNvPr id="6" name="Rectangle 5">
            <a:extLst>
              <a:ext uri="{FF2B5EF4-FFF2-40B4-BE49-F238E27FC236}">
                <a16:creationId xmlns:a16="http://schemas.microsoft.com/office/drawing/2014/main" id="{9DD16453-4C31-569A-2CB3-C1263A58E61A}"/>
              </a:ext>
            </a:extLst>
          </p:cNvPr>
          <p:cNvSpPr/>
          <p:nvPr/>
        </p:nvSpPr>
        <p:spPr>
          <a:xfrm>
            <a:off x="1270000" y="3302000"/>
            <a:ext cx="2286000" cy="8255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FFFFFF"/>
                </a:solidFill>
                <a:latin typeface="Aptos" panose="020B0004020202020204" pitchFamily="34" charset="0"/>
              </a:rPr>
              <a:t>Customer</a:t>
            </a:r>
          </a:p>
        </p:txBody>
      </p:sp>
      <p:sp>
        <p:nvSpPr>
          <p:cNvPr id="7" name="Rectangle 6">
            <a:extLst>
              <a:ext uri="{FF2B5EF4-FFF2-40B4-BE49-F238E27FC236}">
                <a16:creationId xmlns:a16="http://schemas.microsoft.com/office/drawing/2014/main" id="{125D50AF-8C87-7522-FD11-CB67173A1E51}"/>
              </a:ext>
            </a:extLst>
          </p:cNvPr>
          <p:cNvSpPr/>
          <p:nvPr/>
        </p:nvSpPr>
        <p:spPr>
          <a:xfrm>
            <a:off x="4953000" y="3302000"/>
            <a:ext cx="2286000" cy="8255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FFFFFF"/>
                </a:solidFill>
                <a:latin typeface="Aptos" panose="020B0004020202020204" pitchFamily="34" charset="0"/>
              </a:rPr>
              <a:t>Loan</a:t>
            </a:r>
          </a:p>
        </p:txBody>
      </p:sp>
      <p:sp>
        <p:nvSpPr>
          <p:cNvPr id="8" name="Rectangle 7">
            <a:extLst>
              <a:ext uri="{FF2B5EF4-FFF2-40B4-BE49-F238E27FC236}">
                <a16:creationId xmlns:a16="http://schemas.microsoft.com/office/drawing/2014/main" id="{22E5EA2C-CF6F-358E-9A1B-A2CD9D0E1533}"/>
              </a:ext>
            </a:extLst>
          </p:cNvPr>
          <p:cNvSpPr/>
          <p:nvPr/>
        </p:nvSpPr>
        <p:spPr>
          <a:xfrm>
            <a:off x="8636000" y="3302000"/>
            <a:ext cx="2286000" cy="825500"/>
          </a:xfrm>
          <a:prstGeom prst="rect">
            <a:avLst/>
          </a:prstGeom>
          <a:solidFill>
            <a:srgbClr val="DFB12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01600" rIns="101600" rtlCol="0" anchor="ctr"/>
          <a:lstStyle/>
          <a:p>
            <a:pPr algn="ctr"/>
            <a:r>
              <a:rPr lang="en-US" sz="1400">
                <a:solidFill>
                  <a:srgbClr val="282425"/>
                </a:solidFill>
                <a:latin typeface="Aptos" panose="020B0004020202020204" pitchFamily="34" charset="0"/>
              </a:rPr>
              <a:t>Delinquency
Event</a:t>
            </a:r>
          </a:p>
        </p:txBody>
      </p:sp>
      <p:cxnSp>
        <p:nvCxnSpPr>
          <p:cNvPr id="9" name="Straight Connector 8">
            <a:extLst>
              <a:ext uri="{FF2B5EF4-FFF2-40B4-BE49-F238E27FC236}">
                <a16:creationId xmlns:a16="http://schemas.microsoft.com/office/drawing/2014/main" id="{1B98D0D5-562F-031F-4B3C-28CFB6C87F16}"/>
              </a:ext>
            </a:extLst>
          </p:cNvPr>
          <p:cNvCxnSpPr/>
          <p:nvPr/>
        </p:nvCxnSpPr>
        <p:spPr>
          <a:xfrm>
            <a:off x="3556000" y="3708400"/>
            <a:ext cx="1295400" cy="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E1EDD39-BFA3-E1C9-59E6-93BBEE87E0FF}"/>
              </a:ext>
            </a:extLst>
          </p:cNvPr>
          <p:cNvSpPr txBox="1"/>
          <p:nvPr/>
        </p:nvSpPr>
        <p:spPr>
          <a:xfrm>
            <a:off x="3746500" y="3175000"/>
            <a:ext cx="1143000" cy="169277"/>
          </a:xfrm>
          <a:prstGeom prst="rect">
            <a:avLst/>
          </a:prstGeom>
          <a:noFill/>
        </p:spPr>
        <p:txBody>
          <a:bodyPr vert="horz" wrap="square" lIns="0" tIns="0" rIns="0" bIns="0" rtlCol="0">
            <a:spAutoFit/>
          </a:bodyPr>
          <a:lstStyle/>
          <a:p>
            <a:pPr>
              <a:spcAft>
                <a:spcPts val="500"/>
              </a:spcAft>
            </a:pPr>
            <a:r>
              <a:rPr lang="en-US" sz="1100">
                <a:solidFill>
                  <a:srgbClr val="5E6170"/>
                </a:solidFill>
                <a:latin typeface="Aptos" panose="020B0004020202020204" pitchFamily="34" charset="0"/>
              </a:rPr>
              <a:t>ownsLoan</a:t>
            </a:r>
          </a:p>
        </p:txBody>
      </p:sp>
      <p:cxnSp>
        <p:nvCxnSpPr>
          <p:cNvPr id="11" name="Straight Connector 10">
            <a:extLst>
              <a:ext uri="{FF2B5EF4-FFF2-40B4-BE49-F238E27FC236}">
                <a16:creationId xmlns:a16="http://schemas.microsoft.com/office/drawing/2014/main" id="{F8DA74DA-D580-35E2-2CC4-144668B08C30}"/>
              </a:ext>
            </a:extLst>
          </p:cNvPr>
          <p:cNvCxnSpPr/>
          <p:nvPr/>
        </p:nvCxnSpPr>
        <p:spPr>
          <a:xfrm>
            <a:off x="7239000" y="3708400"/>
            <a:ext cx="1295400" cy="0"/>
          </a:xfrm>
          <a:prstGeom prst="line">
            <a:avLst/>
          </a:prstGeom>
          <a:ln w="22860">
            <a:solidFill>
              <a:srgbClr val="007873"/>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FA36678-24E1-E63E-91D9-F2788B7F1EC6}"/>
              </a:ext>
            </a:extLst>
          </p:cNvPr>
          <p:cNvSpPr txBox="1"/>
          <p:nvPr/>
        </p:nvSpPr>
        <p:spPr>
          <a:xfrm>
            <a:off x="7302500" y="3175000"/>
            <a:ext cx="1397000" cy="169277"/>
          </a:xfrm>
          <a:prstGeom prst="rect">
            <a:avLst/>
          </a:prstGeom>
          <a:noFill/>
        </p:spPr>
        <p:txBody>
          <a:bodyPr vert="horz" wrap="square" lIns="0" tIns="0" rIns="0" bIns="0" rtlCol="0">
            <a:spAutoFit/>
          </a:bodyPr>
          <a:lstStyle/>
          <a:p>
            <a:pPr>
              <a:spcAft>
                <a:spcPts val="500"/>
              </a:spcAft>
            </a:pPr>
            <a:r>
              <a:rPr lang="en-US" sz="1100">
                <a:solidFill>
                  <a:srgbClr val="5E6170"/>
                </a:solidFill>
                <a:latin typeface="Aptos" panose="020B0004020202020204" pitchFamily="34" charset="0"/>
              </a:rPr>
              <a:t>hasDelinquency</a:t>
            </a:r>
          </a:p>
        </p:txBody>
      </p:sp>
      <p:sp>
        <p:nvSpPr>
          <p:cNvPr id="13" name="TextBox 12">
            <a:extLst>
              <a:ext uri="{FF2B5EF4-FFF2-40B4-BE49-F238E27FC236}">
                <a16:creationId xmlns:a16="http://schemas.microsoft.com/office/drawing/2014/main" id="{BD78E8D8-D026-369F-F2D1-601DD33150C3}"/>
              </a:ext>
            </a:extLst>
          </p:cNvPr>
          <p:cNvSpPr txBox="1"/>
          <p:nvPr/>
        </p:nvSpPr>
        <p:spPr>
          <a:xfrm>
            <a:off x="1270000" y="4826000"/>
            <a:ext cx="9652000" cy="323165"/>
          </a:xfrm>
          <a:prstGeom prst="rect">
            <a:avLst/>
          </a:prstGeom>
          <a:noFill/>
        </p:spPr>
        <p:txBody>
          <a:bodyPr vert="horz" wrap="square" lIns="0" tIns="0" rIns="0" bIns="0" rtlCol="0">
            <a:spAutoFit/>
          </a:bodyPr>
          <a:lstStyle/>
          <a:p>
            <a:pPr>
              <a:spcAft>
                <a:spcPts val="500"/>
              </a:spcAft>
            </a:pPr>
            <a:r>
              <a:rPr lang="en-US" sz="2100">
                <a:solidFill>
                  <a:srgbClr val="282425"/>
                </a:solidFill>
                <a:latin typeface="Aptos" panose="020B0004020202020204" pitchFamily="34" charset="0"/>
              </a:rPr>
              <a:t>Extend the existing Customer node; keep payments relationships unchanged.</a:t>
            </a:r>
          </a:p>
        </p:txBody>
      </p:sp>
      <p:sp>
        <p:nvSpPr>
          <p:cNvPr id="14" name="TextBox 13">
            <a:extLst>
              <a:ext uri="{FF2B5EF4-FFF2-40B4-BE49-F238E27FC236}">
                <a16:creationId xmlns:a16="http://schemas.microsoft.com/office/drawing/2014/main" id="{D2BFF7E8-FFB2-92CC-A4B5-C77F058EB665}"/>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15" name="TextBox 14">
            <a:extLst>
              <a:ext uri="{FF2B5EF4-FFF2-40B4-BE49-F238E27FC236}">
                <a16:creationId xmlns:a16="http://schemas.microsoft.com/office/drawing/2014/main" id="{8B2B7FD4-36BA-DC94-5865-FCAAE8637A1B}"/>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13 / 14</a:t>
            </a:r>
          </a:p>
        </p:txBody>
      </p:sp>
    </p:spTree>
    <p:extLst>
      <p:ext uri="{BB962C8B-B14F-4D97-AF65-F5344CB8AC3E}">
        <p14:creationId xmlns:p14="http://schemas.microsoft.com/office/powerpoint/2010/main" val="536405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9EB577-10B8-45FB-AC1F-7E9E0E06482D}"/>
              </a:ext>
            </a:extLst>
          </p:cNvPr>
          <p:cNvSpPr/>
          <p:nvPr/>
        </p:nvSpPr>
        <p:spPr>
          <a:xfrm>
            <a:off x="0" y="0"/>
            <a:ext cx="12192000" cy="101600"/>
          </a:xfrm>
          <a:prstGeom prst="rect">
            <a:avLst/>
          </a:prstGeom>
          <a:solidFill>
            <a:srgbClr val="00787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A3E92A8-AFDB-A72D-5AA1-6A650DC5639A}"/>
              </a:ext>
            </a:extLst>
          </p:cNvPr>
          <p:cNvSpPr txBox="1"/>
          <p:nvPr/>
        </p:nvSpPr>
        <p:spPr>
          <a:xfrm>
            <a:off x="609600" y="381000"/>
            <a:ext cx="10795000" cy="169277"/>
          </a:xfrm>
          <a:prstGeom prst="rect">
            <a:avLst/>
          </a:prstGeom>
          <a:noFill/>
        </p:spPr>
        <p:txBody>
          <a:bodyPr vert="horz" wrap="square" lIns="0" tIns="0" rIns="0" bIns="0" rtlCol="0">
            <a:spAutoFit/>
          </a:bodyPr>
          <a:lstStyle/>
          <a:p>
            <a:pPr>
              <a:spcAft>
                <a:spcPts val="500"/>
              </a:spcAft>
            </a:pPr>
            <a:r>
              <a:rPr lang="en-US" sz="1100" b="1">
                <a:solidFill>
                  <a:srgbClr val="007873"/>
                </a:solidFill>
                <a:latin typeface="Aptos" panose="020B0004020202020204" pitchFamily="34" charset="0"/>
              </a:rPr>
              <a:t>MICROSOFT FABRIC  /  FABRICIQ DEMO BUILD GUIDE</a:t>
            </a:r>
          </a:p>
        </p:txBody>
      </p:sp>
      <p:sp>
        <p:nvSpPr>
          <p:cNvPr id="4" name="TextBox 3">
            <a:extLst>
              <a:ext uri="{FF2B5EF4-FFF2-40B4-BE49-F238E27FC236}">
                <a16:creationId xmlns:a16="http://schemas.microsoft.com/office/drawing/2014/main" id="{20DA5D56-CCD9-C1B1-76B7-E445DB9C9D79}"/>
              </a:ext>
            </a:extLst>
          </p:cNvPr>
          <p:cNvSpPr txBox="1"/>
          <p:nvPr/>
        </p:nvSpPr>
        <p:spPr>
          <a:xfrm>
            <a:off x="609600" y="825500"/>
            <a:ext cx="10972800" cy="461665"/>
          </a:xfrm>
          <a:prstGeom prst="rect">
            <a:avLst/>
          </a:prstGeom>
          <a:noFill/>
        </p:spPr>
        <p:txBody>
          <a:bodyPr vert="horz" wrap="square" lIns="0" tIns="0" rIns="0" bIns="0" rtlCol="0">
            <a:spAutoFit/>
          </a:bodyPr>
          <a:lstStyle/>
          <a:p>
            <a:pPr>
              <a:spcAft>
                <a:spcPts val="500"/>
              </a:spcAft>
            </a:pPr>
            <a:r>
              <a:rPr lang="en-US" sz="3000" b="1">
                <a:solidFill>
                  <a:srgbClr val="282425"/>
                </a:solidFill>
                <a:latin typeface="Aptos" panose="020B0004020202020204" pitchFamily="34" charset="0"/>
              </a:rPr>
              <a:t>Ready for the Customer Session</a:t>
            </a:r>
          </a:p>
        </p:txBody>
      </p:sp>
      <p:sp>
        <p:nvSpPr>
          <p:cNvPr id="5" name="TextBox 4">
            <a:extLst>
              <a:ext uri="{FF2B5EF4-FFF2-40B4-BE49-F238E27FC236}">
                <a16:creationId xmlns:a16="http://schemas.microsoft.com/office/drawing/2014/main" id="{3156E2B5-957D-8419-5305-33D495460E24}"/>
              </a:ext>
            </a:extLst>
          </p:cNvPr>
          <p:cNvSpPr txBox="1"/>
          <p:nvPr/>
        </p:nvSpPr>
        <p:spPr>
          <a:xfrm>
            <a:off x="609600" y="1905000"/>
            <a:ext cx="10972800" cy="2795637"/>
          </a:xfrm>
          <a:prstGeom prst="rect">
            <a:avLst/>
          </a:prstGeom>
          <a:noFill/>
        </p:spPr>
        <p:txBody>
          <a:bodyPr vert="horz" wrap="square" lIns="0" tIns="0" rIns="0" bIns="0" rtlCol="0">
            <a:spAutoFit/>
          </a:bodyPr>
          <a:lstStyle/>
          <a:p>
            <a:pPr>
              <a:spcAft>
                <a:spcPts val="2000"/>
              </a:spcAft>
            </a:pPr>
            <a:r>
              <a:rPr lang="en-US" sz="2300">
                <a:solidFill>
                  <a:srgbClr val="282425"/>
                </a:solidFill>
                <a:latin typeface="Aptos" panose="020B0004020202020204" pitchFamily="34" charset="0"/>
              </a:rPr>
              <a:t>Inspect one node and one edge mapping.
Trace the transaction; explore the recorded alert.
Show merchant ranking and the saved queryset.
Rehearse counts, access permissions, and refresh timing.
Keep a clearly labeled screenshot or recording fallback.</a:t>
            </a:r>
          </a:p>
        </p:txBody>
      </p:sp>
      <p:sp>
        <p:nvSpPr>
          <p:cNvPr id="6" name="TextBox 5">
            <a:extLst>
              <a:ext uri="{FF2B5EF4-FFF2-40B4-BE49-F238E27FC236}">
                <a16:creationId xmlns:a16="http://schemas.microsoft.com/office/drawing/2014/main" id="{5C015043-D5E7-9B6E-E44F-34EA37A36AB2}"/>
              </a:ext>
            </a:extLst>
          </p:cNvPr>
          <p:cNvSpPr txBox="1"/>
          <p:nvPr/>
        </p:nvSpPr>
        <p:spPr>
          <a:xfrm>
            <a:off x="609600" y="6438900"/>
            <a:ext cx="10160000" cy="138499"/>
          </a:xfrm>
          <a:prstGeom prst="rect">
            <a:avLst/>
          </a:prstGeom>
          <a:noFill/>
        </p:spPr>
        <p:txBody>
          <a:bodyPr vert="horz" wrap="square" lIns="0" tIns="0" rIns="0" bIns="0" rtlCol="0">
            <a:spAutoFit/>
          </a:bodyPr>
          <a:lstStyle/>
          <a:p>
            <a:pPr>
              <a:spcAft>
                <a:spcPts val="500"/>
              </a:spcAft>
            </a:pPr>
            <a:r>
              <a:rPr lang="en-US" sz="900">
                <a:solidFill>
                  <a:srgbClr val="5E6170"/>
                </a:solidFill>
                <a:latin typeface="Aptos" panose="020B0004020202020204" pitchFamily="34" charset="0"/>
              </a:rPr>
              <a:t>Source: FabricIQ Graph Demo Build Guide | Metadata inspected; graph demo requires rehearsal</a:t>
            </a:r>
          </a:p>
        </p:txBody>
      </p:sp>
      <p:sp>
        <p:nvSpPr>
          <p:cNvPr id="7" name="TextBox 6">
            <a:extLst>
              <a:ext uri="{FF2B5EF4-FFF2-40B4-BE49-F238E27FC236}">
                <a16:creationId xmlns:a16="http://schemas.microsoft.com/office/drawing/2014/main" id="{BB6CE931-9C3F-4354-81A7-5C8A637712AA}"/>
              </a:ext>
            </a:extLst>
          </p:cNvPr>
          <p:cNvSpPr txBox="1"/>
          <p:nvPr/>
        </p:nvSpPr>
        <p:spPr>
          <a:xfrm>
            <a:off x="10858500" y="6413500"/>
            <a:ext cx="952500" cy="153888"/>
          </a:xfrm>
          <a:prstGeom prst="rect">
            <a:avLst/>
          </a:prstGeom>
          <a:noFill/>
        </p:spPr>
        <p:txBody>
          <a:bodyPr vert="horz" wrap="square" lIns="0" tIns="0" rIns="0" bIns="0" rtlCol="0">
            <a:spAutoFit/>
          </a:bodyPr>
          <a:lstStyle/>
          <a:p>
            <a:pPr>
              <a:spcAft>
                <a:spcPts val="500"/>
              </a:spcAft>
            </a:pPr>
            <a:r>
              <a:rPr lang="en-US" sz="1000" b="1">
                <a:solidFill>
                  <a:srgbClr val="007873"/>
                </a:solidFill>
                <a:latin typeface="Aptos" panose="020B0004020202020204" pitchFamily="34" charset="0"/>
              </a:rPr>
              <a:t>14 / 14</a:t>
            </a:r>
          </a:p>
        </p:txBody>
      </p:sp>
    </p:spTree>
    <p:extLst>
      <p:ext uri="{BB962C8B-B14F-4D97-AF65-F5344CB8AC3E}">
        <p14:creationId xmlns:p14="http://schemas.microsoft.com/office/powerpoint/2010/main" val="21182454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10904</Words>
  <Application>Microsoft Office PowerPoint</Application>
  <PresentationFormat>Custom</PresentationFormat>
  <Paragraphs>936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Sample author</dc:creator>
  <cp:lastModifiedBy>Sample author</cp:lastModifiedBy>
  <cp:revision>1</cp:revision>
  <dcterms:created xsi:type="dcterms:W3CDTF">2026-10-09T05:42:03Z</dcterms:created>
  <dcterms:modified xsi:type="dcterms:W3CDTF">2026-10-09T05:42:03Z</dcterms:modified>
</cp:coreProperties>
</file>