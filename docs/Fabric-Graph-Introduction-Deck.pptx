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microsoft.com/office/2020/02/relationships/classificationlabels" Target="docMetadata/LabelInfo.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19DD8B-7B8D-4E89-BC37-F85C0ACBBDFE}"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3C1E5-455C-493A-9843-B55F65C5881B}" type="slidenum">
              <a:rPr lang="en-US" smtClean="0"/>
              <a:t>‹#›</a:t>
            </a:fld>
            <a:endParaRPr lang="en-US"/>
          </a:p>
        </p:txBody>
      </p:sp>
    </p:spTree>
    <p:extLst>
      <p:ext uri="{BB962C8B-B14F-4D97-AF65-F5344CB8AC3E}">
        <p14:creationId xmlns:p14="http://schemas.microsoft.com/office/powerpoint/2010/main" val="3910123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1 - What Is Graph in Microsoft Fabric?</a:t>
            </a:r>
          </a:p>
          <a:p>
            <a:endParaRPr lang="en-US"/>
          </a:p>
          <a:p>
            <a:r>
              <a:rPr lang="en-US"/>
              <a:t>Speaker notes: A graph here is not a bar chart or line chart. It is a network of entities and their relationships. Fabric Graph helps answer questions about how things are connected.</a:t>
            </a:r>
          </a:p>
          <a:p>
            <a:endParaRPr lang="en-US"/>
          </a:p>
          <a:p>
            <a:r>
              <a:rPr lang="en-US"/>
              <a:t>Suggested visual: Three labeled circles: Customer, Transaction, and Merchant, connected by arrows.</a:t>
            </a:r>
          </a:p>
          <a:p>
            <a:endParaRPr lang="en-US"/>
          </a:p>
          <a:p>
            <a:r>
              <a:rPr lang="en-US"/>
              <a:t>Sources: [Graph overview](https://learn.microsoft.com/fabric/graph/overview), [How Graph works](https://learn.microsoft.com/fabric/graph/how-graph-works).</a:t>
            </a:r>
          </a:p>
          <a:p>
            <a:endParaRPr lang="en-US"/>
          </a:p>
          <a:p>
            <a:r>
              <a:rPr lang="en-US"/>
              <a:t>---</a:t>
            </a:r>
          </a:p>
          <a:p>
            <a:endParaRPr lang="en-US"/>
          </a:p>
          <a:p>
            <a:r>
              <a:rPr lang="en-US"/>
              <a:t>Diagrams are editable conceptual illustrations, not product screenshots or live query results. This is an introduction, not a deployment or demonstration runbook.</a:t>
            </a:r>
          </a:p>
        </p:txBody>
      </p:sp>
      <p:sp>
        <p:nvSpPr>
          <p:cNvPr id="4" name="Slide Number Placeholder 3"/>
          <p:cNvSpPr>
            <a:spLocks noGrp="1"/>
          </p:cNvSpPr>
          <p:nvPr>
            <p:ph type="sldNum" sz="quarter" idx="5"/>
          </p:nvPr>
        </p:nvSpPr>
        <p:spPr/>
        <p:txBody>
          <a:bodyPr/>
          <a:lstStyle/>
          <a:p>
            <a:fld id="{F9A3C1E5-455C-493A-9843-B55F65C5881B}" type="slidenum">
              <a:rPr lang="en-US" smtClean="0"/>
              <a:t>1</a:t>
            </a:fld>
            <a:endParaRPr lang="en-US"/>
          </a:p>
        </p:txBody>
      </p:sp>
    </p:spTree>
    <p:extLst>
      <p:ext uri="{BB962C8B-B14F-4D97-AF65-F5344CB8AC3E}">
        <p14:creationId xmlns:p14="http://schemas.microsoft.com/office/powerpoint/2010/main" val="277397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2 - Why Use a Graph?</a:t>
            </a:r>
          </a:p>
          <a:p>
            <a:endParaRPr lang="en-US"/>
          </a:p>
          <a:p>
            <a:r>
              <a:rPr lang="en-US"/>
              <a:t>Speaker notes: SQL can answer relationship questions too. Graph makes paths and connected patterns natural to express and visualize. It is useful when relationships drive the question, not a requirement for every dataset or a promise of faster performance for every query.</a:t>
            </a:r>
          </a:p>
          <a:p>
            <a:endParaRPr lang="en-US"/>
          </a:p>
          <a:p>
            <a:r>
              <a:rPr lang="en-US"/>
              <a:t>Suggested visual: A single customer highlighted within a small network of accounts, transactions, and merchants.</a:t>
            </a:r>
          </a:p>
          <a:p>
            <a:endParaRPr lang="en-US"/>
          </a:p>
          <a:p>
            <a:r>
              <a:rPr lang="en-US"/>
              <a:t>Sources: [What is a graph database?](https://learn.microsoft.com/fabric/graph/graph-database).</a:t>
            </a:r>
          </a:p>
          <a:p>
            <a:endParaRPr lang="en-US"/>
          </a:p>
          <a:p>
            <a:r>
              <a:rPr lang="en-US"/>
              <a:t>---</a:t>
            </a:r>
          </a:p>
          <a:p>
            <a:endParaRPr lang="en-US"/>
          </a:p>
          <a:p>
            <a:r>
              <a:rPr lang="en-US"/>
              <a:t>Diagrams are editable conceptual illustrations, not product screenshots or live query results. This is an introduction, not a deployment or demonstration runbook.</a:t>
            </a:r>
          </a:p>
        </p:txBody>
      </p:sp>
      <p:sp>
        <p:nvSpPr>
          <p:cNvPr id="4" name="Slide Number Placeholder 3"/>
          <p:cNvSpPr>
            <a:spLocks noGrp="1"/>
          </p:cNvSpPr>
          <p:nvPr>
            <p:ph type="sldNum" sz="quarter" idx="5"/>
          </p:nvPr>
        </p:nvSpPr>
        <p:spPr/>
        <p:txBody>
          <a:bodyPr/>
          <a:lstStyle/>
          <a:p>
            <a:fld id="{F9A3C1E5-455C-493A-9843-B55F65C5881B}" type="slidenum">
              <a:rPr lang="en-US" smtClean="0"/>
              <a:t>2</a:t>
            </a:fld>
            <a:endParaRPr lang="en-US"/>
          </a:p>
        </p:txBody>
      </p:sp>
    </p:spTree>
    <p:extLst>
      <p:ext uri="{BB962C8B-B14F-4D97-AF65-F5344CB8AC3E}">
        <p14:creationId xmlns:p14="http://schemas.microsoft.com/office/powerpoint/2010/main" val="3398106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3 - Basic Concepts</a:t>
            </a:r>
          </a:p>
          <a:p>
            <a:endParaRPr lang="en-US"/>
          </a:p>
          <a:p>
            <a:r>
              <a:rPr lang="en-US"/>
              <a:t>Speaker notes: Fabric Graph uses a labeled property graph model. Both nodes and edges can carry properties. For example, a customer can have a name, while a relationship can have a date. Keys ensure connections point to the correct entities.</a:t>
            </a:r>
          </a:p>
          <a:p>
            <a:endParaRPr lang="en-US"/>
          </a:p>
          <a:p>
            <a:r>
              <a:rPr lang="en-US"/>
              <a:t>Suggested visual: A Customer node with an ID and name, an arrow labeled makes, and a Transaction node with an amount.</a:t>
            </a:r>
          </a:p>
          <a:p>
            <a:endParaRPr lang="en-US"/>
          </a:p>
          <a:p>
            <a:r>
              <a:rPr lang="en-US"/>
              <a:t>Sources: [Labeled property graphs](https://learn.microsoft.com/fabric/graph/graph-data-models), [Graph quickstart](https://learn.microsoft.com/fabric/graph/quickstart).</a:t>
            </a:r>
          </a:p>
          <a:p>
            <a:endParaRPr lang="en-US"/>
          </a:p>
          <a:p>
            <a:r>
              <a:rPr lang="en-US"/>
              <a:t>---</a:t>
            </a:r>
          </a:p>
          <a:p>
            <a:endParaRPr lang="en-US"/>
          </a:p>
          <a:p>
            <a:r>
              <a:rPr lang="en-US"/>
              <a:t>Diagrams are editable conceptual illustrations, not product screenshots or live query results. This is an introduction, not a deployment or demonstration runbook.</a:t>
            </a:r>
          </a:p>
        </p:txBody>
      </p:sp>
      <p:sp>
        <p:nvSpPr>
          <p:cNvPr id="4" name="Slide Number Placeholder 3"/>
          <p:cNvSpPr>
            <a:spLocks noGrp="1"/>
          </p:cNvSpPr>
          <p:nvPr>
            <p:ph type="sldNum" sz="quarter" idx="5"/>
          </p:nvPr>
        </p:nvSpPr>
        <p:spPr/>
        <p:txBody>
          <a:bodyPr/>
          <a:lstStyle/>
          <a:p>
            <a:fld id="{F9A3C1E5-455C-493A-9843-B55F65C5881B}" type="slidenum">
              <a:rPr lang="en-US" smtClean="0"/>
              <a:t>3</a:t>
            </a:fld>
            <a:endParaRPr lang="en-US"/>
          </a:p>
        </p:txBody>
      </p:sp>
    </p:spTree>
    <p:extLst>
      <p:ext uri="{BB962C8B-B14F-4D97-AF65-F5344CB8AC3E}">
        <p14:creationId xmlns:p14="http://schemas.microsoft.com/office/powerpoint/2010/main" val="570106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4 - A Simple Example</a:t>
            </a:r>
          </a:p>
          <a:p>
            <a:endParaRPr lang="en-US"/>
          </a:p>
          <a:p>
            <a:r>
              <a:rPr lang="en-US"/>
              <a:t>Speaker notes: This is an illustrative model, not a live result. The customer-to-merchant path has two hops. Shared connections can be useful for analysis, but sharing a merchant does not, by itself, imply suspicious activity.</a:t>
            </a:r>
          </a:p>
          <a:p>
            <a:endParaRPr lang="en-US"/>
          </a:p>
          <a:p>
            <a:r>
              <a:rPr lang="en-US"/>
              <a:t>Suggested visual: Two customers, each connected through a separate transaction to the same merchant. Show the merchant as the shared connection.</a:t>
            </a:r>
          </a:p>
          <a:p>
            <a:endParaRPr lang="en-US"/>
          </a:p>
          <a:p>
            <a:r>
              <a:rPr lang="en-US"/>
              <a:t>---</a:t>
            </a:r>
          </a:p>
          <a:p>
            <a:endParaRPr lang="en-US"/>
          </a:p>
          <a:p>
            <a:r>
              <a:rPr lang="en-US"/>
              <a:t>Diagrams are editable conceptual illustrations, not product screenshots or live query results. This is an introduction, not a deployment or demonstration runbook.</a:t>
            </a:r>
          </a:p>
        </p:txBody>
      </p:sp>
      <p:sp>
        <p:nvSpPr>
          <p:cNvPr id="4" name="Slide Number Placeholder 3"/>
          <p:cNvSpPr>
            <a:spLocks noGrp="1"/>
          </p:cNvSpPr>
          <p:nvPr>
            <p:ph type="sldNum" sz="quarter" idx="5"/>
          </p:nvPr>
        </p:nvSpPr>
        <p:spPr/>
        <p:txBody>
          <a:bodyPr/>
          <a:lstStyle/>
          <a:p>
            <a:fld id="{F9A3C1E5-455C-493A-9843-B55F65C5881B}" type="slidenum">
              <a:rPr lang="en-US" smtClean="0"/>
              <a:t>4</a:t>
            </a:fld>
            <a:endParaRPr lang="en-US"/>
          </a:p>
        </p:txBody>
      </p:sp>
    </p:spTree>
    <p:extLst>
      <p:ext uri="{BB962C8B-B14F-4D97-AF65-F5344CB8AC3E}">
        <p14:creationId xmlns:p14="http://schemas.microsoft.com/office/powerpoint/2010/main" val="3035809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5 - How Fabric Graph Works</a:t>
            </a:r>
          </a:p>
          <a:p>
            <a:endParaRPr lang="en-US"/>
          </a:p>
          <a:p>
            <a:r>
              <a:rPr lang="en-US"/>
              <a:t>Speaker notes: The queryable graph is a read-optimized representation built from source data. It does not instantly reflect every source update. Saving structural changes rebuilds the graph; refresh keeps loaded data current. Preparing reliable keys and relationships remains important.</a:t>
            </a:r>
          </a:p>
          <a:p>
            <a:endParaRPr lang="en-US"/>
          </a:p>
          <a:p>
            <a:r>
              <a:rPr lang="en-US"/>
              <a:t>Suggested visual: A four-step horizontal flow with source tables, a network model, a refresh symbol, and connected results.</a:t>
            </a:r>
          </a:p>
          <a:p>
            <a:endParaRPr lang="en-US"/>
          </a:p>
          <a:p>
            <a:r>
              <a:rPr lang="en-US"/>
              <a:t>Sources: [How Graph works](https://learn.microsoft.com/fabric/graph/how-graph-works), [Manage and refresh data](https://learn.microsoft.com/fabric/graph/manage-data).</a:t>
            </a:r>
          </a:p>
          <a:p>
            <a:endParaRPr lang="en-US"/>
          </a:p>
          <a:p>
            <a:r>
              <a:rPr lang="en-US"/>
              <a:t>---</a:t>
            </a:r>
          </a:p>
          <a:p>
            <a:endParaRPr lang="en-US"/>
          </a:p>
          <a:p>
            <a:r>
              <a:rPr lang="en-US"/>
              <a:t>Diagrams are editable conceptual illustrations, not product screenshots or live query results. This is an introduction, not a deployment or demonstration runbook.</a:t>
            </a:r>
          </a:p>
        </p:txBody>
      </p:sp>
      <p:sp>
        <p:nvSpPr>
          <p:cNvPr id="4" name="Slide Number Placeholder 3"/>
          <p:cNvSpPr>
            <a:spLocks noGrp="1"/>
          </p:cNvSpPr>
          <p:nvPr>
            <p:ph type="sldNum" sz="quarter" idx="5"/>
          </p:nvPr>
        </p:nvSpPr>
        <p:spPr/>
        <p:txBody>
          <a:bodyPr/>
          <a:lstStyle/>
          <a:p>
            <a:fld id="{F9A3C1E5-455C-493A-9843-B55F65C5881B}" type="slidenum">
              <a:rPr lang="en-US" smtClean="0"/>
              <a:t>5</a:t>
            </a:fld>
            <a:endParaRPr lang="en-US"/>
          </a:p>
        </p:txBody>
      </p:sp>
    </p:spTree>
    <p:extLst>
      <p:ext uri="{BB962C8B-B14F-4D97-AF65-F5344CB8AC3E}">
        <p14:creationId xmlns:p14="http://schemas.microsoft.com/office/powerpoint/2010/main" val="1851555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6 - How Do Users Explore a Graph?</a:t>
            </a:r>
          </a:p>
          <a:p>
            <a:endParaRPr lang="en-US"/>
          </a:p>
          <a:p>
            <a:r>
              <a:rPr lang="en-US"/>
              <a:t>Speaker notes: GQL is an ISO-standardized language for graph queries; Fabric supports a documented subset. Natural-language access through Data Agent is optional and in preview. Review generated queries and validate answers, particularly for business-critical questions.</a:t>
            </a:r>
          </a:p>
          <a:p>
            <a:endParaRPr lang="en-US"/>
          </a:p>
          <a:p>
            <a:r>
              <a:rPr lang="en-US"/>
              <a:t>Suggested visual: Three simple labels feeding the same network: Visual exploration, GQL, and Natural language (preview).</a:t>
            </a:r>
          </a:p>
          <a:p>
            <a:endParaRPr lang="en-US"/>
          </a:p>
          <a:p>
            <a:r>
              <a:rPr lang="en-US"/>
              <a:t>Sources: [How Graph works](https://learn.microsoft.com/fabric/graph/how-graph-works), [Query builder tutorial](https://learn.microsoft.com/fabric/graph/tutorial-query-builder), [Data Agent graph sources](https://learn.microsoft.com/fabric/data-science/data-agent-add-datasources?tabs=gql).</a:t>
            </a:r>
          </a:p>
          <a:p>
            <a:endParaRPr lang="en-US"/>
          </a:p>
          <a:p>
            <a:r>
              <a:rPr lang="en-US"/>
              <a:t>---</a:t>
            </a:r>
          </a:p>
          <a:p>
            <a:endParaRPr lang="en-US"/>
          </a:p>
          <a:p>
            <a:r>
              <a:rPr lang="en-US"/>
              <a:t>Diagrams are editable conceptual illustrations, not product screenshots or live query results. This is an introduction, not a deployment or demonstration runbook.</a:t>
            </a:r>
          </a:p>
        </p:txBody>
      </p:sp>
      <p:sp>
        <p:nvSpPr>
          <p:cNvPr id="4" name="Slide Number Placeholder 3"/>
          <p:cNvSpPr>
            <a:spLocks noGrp="1"/>
          </p:cNvSpPr>
          <p:nvPr>
            <p:ph type="sldNum" sz="quarter" idx="5"/>
          </p:nvPr>
        </p:nvSpPr>
        <p:spPr/>
        <p:txBody>
          <a:bodyPr/>
          <a:lstStyle/>
          <a:p>
            <a:fld id="{F9A3C1E5-455C-493A-9843-B55F65C5881B}" type="slidenum">
              <a:rPr lang="en-US" smtClean="0"/>
              <a:t>6</a:t>
            </a:fld>
            <a:endParaRPr lang="en-US"/>
          </a:p>
        </p:txBody>
      </p:sp>
    </p:spTree>
    <p:extLst>
      <p:ext uri="{BB962C8B-B14F-4D97-AF65-F5344CB8AC3E}">
        <p14:creationId xmlns:p14="http://schemas.microsoft.com/office/powerpoint/2010/main" val="213079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7 - Where Can Graphs Be Useful?</a:t>
            </a:r>
          </a:p>
          <a:p>
            <a:endParaRPr lang="en-US"/>
          </a:p>
          <a:p>
            <a:r>
              <a:rPr lang="en-US"/>
              <a:t>Speaker notes: These are potential applications, not prebuilt solutions or guaranteed outcomes. They require suitable source data and modeling. Graph patterns can supply evidence for fraud review, recommendation candidates, or dependency analysis; application logic and evaluation are still needed.</a:t>
            </a:r>
          </a:p>
          <a:p>
            <a:endParaRPr lang="en-US"/>
          </a:p>
          <a:p>
            <a:r>
              <a:rPr lang="en-US"/>
              <a:t>Suggested visual: Use the table as the slide; avoid adding a separate diagram that makes it crowded.</a:t>
            </a:r>
          </a:p>
          <a:p>
            <a:endParaRPr lang="en-US"/>
          </a:p>
          <a:p>
            <a:r>
              <a:rPr lang="en-US"/>
              <a:t>Sources: [Common uses for graph databases](https://learn.microsoft.com/fabric/graph/graph-database#common-uses-for-graph-databases), [Graph overview](https://learn.microsoft.com/fabric/graph/overview).</a:t>
            </a:r>
          </a:p>
          <a:p>
            <a:endParaRPr lang="en-US"/>
          </a:p>
          <a:p>
            <a:r>
              <a:rPr lang="en-US"/>
              <a:t>---</a:t>
            </a:r>
          </a:p>
          <a:p>
            <a:endParaRPr lang="en-US"/>
          </a:p>
          <a:p>
            <a:r>
              <a:rPr lang="en-US"/>
              <a:t>Diagrams are editable conceptual illustrations, not product screenshots or live query results. This is an introduction, not a deployment or demonstration runbook.</a:t>
            </a:r>
          </a:p>
        </p:txBody>
      </p:sp>
      <p:sp>
        <p:nvSpPr>
          <p:cNvPr id="4" name="Slide Number Placeholder 3"/>
          <p:cNvSpPr>
            <a:spLocks noGrp="1"/>
          </p:cNvSpPr>
          <p:nvPr>
            <p:ph type="sldNum" sz="quarter" idx="5"/>
          </p:nvPr>
        </p:nvSpPr>
        <p:spPr/>
        <p:txBody>
          <a:bodyPr/>
          <a:lstStyle/>
          <a:p>
            <a:fld id="{F9A3C1E5-455C-493A-9843-B55F65C5881B}" type="slidenum">
              <a:rPr lang="en-US" smtClean="0"/>
              <a:t>7</a:t>
            </a:fld>
            <a:endParaRPr lang="en-US"/>
          </a:p>
        </p:txBody>
      </p:sp>
    </p:spTree>
    <p:extLst>
      <p:ext uri="{BB962C8B-B14F-4D97-AF65-F5344CB8AC3E}">
        <p14:creationId xmlns:p14="http://schemas.microsoft.com/office/powerpoint/2010/main" val="1767914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8 - Example Use Case: Banking and Payments</a:t>
            </a:r>
          </a:p>
          <a:p>
            <a:endParaRPr lang="en-US"/>
          </a:p>
          <a:p>
            <a:r>
              <a:rPr lang="en-US"/>
              <a:t>Speaker notes: This is an illustrative banking use case, not a claim about a customer's systems. A consistent customer identity must connect the source domains. Connected records identify a review cohort, not proof of fraud or causation; status and time windows must be defined.</a:t>
            </a:r>
          </a:p>
          <a:p>
            <a:endParaRPr lang="en-US"/>
          </a:p>
          <a:p>
            <a:r>
              <a:rPr lang="en-US"/>
              <a:t>Suggested visual: Customer connected to a payments branch (Transaction -&gt; Merchant) and a lending branch (Loan -&gt; Delinquency record).</a:t>
            </a:r>
          </a:p>
          <a:p>
            <a:endParaRPr lang="en-US"/>
          </a:p>
          <a:p>
            <a:r>
              <a:rPr lang="en-US"/>
              <a:t>Sources: [Fraud and risk network use cases](https://learn.microsoft.com/fabric/graph/graph-database#common-uses-for-graph-databases).</a:t>
            </a:r>
          </a:p>
          <a:p>
            <a:endParaRPr lang="en-US"/>
          </a:p>
          <a:p>
            <a:r>
              <a:rPr lang="en-US"/>
              <a:t>---</a:t>
            </a:r>
          </a:p>
          <a:p>
            <a:endParaRPr lang="en-US"/>
          </a:p>
          <a:p>
            <a:r>
              <a:rPr lang="en-US"/>
              <a:t>Diagrams are editable conceptual illustrations, not product screenshots or live query results. This is an introduction, not a deployment or demonstration runbook.</a:t>
            </a:r>
          </a:p>
        </p:txBody>
      </p:sp>
      <p:sp>
        <p:nvSpPr>
          <p:cNvPr id="4" name="Slide Number Placeholder 3"/>
          <p:cNvSpPr>
            <a:spLocks noGrp="1"/>
          </p:cNvSpPr>
          <p:nvPr>
            <p:ph type="sldNum" sz="quarter" idx="5"/>
          </p:nvPr>
        </p:nvSpPr>
        <p:spPr/>
        <p:txBody>
          <a:bodyPr/>
          <a:lstStyle/>
          <a:p>
            <a:fld id="{F9A3C1E5-455C-493A-9843-B55F65C5881B}" type="slidenum">
              <a:rPr lang="en-US" smtClean="0"/>
              <a:t>8</a:t>
            </a:fld>
            <a:endParaRPr lang="en-US"/>
          </a:p>
        </p:txBody>
      </p:sp>
    </p:spTree>
    <p:extLst>
      <p:ext uri="{BB962C8B-B14F-4D97-AF65-F5344CB8AC3E}">
        <p14:creationId xmlns:p14="http://schemas.microsoft.com/office/powerpoint/2010/main" val="3872959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9 - When Is Fabric Graph a Good Fit?</a:t>
            </a:r>
          </a:p>
          <a:p>
            <a:endParaRPr lang="en-US"/>
          </a:p>
          <a:p>
            <a:r>
              <a:rPr lang="en-US"/>
              <a:t>Speaker notes: Fabric Graph complements other Fabric workloads. It does not require an external graph database for this workflow, but graph operations and cache storage still incur cost. Check current prerequisites, region availability, permissions, refresh needs, and limitations. Direct Power BI-to-Graph visualization is not currently supported; do not imply automatic reuse of semantic-model security.</a:t>
            </a:r>
          </a:p>
          <a:p>
            <a:endParaRPr lang="en-US"/>
          </a:p>
          <a:p>
            <a:r>
              <a:rPr lang="en-US"/>
              <a:t>Suggested visual: Two columns: "Connections and paths: Graph" and "Totals and reporting: SQL / BI".</a:t>
            </a:r>
          </a:p>
          <a:p>
            <a:endParaRPr lang="en-US"/>
          </a:p>
          <a:p>
            <a:r>
              <a:rPr lang="en-US"/>
              <a:t>Sources: [When to consider a graph database](https://learn.microsoft.com/fabric/graph/graph-database#when-to-consider-a-graph-database), [Graph overview](https://learn.microsoft.com/fabric/graph/overview), [Current limitations](https://learn.microsoft.com/fabric/graph/limitations).</a:t>
            </a:r>
          </a:p>
          <a:p>
            <a:endParaRPr lang="en-US"/>
          </a:p>
          <a:p>
            <a:r>
              <a:rPr lang="en-US"/>
              <a:t>---</a:t>
            </a:r>
          </a:p>
          <a:p>
            <a:endParaRPr lang="en-US"/>
          </a:p>
          <a:p>
            <a:r>
              <a:rPr lang="en-US"/>
              <a:t>Diagrams are editable conceptual illustrations, not product screenshots or live query results. This is an introduction, not a deployment or demonstration runbook.</a:t>
            </a:r>
          </a:p>
        </p:txBody>
      </p:sp>
      <p:sp>
        <p:nvSpPr>
          <p:cNvPr id="4" name="Slide Number Placeholder 3"/>
          <p:cNvSpPr>
            <a:spLocks noGrp="1"/>
          </p:cNvSpPr>
          <p:nvPr>
            <p:ph type="sldNum" sz="quarter" idx="5"/>
          </p:nvPr>
        </p:nvSpPr>
        <p:spPr/>
        <p:txBody>
          <a:bodyPr/>
          <a:lstStyle/>
          <a:p>
            <a:fld id="{F9A3C1E5-455C-493A-9843-B55F65C5881B}" type="slidenum">
              <a:rPr lang="en-US" smtClean="0"/>
              <a:t>9</a:t>
            </a:fld>
            <a:endParaRPr lang="en-US"/>
          </a:p>
        </p:txBody>
      </p:sp>
    </p:spTree>
    <p:extLst>
      <p:ext uri="{BB962C8B-B14F-4D97-AF65-F5344CB8AC3E}">
        <p14:creationId xmlns:p14="http://schemas.microsoft.com/office/powerpoint/2010/main" val="1646487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10 - Key Takeaways</a:t>
            </a:r>
          </a:p>
          <a:p>
            <a:endParaRPr lang="en-US"/>
          </a:p>
          <a:p>
            <a:r>
              <a:rPr lang="en-US"/>
              <a:t>Speaker notes: Begin with a small, well-understood dataset and compare results with an existing trusted calculation. A graph is valuable when it makes a useful relationship question easier to answer and explain.</a:t>
            </a:r>
          </a:p>
          <a:p>
            <a:endParaRPr lang="en-US"/>
          </a:p>
          <a:p>
            <a:r>
              <a:rPr lang="en-US"/>
              <a:t>Suggested visual: A small connected network beside the four takeaways.</a:t>
            </a:r>
          </a:p>
          <a:p>
            <a:endParaRPr lang="en-US"/>
          </a:p>
          <a:p>
            <a:r>
              <a:rPr lang="en-US"/>
              <a:t>---</a:t>
            </a:r>
          </a:p>
          <a:p>
            <a:endParaRPr lang="en-US"/>
          </a:p>
          <a:p>
            <a:r>
              <a:rPr lang="en-US"/>
              <a:t>Diagrams are editable conceptual illustrations, not product screenshots or live query results. This is an introduction, not a deployment or demonstration runbook.</a:t>
            </a:r>
          </a:p>
        </p:txBody>
      </p:sp>
      <p:sp>
        <p:nvSpPr>
          <p:cNvPr id="4" name="Slide Number Placeholder 3"/>
          <p:cNvSpPr>
            <a:spLocks noGrp="1"/>
          </p:cNvSpPr>
          <p:nvPr>
            <p:ph type="sldNum" sz="quarter" idx="5"/>
          </p:nvPr>
        </p:nvSpPr>
        <p:spPr/>
        <p:txBody>
          <a:bodyPr/>
          <a:lstStyle/>
          <a:p>
            <a:fld id="{F9A3C1E5-455C-493A-9843-B55F65C5881B}" type="slidenum">
              <a:rPr lang="en-US" smtClean="0"/>
              <a:t>10</a:t>
            </a:fld>
            <a:endParaRPr lang="en-US"/>
          </a:p>
        </p:txBody>
      </p:sp>
    </p:spTree>
    <p:extLst>
      <p:ext uri="{BB962C8B-B14F-4D97-AF65-F5344CB8AC3E}">
        <p14:creationId xmlns:p14="http://schemas.microsoft.com/office/powerpoint/2010/main" val="366872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44714-07B0-76B0-11CC-9723526262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45E7EC4-830D-EE8D-7DB5-7A7E40351D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DCEBEB-99A9-4049-048E-7B23146BF050}"/>
              </a:ext>
            </a:extLst>
          </p:cNvPr>
          <p:cNvSpPr>
            <a:spLocks noGrp="1"/>
          </p:cNvSpPr>
          <p:nvPr>
            <p:ph type="dt" sz="half" idx="10"/>
          </p:nvPr>
        </p:nvSpPr>
        <p:spPr/>
        <p:txBody>
          <a:bodyPr/>
          <a:lstStyle/>
          <a:p>
            <a:fld id="{656CA0C7-E7A0-4577-A1C5-67CE3870EDCE}" type="datetimeFigureOut">
              <a:rPr lang="en-US" smtClean="0"/>
              <a:t>10/8/2026</a:t>
            </a:fld>
            <a:endParaRPr lang="en-US"/>
          </a:p>
        </p:txBody>
      </p:sp>
      <p:sp>
        <p:nvSpPr>
          <p:cNvPr id="5" name="Footer Placeholder 4">
            <a:extLst>
              <a:ext uri="{FF2B5EF4-FFF2-40B4-BE49-F238E27FC236}">
                <a16:creationId xmlns:a16="http://schemas.microsoft.com/office/drawing/2014/main" id="{3B75F479-78B0-A2E8-4667-674331DC1D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D56C0B-C842-6F7A-1D48-1F71688A3522}"/>
              </a:ext>
            </a:extLst>
          </p:cNvPr>
          <p:cNvSpPr>
            <a:spLocks noGrp="1"/>
          </p:cNvSpPr>
          <p:nvPr>
            <p:ph type="sldNum" sz="quarter" idx="12"/>
          </p:nvPr>
        </p:nvSpPr>
        <p:spPr/>
        <p:txBody>
          <a:bodyPr/>
          <a:lstStyle/>
          <a:p>
            <a:fld id="{AC275550-39EA-47F8-8E47-4E18C3043A5A}" type="slidenum">
              <a:rPr lang="en-US" smtClean="0"/>
              <a:t>‹#›</a:t>
            </a:fld>
            <a:endParaRPr lang="en-US"/>
          </a:p>
        </p:txBody>
      </p:sp>
    </p:spTree>
    <p:extLst>
      <p:ext uri="{BB962C8B-B14F-4D97-AF65-F5344CB8AC3E}">
        <p14:creationId xmlns:p14="http://schemas.microsoft.com/office/powerpoint/2010/main" val="2278408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F66C4-6A2B-1A8E-03D8-71FDBDBBBA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54379F-51E5-3607-EF3E-EF94B87F4C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753EFB-6367-5D05-D47C-34452CD5FAC3}"/>
              </a:ext>
            </a:extLst>
          </p:cNvPr>
          <p:cNvSpPr>
            <a:spLocks noGrp="1"/>
          </p:cNvSpPr>
          <p:nvPr>
            <p:ph type="dt" sz="half" idx="10"/>
          </p:nvPr>
        </p:nvSpPr>
        <p:spPr/>
        <p:txBody>
          <a:bodyPr/>
          <a:lstStyle/>
          <a:p>
            <a:fld id="{656CA0C7-E7A0-4577-A1C5-67CE3870EDCE}" type="datetimeFigureOut">
              <a:rPr lang="en-US" smtClean="0"/>
              <a:t>10/8/2026</a:t>
            </a:fld>
            <a:endParaRPr lang="en-US"/>
          </a:p>
        </p:txBody>
      </p:sp>
      <p:sp>
        <p:nvSpPr>
          <p:cNvPr id="5" name="Footer Placeholder 4">
            <a:extLst>
              <a:ext uri="{FF2B5EF4-FFF2-40B4-BE49-F238E27FC236}">
                <a16:creationId xmlns:a16="http://schemas.microsoft.com/office/drawing/2014/main" id="{EE5C2ADA-787E-C3A8-DC64-39EE3754EC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4B0D2E-9C9F-9917-B486-ACBCCAF56C46}"/>
              </a:ext>
            </a:extLst>
          </p:cNvPr>
          <p:cNvSpPr>
            <a:spLocks noGrp="1"/>
          </p:cNvSpPr>
          <p:nvPr>
            <p:ph type="sldNum" sz="quarter" idx="12"/>
          </p:nvPr>
        </p:nvSpPr>
        <p:spPr/>
        <p:txBody>
          <a:bodyPr/>
          <a:lstStyle/>
          <a:p>
            <a:fld id="{AC275550-39EA-47F8-8E47-4E18C3043A5A}" type="slidenum">
              <a:rPr lang="en-US" smtClean="0"/>
              <a:t>‹#›</a:t>
            </a:fld>
            <a:endParaRPr lang="en-US"/>
          </a:p>
        </p:txBody>
      </p:sp>
    </p:spTree>
    <p:extLst>
      <p:ext uri="{BB962C8B-B14F-4D97-AF65-F5344CB8AC3E}">
        <p14:creationId xmlns:p14="http://schemas.microsoft.com/office/powerpoint/2010/main" val="3875532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4B4F0-AD04-AE62-6279-F47F815F34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30E499-E1CB-3352-2AEF-97AF737B7F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F345AA-83D6-5492-A6F2-C6D7E1BFBAFF}"/>
              </a:ext>
            </a:extLst>
          </p:cNvPr>
          <p:cNvSpPr>
            <a:spLocks noGrp="1"/>
          </p:cNvSpPr>
          <p:nvPr>
            <p:ph type="dt" sz="half" idx="10"/>
          </p:nvPr>
        </p:nvSpPr>
        <p:spPr/>
        <p:txBody>
          <a:bodyPr/>
          <a:lstStyle/>
          <a:p>
            <a:fld id="{656CA0C7-E7A0-4577-A1C5-67CE3870EDCE}" type="datetimeFigureOut">
              <a:rPr lang="en-US" smtClean="0"/>
              <a:t>10/8/2026</a:t>
            </a:fld>
            <a:endParaRPr lang="en-US"/>
          </a:p>
        </p:txBody>
      </p:sp>
      <p:sp>
        <p:nvSpPr>
          <p:cNvPr id="5" name="Footer Placeholder 4">
            <a:extLst>
              <a:ext uri="{FF2B5EF4-FFF2-40B4-BE49-F238E27FC236}">
                <a16:creationId xmlns:a16="http://schemas.microsoft.com/office/drawing/2014/main" id="{262F8FC1-8FCF-9344-F297-BFE473EC97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F93BFA-1159-E8AC-B0A2-F3BBF8E0E251}"/>
              </a:ext>
            </a:extLst>
          </p:cNvPr>
          <p:cNvSpPr>
            <a:spLocks noGrp="1"/>
          </p:cNvSpPr>
          <p:nvPr>
            <p:ph type="sldNum" sz="quarter" idx="12"/>
          </p:nvPr>
        </p:nvSpPr>
        <p:spPr/>
        <p:txBody>
          <a:bodyPr/>
          <a:lstStyle/>
          <a:p>
            <a:fld id="{AC275550-39EA-47F8-8E47-4E18C3043A5A}" type="slidenum">
              <a:rPr lang="en-US" smtClean="0"/>
              <a:t>‹#›</a:t>
            </a:fld>
            <a:endParaRPr lang="en-US"/>
          </a:p>
        </p:txBody>
      </p:sp>
    </p:spTree>
    <p:extLst>
      <p:ext uri="{BB962C8B-B14F-4D97-AF65-F5344CB8AC3E}">
        <p14:creationId xmlns:p14="http://schemas.microsoft.com/office/powerpoint/2010/main" val="3723507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642C1-ED81-B9D8-F10A-0C90A22960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8D13EB-1835-82CA-F618-52D74C91CD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BF525D-6071-172A-6E8F-0453C2EAC1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96373F-120D-B415-BD65-E510FA8C0373}"/>
              </a:ext>
            </a:extLst>
          </p:cNvPr>
          <p:cNvSpPr>
            <a:spLocks noGrp="1"/>
          </p:cNvSpPr>
          <p:nvPr>
            <p:ph type="dt" sz="half" idx="10"/>
          </p:nvPr>
        </p:nvSpPr>
        <p:spPr/>
        <p:txBody>
          <a:bodyPr/>
          <a:lstStyle/>
          <a:p>
            <a:fld id="{656CA0C7-E7A0-4577-A1C5-67CE3870EDCE}" type="datetimeFigureOut">
              <a:rPr lang="en-US" smtClean="0"/>
              <a:t>10/8/2026</a:t>
            </a:fld>
            <a:endParaRPr lang="en-US"/>
          </a:p>
        </p:txBody>
      </p:sp>
      <p:sp>
        <p:nvSpPr>
          <p:cNvPr id="6" name="Footer Placeholder 5">
            <a:extLst>
              <a:ext uri="{FF2B5EF4-FFF2-40B4-BE49-F238E27FC236}">
                <a16:creationId xmlns:a16="http://schemas.microsoft.com/office/drawing/2014/main" id="{6DA91944-279A-BBF1-320B-83C40DB304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DC08A2-9239-D2BA-2AF2-22B09F6C1BC5}"/>
              </a:ext>
            </a:extLst>
          </p:cNvPr>
          <p:cNvSpPr>
            <a:spLocks noGrp="1"/>
          </p:cNvSpPr>
          <p:nvPr>
            <p:ph type="sldNum" sz="quarter" idx="12"/>
          </p:nvPr>
        </p:nvSpPr>
        <p:spPr/>
        <p:txBody>
          <a:bodyPr/>
          <a:lstStyle/>
          <a:p>
            <a:fld id="{AC275550-39EA-47F8-8E47-4E18C3043A5A}" type="slidenum">
              <a:rPr lang="en-US" smtClean="0"/>
              <a:t>‹#›</a:t>
            </a:fld>
            <a:endParaRPr lang="en-US"/>
          </a:p>
        </p:txBody>
      </p:sp>
    </p:spTree>
    <p:extLst>
      <p:ext uri="{BB962C8B-B14F-4D97-AF65-F5344CB8AC3E}">
        <p14:creationId xmlns:p14="http://schemas.microsoft.com/office/powerpoint/2010/main" val="1748952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299EB-4EEA-3BC4-6A64-711E446D2B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F3B22C-7B41-2D1C-2952-1DC7A1D327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1A625D-F381-0A78-5CD9-CE9386091D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F7F348-0E79-ADB0-F533-063477C917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B62F58-55D9-9A44-C565-DB685D49C1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BE301C-2F36-F21A-2D94-981CB22262BF}"/>
              </a:ext>
            </a:extLst>
          </p:cNvPr>
          <p:cNvSpPr>
            <a:spLocks noGrp="1"/>
          </p:cNvSpPr>
          <p:nvPr>
            <p:ph type="dt" sz="half" idx="10"/>
          </p:nvPr>
        </p:nvSpPr>
        <p:spPr/>
        <p:txBody>
          <a:bodyPr/>
          <a:lstStyle/>
          <a:p>
            <a:fld id="{656CA0C7-E7A0-4577-A1C5-67CE3870EDCE}" type="datetimeFigureOut">
              <a:rPr lang="en-US" smtClean="0"/>
              <a:t>10/8/2026</a:t>
            </a:fld>
            <a:endParaRPr lang="en-US"/>
          </a:p>
        </p:txBody>
      </p:sp>
      <p:sp>
        <p:nvSpPr>
          <p:cNvPr id="8" name="Footer Placeholder 7">
            <a:extLst>
              <a:ext uri="{FF2B5EF4-FFF2-40B4-BE49-F238E27FC236}">
                <a16:creationId xmlns:a16="http://schemas.microsoft.com/office/drawing/2014/main" id="{AB48A63F-4ACA-FEEF-1F09-D1492792C4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9EC467-9136-05B8-CEBB-61C2A0C27431}"/>
              </a:ext>
            </a:extLst>
          </p:cNvPr>
          <p:cNvSpPr>
            <a:spLocks noGrp="1"/>
          </p:cNvSpPr>
          <p:nvPr>
            <p:ph type="sldNum" sz="quarter" idx="12"/>
          </p:nvPr>
        </p:nvSpPr>
        <p:spPr/>
        <p:txBody>
          <a:bodyPr/>
          <a:lstStyle/>
          <a:p>
            <a:fld id="{AC275550-39EA-47F8-8E47-4E18C3043A5A}" type="slidenum">
              <a:rPr lang="en-US" smtClean="0"/>
              <a:t>‹#›</a:t>
            </a:fld>
            <a:endParaRPr lang="en-US"/>
          </a:p>
        </p:txBody>
      </p:sp>
    </p:spTree>
    <p:extLst>
      <p:ext uri="{BB962C8B-B14F-4D97-AF65-F5344CB8AC3E}">
        <p14:creationId xmlns:p14="http://schemas.microsoft.com/office/powerpoint/2010/main" val="624219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3F6C5-5FEB-DBE5-22BD-F8ABD3FB990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EE2D7D-B171-D909-DA44-25B1EA1BDF55}"/>
              </a:ext>
            </a:extLst>
          </p:cNvPr>
          <p:cNvSpPr>
            <a:spLocks noGrp="1"/>
          </p:cNvSpPr>
          <p:nvPr>
            <p:ph type="dt" sz="half" idx="10"/>
          </p:nvPr>
        </p:nvSpPr>
        <p:spPr/>
        <p:txBody>
          <a:bodyPr/>
          <a:lstStyle/>
          <a:p>
            <a:fld id="{656CA0C7-E7A0-4577-A1C5-67CE3870EDCE}" type="datetimeFigureOut">
              <a:rPr lang="en-US" smtClean="0"/>
              <a:t>10/8/2026</a:t>
            </a:fld>
            <a:endParaRPr lang="en-US"/>
          </a:p>
        </p:txBody>
      </p:sp>
      <p:sp>
        <p:nvSpPr>
          <p:cNvPr id="4" name="Footer Placeholder 3">
            <a:extLst>
              <a:ext uri="{FF2B5EF4-FFF2-40B4-BE49-F238E27FC236}">
                <a16:creationId xmlns:a16="http://schemas.microsoft.com/office/drawing/2014/main" id="{DEEE0A56-BC48-2971-829E-DEB8B845B9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058A7A-B340-05F0-7287-8941E8D4963A}"/>
              </a:ext>
            </a:extLst>
          </p:cNvPr>
          <p:cNvSpPr>
            <a:spLocks noGrp="1"/>
          </p:cNvSpPr>
          <p:nvPr>
            <p:ph type="sldNum" sz="quarter" idx="12"/>
          </p:nvPr>
        </p:nvSpPr>
        <p:spPr/>
        <p:txBody>
          <a:bodyPr/>
          <a:lstStyle/>
          <a:p>
            <a:fld id="{AC275550-39EA-47F8-8E47-4E18C3043A5A}" type="slidenum">
              <a:rPr lang="en-US" smtClean="0"/>
              <a:t>‹#›</a:t>
            </a:fld>
            <a:endParaRPr lang="en-US"/>
          </a:p>
        </p:txBody>
      </p:sp>
    </p:spTree>
    <p:extLst>
      <p:ext uri="{BB962C8B-B14F-4D97-AF65-F5344CB8AC3E}">
        <p14:creationId xmlns:p14="http://schemas.microsoft.com/office/powerpoint/2010/main" val="1419800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4BC71A-AD22-1DB6-6FE4-D1A5AD959260}"/>
              </a:ext>
            </a:extLst>
          </p:cNvPr>
          <p:cNvSpPr>
            <a:spLocks noGrp="1"/>
          </p:cNvSpPr>
          <p:nvPr>
            <p:ph type="dt" sz="half" idx="10"/>
          </p:nvPr>
        </p:nvSpPr>
        <p:spPr/>
        <p:txBody>
          <a:bodyPr/>
          <a:lstStyle/>
          <a:p>
            <a:fld id="{656CA0C7-E7A0-4577-A1C5-67CE3870EDCE}" type="datetimeFigureOut">
              <a:rPr lang="en-US" smtClean="0"/>
              <a:t>10/8/2026</a:t>
            </a:fld>
            <a:endParaRPr lang="en-US"/>
          </a:p>
        </p:txBody>
      </p:sp>
      <p:sp>
        <p:nvSpPr>
          <p:cNvPr id="3" name="Footer Placeholder 2">
            <a:extLst>
              <a:ext uri="{FF2B5EF4-FFF2-40B4-BE49-F238E27FC236}">
                <a16:creationId xmlns:a16="http://schemas.microsoft.com/office/drawing/2014/main" id="{1E052D7D-1E78-95DC-985F-032D63C101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B229EA-9697-2DB3-AC35-04FC8305FCF5}"/>
              </a:ext>
            </a:extLst>
          </p:cNvPr>
          <p:cNvSpPr>
            <a:spLocks noGrp="1"/>
          </p:cNvSpPr>
          <p:nvPr>
            <p:ph type="sldNum" sz="quarter" idx="12"/>
          </p:nvPr>
        </p:nvSpPr>
        <p:spPr/>
        <p:txBody>
          <a:bodyPr/>
          <a:lstStyle/>
          <a:p>
            <a:fld id="{AC275550-39EA-47F8-8E47-4E18C3043A5A}" type="slidenum">
              <a:rPr lang="en-US" smtClean="0"/>
              <a:t>‹#›</a:t>
            </a:fld>
            <a:endParaRPr lang="en-US"/>
          </a:p>
        </p:txBody>
      </p:sp>
    </p:spTree>
    <p:extLst>
      <p:ext uri="{BB962C8B-B14F-4D97-AF65-F5344CB8AC3E}">
        <p14:creationId xmlns:p14="http://schemas.microsoft.com/office/powerpoint/2010/main" val="1774517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C3567-9DDC-B33D-9F0A-3CB69F326D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288440-1346-AE03-652B-19E6F07FCF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B00396-C017-6E52-7A09-6332ACE088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85B48E-DA3A-61B5-1080-8E7CBD289DC3}"/>
              </a:ext>
            </a:extLst>
          </p:cNvPr>
          <p:cNvSpPr>
            <a:spLocks noGrp="1"/>
          </p:cNvSpPr>
          <p:nvPr>
            <p:ph type="dt" sz="half" idx="10"/>
          </p:nvPr>
        </p:nvSpPr>
        <p:spPr/>
        <p:txBody>
          <a:bodyPr/>
          <a:lstStyle/>
          <a:p>
            <a:fld id="{656CA0C7-E7A0-4577-A1C5-67CE3870EDCE}" type="datetimeFigureOut">
              <a:rPr lang="en-US" smtClean="0"/>
              <a:t>10/8/2026</a:t>
            </a:fld>
            <a:endParaRPr lang="en-US"/>
          </a:p>
        </p:txBody>
      </p:sp>
      <p:sp>
        <p:nvSpPr>
          <p:cNvPr id="6" name="Footer Placeholder 5">
            <a:extLst>
              <a:ext uri="{FF2B5EF4-FFF2-40B4-BE49-F238E27FC236}">
                <a16:creationId xmlns:a16="http://schemas.microsoft.com/office/drawing/2014/main" id="{BF74E835-8654-3451-69DC-6FA835711A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DB2701-47F5-2685-CA72-8AD57CAA5494}"/>
              </a:ext>
            </a:extLst>
          </p:cNvPr>
          <p:cNvSpPr>
            <a:spLocks noGrp="1"/>
          </p:cNvSpPr>
          <p:nvPr>
            <p:ph type="sldNum" sz="quarter" idx="12"/>
          </p:nvPr>
        </p:nvSpPr>
        <p:spPr/>
        <p:txBody>
          <a:bodyPr/>
          <a:lstStyle/>
          <a:p>
            <a:fld id="{AC275550-39EA-47F8-8E47-4E18C3043A5A}" type="slidenum">
              <a:rPr lang="en-US" smtClean="0"/>
              <a:t>‹#›</a:t>
            </a:fld>
            <a:endParaRPr lang="en-US"/>
          </a:p>
        </p:txBody>
      </p:sp>
    </p:spTree>
    <p:extLst>
      <p:ext uri="{BB962C8B-B14F-4D97-AF65-F5344CB8AC3E}">
        <p14:creationId xmlns:p14="http://schemas.microsoft.com/office/powerpoint/2010/main" val="1154925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2F2BE-A8D7-AF91-AF91-D813EEB88B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42F45C-4B64-0717-545D-D093713C38B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1BDF0F-6886-2283-5F23-DED4596F1F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82B07A-56BF-C063-EA9C-E214247A160F}"/>
              </a:ext>
            </a:extLst>
          </p:cNvPr>
          <p:cNvSpPr>
            <a:spLocks noGrp="1"/>
          </p:cNvSpPr>
          <p:nvPr>
            <p:ph type="dt" sz="half" idx="10"/>
          </p:nvPr>
        </p:nvSpPr>
        <p:spPr/>
        <p:txBody>
          <a:bodyPr/>
          <a:lstStyle/>
          <a:p>
            <a:fld id="{656CA0C7-E7A0-4577-A1C5-67CE3870EDCE}" type="datetimeFigureOut">
              <a:rPr lang="en-US" smtClean="0"/>
              <a:t>10/8/2026</a:t>
            </a:fld>
            <a:endParaRPr lang="en-US"/>
          </a:p>
        </p:txBody>
      </p:sp>
      <p:sp>
        <p:nvSpPr>
          <p:cNvPr id="6" name="Footer Placeholder 5">
            <a:extLst>
              <a:ext uri="{FF2B5EF4-FFF2-40B4-BE49-F238E27FC236}">
                <a16:creationId xmlns:a16="http://schemas.microsoft.com/office/drawing/2014/main" id="{203DE378-8F6D-FD7D-3059-FEFE5AF163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576D31-E64A-1A00-1A70-F581336F2488}"/>
              </a:ext>
            </a:extLst>
          </p:cNvPr>
          <p:cNvSpPr>
            <a:spLocks noGrp="1"/>
          </p:cNvSpPr>
          <p:nvPr>
            <p:ph type="sldNum" sz="quarter" idx="12"/>
          </p:nvPr>
        </p:nvSpPr>
        <p:spPr/>
        <p:txBody>
          <a:bodyPr/>
          <a:lstStyle/>
          <a:p>
            <a:fld id="{AC275550-39EA-47F8-8E47-4E18C3043A5A}" type="slidenum">
              <a:rPr lang="en-US" smtClean="0"/>
              <a:t>‹#›</a:t>
            </a:fld>
            <a:endParaRPr lang="en-US"/>
          </a:p>
        </p:txBody>
      </p:sp>
    </p:spTree>
    <p:extLst>
      <p:ext uri="{BB962C8B-B14F-4D97-AF65-F5344CB8AC3E}">
        <p14:creationId xmlns:p14="http://schemas.microsoft.com/office/powerpoint/2010/main" val="279158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58EF7-9D79-D945-6972-0F6AD2A1A1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73E519-7443-46B9-2E9C-BB62A3F986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F9900C-F5FD-6A83-E5C6-F03F06E5855B}"/>
              </a:ext>
            </a:extLst>
          </p:cNvPr>
          <p:cNvSpPr>
            <a:spLocks noGrp="1"/>
          </p:cNvSpPr>
          <p:nvPr>
            <p:ph type="dt" sz="half" idx="10"/>
          </p:nvPr>
        </p:nvSpPr>
        <p:spPr/>
        <p:txBody>
          <a:bodyPr/>
          <a:lstStyle/>
          <a:p>
            <a:fld id="{656CA0C7-E7A0-4577-A1C5-67CE3870EDCE}" type="datetimeFigureOut">
              <a:rPr lang="en-US" smtClean="0"/>
              <a:t>10/8/2026</a:t>
            </a:fld>
            <a:endParaRPr lang="en-US"/>
          </a:p>
        </p:txBody>
      </p:sp>
      <p:sp>
        <p:nvSpPr>
          <p:cNvPr id="5" name="Footer Placeholder 4">
            <a:extLst>
              <a:ext uri="{FF2B5EF4-FFF2-40B4-BE49-F238E27FC236}">
                <a16:creationId xmlns:a16="http://schemas.microsoft.com/office/drawing/2014/main" id="{76AD48B4-EC8D-0244-0AC4-90F376029D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F7E77B-4B5E-648A-D192-CCE549948212}"/>
              </a:ext>
            </a:extLst>
          </p:cNvPr>
          <p:cNvSpPr>
            <a:spLocks noGrp="1"/>
          </p:cNvSpPr>
          <p:nvPr>
            <p:ph type="sldNum" sz="quarter" idx="12"/>
          </p:nvPr>
        </p:nvSpPr>
        <p:spPr/>
        <p:txBody>
          <a:bodyPr/>
          <a:lstStyle/>
          <a:p>
            <a:fld id="{AC275550-39EA-47F8-8E47-4E18C3043A5A}" type="slidenum">
              <a:rPr lang="en-US" smtClean="0"/>
              <a:t>‹#›</a:t>
            </a:fld>
            <a:endParaRPr lang="en-US"/>
          </a:p>
        </p:txBody>
      </p:sp>
    </p:spTree>
    <p:extLst>
      <p:ext uri="{BB962C8B-B14F-4D97-AF65-F5344CB8AC3E}">
        <p14:creationId xmlns:p14="http://schemas.microsoft.com/office/powerpoint/2010/main" val="401041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92BDCE-530B-C9F8-A890-6D8C235EAC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BE4334-C5C8-3C43-D8DE-FFF037E459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090D23-B842-BDD8-501E-620A9258666C}"/>
              </a:ext>
            </a:extLst>
          </p:cNvPr>
          <p:cNvSpPr>
            <a:spLocks noGrp="1"/>
          </p:cNvSpPr>
          <p:nvPr>
            <p:ph type="dt" sz="half" idx="10"/>
          </p:nvPr>
        </p:nvSpPr>
        <p:spPr/>
        <p:txBody>
          <a:bodyPr/>
          <a:lstStyle/>
          <a:p>
            <a:fld id="{656CA0C7-E7A0-4577-A1C5-67CE3870EDCE}" type="datetimeFigureOut">
              <a:rPr lang="en-US" smtClean="0"/>
              <a:t>10/8/2026</a:t>
            </a:fld>
            <a:endParaRPr lang="en-US"/>
          </a:p>
        </p:txBody>
      </p:sp>
      <p:sp>
        <p:nvSpPr>
          <p:cNvPr id="5" name="Footer Placeholder 4">
            <a:extLst>
              <a:ext uri="{FF2B5EF4-FFF2-40B4-BE49-F238E27FC236}">
                <a16:creationId xmlns:a16="http://schemas.microsoft.com/office/drawing/2014/main" id="{635BF9AA-D2EC-9E9F-B0EB-82F9116AB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0F8F41-330B-DDEF-AC59-3BAAECCE9BD5}"/>
              </a:ext>
            </a:extLst>
          </p:cNvPr>
          <p:cNvSpPr>
            <a:spLocks noGrp="1"/>
          </p:cNvSpPr>
          <p:nvPr>
            <p:ph type="sldNum" sz="quarter" idx="12"/>
          </p:nvPr>
        </p:nvSpPr>
        <p:spPr/>
        <p:txBody>
          <a:bodyPr/>
          <a:lstStyle/>
          <a:p>
            <a:fld id="{AC275550-39EA-47F8-8E47-4E18C3043A5A}" type="slidenum">
              <a:rPr lang="en-US" smtClean="0"/>
              <a:t>‹#›</a:t>
            </a:fld>
            <a:endParaRPr lang="en-US"/>
          </a:p>
        </p:txBody>
      </p:sp>
    </p:spTree>
    <p:extLst>
      <p:ext uri="{BB962C8B-B14F-4D97-AF65-F5344CB8AC3E}">
        <p14:creationId xmlns:p14="http://schemas.microsoft.com/office/powerpoint/2010/main" val="2532518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E3C60-BA7B-7BDE-82BD-599D43C27E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380774-5047-4608-D8FA-2248D5EFE3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54F24-1EEB-4489-4A4E-243F60086E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6CA0C7-E7A0-4577-A1C5-67CE3870EDCE}" type="datetimeFigureOut">
              <a:rPr lang="en-US" smtClean="0"/>
              <a:t>10/8/2026</a:t>
            </a:fld>
            <a:endParaRPr lang="en-US"/>
          </a:p>
        </p:txBody>
      </p:sp>
      <p:sp>
        <p:nvSpPr>
          <p:cNvPr id="5" name="Footer Placeholder 4">
            <a:extLst>
              <a:ext uri="{FF2B5EF4-FFF2-40B4-BE49-F238E27FC236}">
                <a16:creationId xmlns:a16="http://schemas.microsoft.com/office/drawing/2014/main" id="{0F3B8B01-B367-9F80-BEC6-D49B0270B9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BEA89D5-969F-4F85-591B-1806112272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275550-39EA-47F8-8E47-4E18C3043A5A}" type="slidenum">
              <a:rPr lang="en-US" smtClean="0"/>
              <a:t>‹#›</a:t>
            </a:fld>
            <a:endParaRPr lang="en-US"/>
          </a:p>
        </p:txBody>
      </p:sp>
    </p:spTree>
    <p:extLst>
      <p:ext uri="{BB962C8B-B14F-4D97-AF65-F5344CB8AC3E}">
        <p14:creationId xmlns:p14="http://schemas.microsoft.com/office/powerpoint/2010/main" val="28297670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ADF5CB-F53C-6C33-71E0-B307DE112CB3}"/>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7E44DDB-8404-317C-C05C-50B6BE740BE1}"/>
              </a:ext>
            </a:extLst>
          </p:cNvPr>
          <p:cNvSpPr txBox="1"/>
          <p:nvPr/>
        </p:nvSpPr>
        <p:spPr>
          <a:xfrm>
            <a:off x="609600" y="381000"/>
            <a:ext cx="8890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CONNECTED INSIGHTS</a:t>
            </a:r>
          </a:p>
        </p:txBody>
      </p:sp>
      <p:sp>
        <p:nvSpPr>
          <p:cNvPr id="4" name="TextBox 3">
            <a:extLst>
              <a:ext uri="{FF2B5EF4-FFF2-40B4-BE49-F238E27FC236}">
                <a16:creationId xmlns:a16="http://schemas.microsoft.com/office/drawing/2014/main" id="{087BBF25-FCF7-8A6C-8823-6FE179768051}"/>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What Is Graph in Microsoft Fabric?</a:t>
            </a:r>
          </a:p>
        </p:txBody>
      </p:sp>
      <p:sp>
        <p:nvSpPr>
          <p:cNvPr id="5" name="TextBox 4">
            <a:extLst>
              <a:ext uri="{FF2B5EF4-FFF2-40B4-BE49-F238E27FC236}">
                <a16:creationId xmlns:a16="http://schemas.microsoft.com/office/drawing/2014/main" id="{1AD327EB-DAF7-0A7B-D912-C01D62AEA74C}"/>
              </a:ext>
            </a:extLst>
          </p:cNvPr>
          <p:cNvSpPr txBox="1"/>
          <p:nvPr/>
        </p:nvSpPr>
        <p:spPr>
          <a:xfrm>
            <a:off x="609600" y="1879600"/>
            <a:ext cx="6731000" cy="307777"/>
          </a:xfrm>
          <a:prstGeom prst="rect">
            <a:avLst/>
          </a:prstGeom>
          <a:noFill/>
        </p:spPr>
        <p:txBody>
          <a:bodyPr vert="horz" wrap="square" lIns="0" tIns="0" rIns="0" bIns="0" rtlCol="0">
            <a:spAutoFit/>
          </a:bodyPr>
          <a:lstStyle/>
          <a:p>
            <a:pPr>
              <a:spcAft>
                <a:spcPts val="500"/>
              </a:spcAft>
            </a:pPr>
            <a:r>
              <a:rPr lang="en-US" sz="2000" b="1">
                <a:solidFill>
                  <a:srgbClr val="282425"/>
                </a:solidFill>
                <a:latin typeface="Aptos" panose="020B0004020202020204" pitchFamily="34" charset="0"/>
              </a:rPr>
              <a:t>A way to understand your data through its connections.</a:t>
            </a:r>
          </a:p>
        </p:txBody>
      </p:sp>
      <p:sp>
        <p:nvSpPr>
          <p:cNvPr id="6" name="TextBox 5">
            <a:extLst>
              <a:ext uri="{FF2B5EF4-FFF2-40B4-BE49-F238E27FC236}">
                <a16:creationId xmlns:a16="http://schemas.microsoft.com/office/drawing/2014/main" id="{842D3912-CB3F-11CC-A03C-1D38D14064E5}"/>
              </a:ext>
            </a:extLst>
          </p:cNvPr>
          <p:cNvSpPr txBox="1"/>
          <p:nvPr/>
        </p:nvSpPr>
        <p:spPr>
          <a:xfrm>
            <a:off x="609600" y="2413000"/>
            <a:ext cx="6731000" cy="2308324"/>
          </a:xfrm>
          <a:prstGeom prst="rect">
            <a:avLst/>
          </a:prstGeom>
          <a:noFill/>
        </p:spPr>
        <p:txBody>
          <a:bodyPr vert="horz" wrap="square" lIns="0" tIns="0" rIns="0" bIns="0" rtlCol="0">
            <a:spAutoFit/>
          </a:bodyPr>
          <a:lstStyle/>
          <a:p>
            <a:pPr>
              <a:spcAft>
                <a:spcPts val="1200"/>
              </a:spcAft>
            </a:pPr>
            <a:r>
              <a:rPr lang="en-US" sz="2000">
                <a:solidFill>
                  <a:srgbClr val="282425"/>
                </a:solidFill>
                <a:latin typeface="Aptos" panose="020B0004020202020204" pitchFamily="34" charset="0"/>
              </a:rPr>
              <a:t>Represents entities, such as customers and products, as nodes.</a:t>
            </a:r>
          </a:p>
          <a:p>
            <a:pPr>
              <a:spcAft>
                <a:spcPts val="1200"/>
              </a:spcAft>
            </a:pPr>
            <a:r>
              <a:rPr lang="en-US" sz="2000">
                <a:solidFill>
                  <a:srgbClr val="282425"/>
                </a:solidFill>
                <a:latin typeface="Aptos" panose="020B0004020202020204" pitchFamily="34" charset="0"/>
              </a:rPr>
              <a:t>Represents connections between entities as edges.</a:t>
            </a:r>
          </a:p>
          <a:p>
            <a:pPr>
              <a:spcAft>
                <a:spcPts val="1200"/>
              </a:spcAft>
            </a:pPr>
            <a:r>
              <a:rPr lang="en-US" sz="2000">
                <a:solidFill>
                  <a:srgbClr val="282425"/>
                </a:solidFill>
                <a:latin typeface="Aptos" panose="020B0004020202020204" pitchFamily="34" charset="0"/>
              </a:rPr>
              <a:t>Helps you model, visualize, and analyze connected data in Fabric.</a:t>
            </a:r>
          </a:p>
          <a:p>
            <a:pPr>
              <a:spcAft>
                <a:spcPts val="1200"/>
              </a:spcAft>
            </a:pPr>
            <a:r>
              <a:rPr lang="en-US" sz="2000">
                <a:solidFill>
                  <a:srgbClr val="282425"/>
                </a:solidFill>
                <a:latin typeface="Aptos" panose="020B0004020202020204" pitchFamily="34" charset="0"/>
              </a:rPr>
              <a:t>Uses structured data in OneLake to build a queryable graph.</a:t>
            </a:r>
          </a:p>
        </p:txBody>
      </p:sp>
      <p:sp>
        <p:nvSpPr>
          <p:cNvPr id="7" name="TextBox 6">
            <a:extLst>
              <a:ext uri="{FF2B5EF4-FFF2-40B4-BE49-F238E27FC236}">
                <a16:creationId xmlns:a16="http://schemas.microsoft.com/office/drawing/2014/main" id="{51EB8C47-FD03-4796-A130-319EB4593547}"/>
              </a:ext>
            </a:extLst>
          </p:cNvPr>
          <p:cNvSpPr txBox="1"/>
          <p:nvPr/>
        </p:nvSpPr>
        <p:spPr>
          <a:xfrm>
            <a:off x="8128000" y="1739900"/>
            <a:ext cx="3454400" cy="153888"/>
          </a:xfrm>
          <a:prstGeom prst="rect">
            <a:avLst/>
          </a:prstGeom>
          <a:noFill/>
        </p:spPr>
        <p:txBody>
          <a:bodyPr vert="horz" wrap="square" lIns="0" tIns="0" rIns="0" bIns="0" rtlCol="0">
            <a:spAutoFit/>
          </a:bodyPr>
          <a:lstStyle/>
          <a:p>
            <a:pPr>
              <a:spcAft>
                <a:spcPts val="500"/>
              </a:spcAft>
            </a:pPr>
            <a:r>
              <a:rPr lang="en-US" sz="1000" b="1">
                <a:solidFill>
                  <a:srgbClr val="5E6170"/>
                </a:solidFill>
                <a:latin typeface="Aptos" panose="020B0004020202020204" pitchFamily="34" charset="0"/>
              </a:rPr>
              <a:t>ILLUSTRATIVE CONCEPT</a:t>
            </a:r>
          </a:p>
        </p:txBody>
      </p:sp>
      <p:sp>
        <p:nvSpPr>
          <p:cNvPr id="8" name="Rectangle 7">
            <a:extLst>
              <a:ext uri="{FF2B5EF4-FFF2-40B4-BE49-F238E27FC236}">
                <a16:creationId xmlns:a16="http://schemas.microsoft.com/office/drawing/2014/main" id="{A93B215D-D4EA-89CB-FE43-3951DA43433B}"/>
              </a:ext>
            </a:extLst>
          </p:cNvPr>
          <p:cNvSpPr/>
          <p:nvPr/>
        </p:nvSpPr>
        <p:spPr>
          <a:xfrm>
            <a:off x="8255000" y="2324100"/>
            <a:ext cx="2921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Customer</a:t>
            </a:r>
          </a:p>
        </p:txBody>
      </p:sp>
      <p:cxnSp>
        <p:nvCxnSpPr>
          <p:cNvPr id="9" name="Straight Connector 8">
            <a:extLst>
              <a:ext uri="{FF2B5EF4-FFF2-40B4-BE49-F238E27FC236}">
                <a16:creationId xmlns:a16="http://schemas.microsoft.com/office/drawing/2014/main" id="{3397600C-10D9-3C9F-B694-C1C4D7CE270A}"/>
              </a:ext>
            </a:extLst>
          </p:cNvPr>
          <p:cNvCxnSpPr/>
          <p:nvPr/>
        </p:nvCxnSpPr>
        <p:spPr>
          <a:xfrm>
            <a:off x="9715500" y="2959100"/>
            <a:ext cx="0" cy="2540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7DBE8BA5-D2B3-AC11-EC46-848A233E4832}"/>
              </a:ext>
            </a:extLst>
          </p:cNvPr>
          <p:cNvSpPr/>
          <p:nvPr/>
        </p:nvSpPr>
        <p:spPr>
          <a:xfrm>
            <a:off x="8255000" y="3276600"/>
            <a:ext cx="2921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Transaction</a:t>
            </a:r>
          </a:p>
        </p:txBody>
      </p:sp>
      <p:cxnSp>
        <p:nvCxnSpPr>
          <p:cNvPr id="11" name="Straight Connector 10">
            <a:extLst>
              <a:ext uri="{FF2B5EF4-FFF2-40B4-BE49-F238E27FC236}">
                <a16:creationId xmlns:a16="http://schemas.microsoft.com/office/drawing/2014/main" id="{466D2F6B-6AE5-1E97-6E4F-8E03E84AF17C}"/>
              </a:ext>
            </a:extLst>
          </p:cNvPr>
          <p:cNvCxnSpPr/>
          <p:nvPr/>
        </p:nvCxnSpPr>
        <p:spPr>
          <a:xfrm>
            <a:off x="9715500" y="3911600"/>
            <a:ext cx="0" cy="2540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B745A930-22A3-99D9-E719-660AFD57B71D}"/>
              </a:ext>
            </a:extLst>
          </p:cNvPr>
          <p:cNvSpPr/>
          <p:nvPr/>
        </p:nvSpPr>
        <p:spPr>
          <a:xfrm>
            <a:off x="8255000" y="4229100"/>
            <a:ext cx="2921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Merchant</a:t>
            </a:r>
          </a:p>
        </p:txBody>
      </p:sp>
      <p:sp>
        <p:nvSpPr>
          <p:cNvPr id="13" name="TextBox 12">
            <a:extLst>
              <a:ext uri="{FF2B5EF4-FFF2-40B4-BE49-F238E27FC236}">
                <a16:creationId xmlns:a16="http://schemas.microsoft.com/office/drawing/2014/main" id="{7F7FE3FD-BD8C-63C7-BE26-F60EDB2F2E67}"/>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Fabric Graph | Introductory overview | Documentation reviewed 08 Oct 2026</a:t>
            </a:r>
          </a:p>
        </p:txBody>
      </p:sp>
      <p:sp>
        <p:nvSpPr>
          <p:cNvPr id="14" name="TextBox 13">
            <a:extLst>
              <a:ext uri="{FF2B5EF4-FFF2-40B4-BE49-F238E27FC236}">
                <a16:creationId xmlns:a16="http://schemas.microsoft.com/office/drawing/2014/main" id="{4D2C91F4-EF05-F524-BCFE-421042856CF0}"/>
              </a:ext>
            </a:extLst>
          </p:cNvPr>
          <p:cNvSpPr txBox="1"/>
          <p:nvPr/>
        </p:nvSpPr>
        <p:spPr>
          <a:xfrm>
            <a:off x="10922000" y="6413500"/>
            <a:ext cx="825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01 / 10</a:t>
            </a:r>
          </a:p>
        </p:txBody>
      </p:sp>
    </p:spTree>
    <p:extLst>
      <p:ext uri="{BB962C8B-B14F-4D97-AF65-F5344CB8AC3E}">
        <p14:creationId xmlns:p14="http://schemas.microsoft.com/office/powerpoint/2010/main" val="3629664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665585-3ACD-7C63-1F15-DDE75465F02C}"/>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514B3B0-D55F-DF56-505C-EAC067307025}"/>
              </a:ext>
            </a:extLst>
          </p:cNvPr>
          <p:cNvSpPr txBox="1"/>
          <p:nvPr/>
        </p:nvSpPr>
        <p:spPr>
          <a:xfrm>
            <a:off x="609600" y="381000"/>
            <a:ext cx="8890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CONNECTED INSIGHTS</a:t>
            </a:r>
          </a:p>
        </p:txBody>
      </p:sp>
      <p:sp>
        <p:nvSpPr>
          <p:cNvPr id="4" name="TextBox 3">
            <a:extLst>
              <a:ext uri="{FF2B5EF4-FFF2-40B4-BE49-F238E27FC236}">
                <a16:creationId xmlns:a16="http://schemas.microsoft.com/office/drawing/2014/main" id="{1BB698AA-68F9-0297-66C7-1E09AFA84FB5}"/>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Why Use a Graph?</a:t>
            </a:r>
          </a:p>
        </p:txBody>
      </p:sp>
      <p:sp>
        <p:nvSpPr>
          <p:cNvPr id="5" name="TextBox 4">
            <a:extLst>
              <a:ext uri="{FF2B5EF4-FFF2-40B4-BE49-F238E27FC236}">
                <a16:creationId xmlns:a16="http://schemas.microsoft.com/office/drawing/2014/main" id="{EA37DE1A-B9A3-5F35-57F6-237FC04C415C}"/>
              </a:ext>
            </a:extLst>
          </p:cNvPr>
          <p:cNvSpPr txBox="1"/>
          <p:nvPr/>
        </p:nvSpPr>
        <p:spPr>
          <a:xfrm>
            <a:off x="609600" y="1879600"/>
            <a:ext cx="6731000" cy="615553"/>
          </a:xfrm>
          <a:prstGeom prst="rect">
            <a:avLst/>
          </a:prstGeom>
          <a:noFill/>
        </p:spPr>
        <p:txBody>
          <a:bodyPr vert="horz" wrap="square" lIns="0" tIns="0" rIns="0" bIns="0" rtlCol="0">
            <a:spAutoFit/>
          </a:bodyPr>
          <a:lstStyle/>
          <a:p>
            <a:pPr>
              <a:spcAft>
                <a:spcPts val="500"/>
              </a:spcAft>
            </a:pPr>
            <a:r>
              <a:rPr lang="en-US" sz="2000" b="1">
                <a:solidFill>
                  <a:srgbClr val="282425"/>
                </a:solidFill>
                <a:latin typeface="Aptos" panose="020B0004020202020204" pitchFamily="34" charset="0"/>
              </a:rPr>
              <a:t>Sometimes the connection matters as much as the individual record.</a:t>
            </a:r>
          </a:p>
        </p:txBody>
      </p:sp>
      <p:sp>
        <p:nvSpPr>
          <p:cNvPr id="6" name="TextBox 5">
            <a:extLst>
              <a:ext uri="{FF2B5EF4-FFF2-40B4-BE49-F238E27FC236}">
                <a16:creationId xmlns:a16="http://schemas.microsoft.com/office/drawing/2014/main" id="{C3F2C10F-B773-9B75-39AA-D9343823B146}"/>
              </a:ext>
            </a:extLst>
          </p:cNvPr>
          <p:cNvSpPr txBox="1"/>
          <p:nvPr/>
        </p:nvSpPr>
        <p:spPr>
          <a:xfrm>
            <a:off x="609600" y="2717800"/>
            <a:ext cx="6731000" cy="2000548"/>
          </a:xfrm>
          <a:prstGeom prst="rect">
            <a:avLst/>
          </a:prstGeom>
          <a:noFill/>
        </p:spPr>
        <p:txBody>
          <a:bodyPr vert="horz" wrap="square" lIns="0" tIns="0" rIns="0" bIns="0" rtlCol="0">
            <a:spAutoFit/>
          </a:bodyPr>
          <a:lstStyle/>
          <a:p>
            <a:pPr>
              <a:spcAft>
                <a:spcPts val="1200"/>
              </a:spcAft>
            </a:pPr>
            <a:r>
              <a:rPr lang="en-US" sz="2000">
                <a:solidFill>
                  <a:srgbClr val="282425"/>
                </a:solidFill>
                <a:latin typeface="Aptos" panose="020B0004020202020204" pitchFamily="34" charset="0"/>
              </a:rPr>
              <a:t>Uncover shared connections and relationship patterns.</a:t>
            </a:r>
          </a:p>
          <a:p>
            <a:pPr>
              <a:spcAft>
                <a:spcPts val="1200"/>
              </a:spcAft>
            </a:pPr>
            <a:r>
              <a:rPr lang="en-US" sz="2000">
                <a:solidFill>
                  <a:srgbClr val="282425"/>
                </a:solidFill>
                <a:latin typeface="Aptos" panose="020B0004020202020204" pitchFamily="34" charset="0"/>
              </a:rPr>
              <a:t>Follow paths across several related entities.</a:t>
            </a:r>
          </a:p>
          <a:p>
            <a:pPr>
              <a:spcAft>
                <a:spcPts val="1200"/>
              </a:spcAft>
            </a:pPr>
            <a:r>
              <a:rPr lang="en-US" sz="2000">
                <a:solidFill>
                  <a:srgbClr val="282425"/>
                </a:solidFill>
                <a:latin typeface="Aptos" panose="020B0004020202020204" pitchFamily="34" charset="0"/>
              </a:rPr>
              <a:t>Understand which entities could be affected by a change or risk.</a:t>
            </a:r>
          </a:p>
          <a:p>
            <a:pPr>
              <a:spcAft>
                <a:spcPts val="1200"/>
              </a:spcAft>
            </a:pPr>
            <a:r>
              <a:rPr lang="en-US" sz="2000">
                <a:solidFill>
                  <a:srgbClr val="282425"/>
                </a:solidFill>
                <a:latin typeface="Aptos" panose="020B0004020202020204" pitchFamily="34" charset="0"/>
              </a:rPr>
              <a:t>Make complex relationships easier to explore and explain.</a:t>
            </a:r>
          </a:p>
        </p:txBody>
      </p:sp>
      <p:sp>
        <p:nvSpPr>
          <p:cNvPr id="7" name="TextBox 6">
            <a:extLst>
              <a:ext uri="{FF2B5EF4-FFF2-40B4-BE49-F238E27FC236}">
                <a16:creationId xmlns:a16="http://schemas.microsoft.com/office/drawing/2014/main" id="{4C19BB2F-D47E-84CF-7E06-75C90D0F5692}"/>
              </a:ext>
            </a:extLst>
          </p:cNvPr>
          <p:cNvSpPr txBox="1"/>
          <p:nvPr/>
        </p:nvSpPr>
        <p:spPr>
          <a:xfrm>
            <a:off x="8128000" y="1739900"/>
            <a:ext cx="3454400" cy="153888"/>
          </a:xfrm>
          <a:prstGeom prst="rect">
            <a:avLst/>
          </a:prstGeom>
          <a:noFill/>
        </p:spPr>
        <p:txBody>
          <a:bodyPr vert="horz" wrap="square" lIns="0" tIns="0" rIns="0" bIns="0" rtlCol="0">
            <a:spAutoFit/>
          </a:bodyPr>
          <a:lstStyle/>
          <a:p>
            <a:pPr>
              <a:spcAft>
                <a:spcPts val="500"/>
              </a:spcAft>
            </a:pPr>
            <a:r>
              <a:rPr lang="en-US" sz="1000" b="1">
                <a:solidFill>
                  <a:srgbClr val="5E6170"/>
                </a:solidFill>
                <a:latin typeface="Aptos" panose="020B0004020202020204" pitchFamily="34" charset="0"/>
              </a:rPr>
              <a:t>ILLUSTRATIVE CONCEPT</a:t>
            </a:r>
          </a:p>
        </p:txBody>
      </p:sp>
      <p:sp>
        <p:nvSpPr>
          <p:cNvPr id="8" name="Rectangle 7">
            <a:extLst>
              <a:ext uri="{FF2B5EF4-FFF2-40B4-BE49-F238E27FC236}">
                <a16:creationId xmlns:a16="http://schemas.microsoft.com/office/drawing/2014/main" id="{3BC1F361-0EBC-B1A2-2A92-402E1BD7F954}"/>
              </a:ext>
            </a:extLst>
          </p:cNvPr>
          <p:cNvSpPr/>
          <p:nvPr/>
        </p:nvSpPr>
        <p:spPr>
          <a:xfrm>
            <a:off x="8001000" y="2413000"/>
            <a:ext cx="1587500" cy="6985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Account</a:t>
            </a:r>
          </a:p>
        </p:txBody>
      </p:sp>
      <p:sp>
        <p:nvSpPr>
          <p:cNvPr id="9" name="Rectangle 8">
            <a:extLst>
              <a:ext uri="{FF2B5EF4-FFF2-40B4-BE49-F238E27FC236}">
                <a16:creationId xmlns:a16="http://schemas.microsoft.com/office/drawing/2014/main" id="{6BAF9D31-AE45-AD59-7FB2-7D6C066A9137}"/>
              </a:ext>
            </a:extLst>
          </p:cNvPr>
          <p:cNvSpPr/>
          <p:nvPr/>
        </p:nvSpPr>
        <p:spPr>
          <a:xfrm>
            <a:off x="10096500" y="2413000"/>
            <a:ext cx="1587500" cy="698500"/>
          </a:xfrm>
          <a:prstGeom prst="rect">
            <a:avLst/>
          </a:prstGeom>
          <a:solidFill>
            <a:srgbClr val="DFB1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Merchant</a:t>
            </a:r>
          </a:p>
        </p:txBody>
      </p:sp>
      <p:sp>
        <p:nvSpPr>
          <p:cNvPr id="10" name="Rectangle 9">
            <a:extLst>
              <a:ext uri="{FF2B5EF4-FFF2-40B4-BE49-F238E27FC236}">
                <a16:creationId xmlns:a16="http://schemas.microsoft.com/office/drawing/2014/main" id="{B4231422-7ADD-3EEA-9385-FBE944C447D9}"/>
              </a:ext>
            </a:extLst>
          </p:cNvPr>
          <p:cNvSpPr/>
          <p:nvPr/>
        </p:nvSpPr>
        <p:spPr>
          <a:xfrm>
            <a:off x="8953500" y="3708400"/>
            <a:ext cx="1651000" cy="7620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FFFFFF"/>
                </a:solidFill>
                <a:latin typeface="Aptos" panose="020B0004020202020204" pitchFamily="34" charset="0"/>
              </a:rPr>
              <a:t>Customer</a:t>
            </a:r>
          </a:p>
        </p:txBody>
      </p:sp>
      <p:sp>
        <p:nvSpPr>
          <p:cNvPr id="11" name="Rectangle 10">
            <a:extLst>
              <a:ext uri="{FF2B5EF4-FFF2-40B4-BE49-F238E27FC236}">
                <a16:creationId xmlns:a16="http://schemas.microsoft.com/office/drawing/2014/main" id="{732260B8-F187-2D03-0FB3-7AC738D4C68B}"/>
              </a:ext>
            </a:extLst>
          </p:cNvPr>
          <p:cNvSpPr/>
          <p:nvPr/>
        </p:nvSpPr>
        <p:spPr>
          <a:xfrm>
            <a:off x="8001000" y="5207000"/>
            <a:ext cx="1587500" cy="6985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Transaction</a:t>
            </a:r>
          </a:p>
        </p:txBody>
      </p:sp>
      <p:sp>
        <p:nvSpPr>
          <p:cNvPr id="12" name="Rectangle 11">
            <a:extLst>
              <a:ext uri="{FF2B5EF4-FFF2-40B4-BE49-F238E27FC236}">
                <a16:creationId xmlns:a16="http://schemas.microsoft.com/office/drawing/2014/main" id="{EBD69D2A-650B-62AE-C90D-D5A5566F1862}"/>
              </a:ext>
            </a:extLst>
          </p:cNvPr>
          <p:cNvSpPr/>
          <p:nvPr/>
        </p:nvSpPr>
        <p:spPr>
          <a:xfrm>
            <a:off x="10096500" y="5207000"/>
            <a:ext cx="1587500" cy="6985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Loan</a:t>
            </a:r>
          </a:p>
        </p:txBody>
      </p:sp>
      <p:cxnSp>
        <p:nvCxnSpPr>
          <p:cNvPr id="13" name="Straight Connector 12">
            <a:extLst>
              <a:ext uri="{FF2B5EF4-FFF2-40B4-BE49-F238E27FC236}">
                <a16:creationId xmlns:a16="http://schemas.microsoft.com/office/drawing/2014/main" id="{884C9797-C63A-46F2-ECDA-9D3110D1C89E}"/>
              </a:ext>
            </a:extLst>
          </p:cNvPr>
          <p:cNvCxnSpPr/>
          <p:nvPr/>
        </p:nvCxnSpPr>
        <p:spPr>
          <a:xfrm flipH="1" flipV="1">
            <a:off x="9017000" y="3175000"/>
            <a:ext cx="431800" cy="5334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2F54ED2-3116-95A0-CD42-0D64DD221A27}"/>
              </a:ext>
            </a:extLst>
          </p:cNvPr>
          <p:cNvCxnSpPr/>
          <p:nvPr/>
        </p:nvCxnSpPr>
        <p:spPr>
          <a:xfrm flipV="1">
            <a:off x="10160000" y="3175000"/>
            <a:ext cx="508000" cy="5334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6E459C3-7F3F-C734-EDFE-FED69B9DF135}"/>
              </a:ext>
            </a:extLst>
          </p:cNvPr>
          <p:cNvCxnSpPr/>
          <p:nvPr/>
        </p:nvCxnSpPr>
        <p:spPr>
          <a:xfrm flipH="1">
            <a:off x="9017000" y="4470400"/>
            <a:ext cx="431800" cy="6731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4460FBD-76AA-45F1-0BF9-8DF1D97A59DA}"/>
              </a:ext>
            </a:extLst>
          </p:cNvPr>
          <p:cNvCxnSpPr/>
          <p:nvPr/>
        </p:nvCxnSpPr>
        <p:spPr>
          <a:xfrm>
            <a:off x="10160000" y="4470400"/>
            <a:ext cx="508000" cy="6731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EF1EF27D-F3D8-4420-6C02-4183E56E4B24}"/>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Fabric Graph | Introductory overview | Documentation reviewed 08 Oct 2026</a:t>
            </a:r>
          </a:p>
        </p:txBody>
      </p:sp>
      <p:sp>
        <p:nvSpPr>
          <p:cNvPr id="18" name="TextBox 17">
            <a:extLst>
              <a:ext uri="{FF2B5EF4-FFF2-40B4-BE49-F238E27FC236}">
                <a16:creationId xmlns:a16="http://schemas.microsoft.com/office/drawing/2014/main" id="{7D11654F-4F7D-88CB-E50F-556AE2298536}"/>
              </a:ext>
            </a:extLst>
          </p:cNvPr>
          <p:cNvSpPr txBox="1"/>
          <p:nvPr/>
        </p:nvSpPr>
        <p:spPr>
          <a:xfrm>
            <a:off x="10922000" y="6413500"/>
            <a:ext cx="825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02 / 10</a:t>
            </a:r>
          </a:p>
        </p:txBody>
      </p:sp>
    </p:spTree>
    <p:extLst>
      <p:ext uri="{BB962C8B-B14F-4D97-AF65-F5344CB8AC3E}">
        <p14:creationId xmlns:p14="http://schemas.microsoft.com/office/powerpoint/2010/main" val="3957975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F372BF-F3A6-9259-91F9-029D71F96686}"/>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46FD282-F377-4B3E-A1D4-F6C1AB85E6F0}"/>
              </a:ext>
            </a:extLst>
          </p:cNvPr>
          <p:cNvSpPr txBox="1"/>
          <p:nvPr/>
        </p:nvSpPr>
        <p:spPr>
          <a:xfrm>
            <a:off x="609600" y="381000"/>
            <a:ext cx="8890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CONNECTED INSIGHTS</a:t>
            </a:r>
          </a:p>
        </p:txBody>
      </p:sp>
      <p:sp>
        <p:nvSpPr>
          <p:cNvPr id="4" name="TextBox 3">
            <a:extLst>
              <a:ext uri="{FF2B5EF4-FFF2-40B4-BE49-F238E27FC236}">
                <a16:creationId xmlns:a16="http://schemas.microsoft.com/office/drawing/2014/main" id="{46D009DE-0430-1C8A-9EAA-24A346A8DB8A}"/>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Basic Concepts</a:t>
            </a:r>
          </a:p>
        </p:txBody>
      </p:sp>
      <p:graphicFrame>
        <p:nvGraphicFramePr>
          <p:cNvPr id="5" name="Table 4">
            <a:extLst>
              <a:ext uri="{FF2B5EF4-FFF2-40B4-BE49-F238E27FC236}">
                <a16:creationId xmlns:a16="http://schemas.microsoft.com/office/drawing/2014/main" id="{BBB173AE-C06C-B197-E195-902357E182E3}"/>
              </a:ext>
            </a:extLst>
          </p:cNvPr>
          <p:cNvGraphicFramePr>
            <a:graphicFrameLocks noGrp="1"/>
          </p:cNvGraphicFramePr>
          <p:nvPr>
            <p:extLst>
              <p:ext uri="{D42A27DB-BD31-4B8C-83A1-F6EECF244321}">
                <p14:modId xmlns:p14="http://schemas.microsoft.com/office/powerpoint/2010/main" val="3887383002"/>
              </p:ext>
            </p:extLst>
          </p:nvPr>
        </p:nvGraphicFramePr>
        <p:xfrm>
          <a:off x="609600" y="1841500"/>
          <a:ext cx="10972800" cy="4318000"/>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2592944133"/>
                    </a:ext>
                  </a:extLst>
                </a:gridCol>
                <a:gridCol w="4318000">
                  <a:extLst>
                    <a:ext uri="{9D8B030D-6E8A-4147-A177-3AD203B41FA5}">
                      <a16:colId xmlns:a16="http://schemas.microsoft.com/office/drawing/2014/main" val="285120133"/>
                    </a:ext>
                  </a:extLst>
                </a:gridCol>
                <a:gridCol w="4876800">
                  <a:extLst>
                    <a:ext uri="{9D8B030D-6E8A-4147-A177-3AD203B41FA5}">
                      <a16:colId xmlns:a16="http://schemas.microsoft.com/office/drawing/2014/main" val="920812466"/>
                    </a:ext>
                  </a:extLst>
                </a:gridCol>
              </a:tblGrid>
              <a:tr h="616857">
                <a:tc>
                  <a:txBody>
                    <a:bodyPr/>
                    <a:lstStyle/>
                    <a:p>
                      <a:r>
                        <a:rPr lang="en-US" sz="1700" b="1">
                          <a:solidFill>
                            <a:srgbClr val="FFFFFF"/>
                          </a:solidFill>
                          <a:latin typeface="Aptos" panose="020B0004020202020204" pitchFamily="34" charset="0"/>
                        </a:rPr>
                        <a:t>Concept</a:t>
                      </a:r>
                    </a:p>
                  </a:txBody>
                  <a:tcPr marL="203200" marR="203200" anchor="ctr">
                    <a:solidFill>
                      <a:srgbClr val="007873"/>
                    </a:solidFill>
                  </a:tcPr>
                </a:tc>
                <a:tc>
                  <a:txBody>
                    <a:bodyPr/>
                    <a:lstStyle/>
                    <a:p>
                      <a:r>
                        <a:rPr lang="en-US" sz="1700" b="1">
                          <a:solidFill>
                            <a:srgbClr val="FFFFFF"/>
                          </a:solidFill>
                          <a:latin typeface="Aptos" panose="020B0004020202020204" pitchFamily="34" charset="0"/>
                        </a:rPr>
                        <a:t>Meaning</a:t>
                      </a:r>
                    </a:p>
                  </a:txBody>
                  <a:tcPr marL="203200" marR="203200" anchor="ctr">
                    <a:solidFill>
                      <a:srgbClr val="007873"/>
                    </a:solidFill>
                  </a:tcPr>
                </a:tc>
                <a:tc>
                  <a:txBody>
                    <a:bodyPr/>
                    <a:lstStyle/>
                    <a:p>
                      <a:r>
                        <a:rPr lang="en-US" sz="1700" b="1">
                          <a:solidFill>
                            <a:srgbClr val="FFFFFF"/>
                          </a:solidFill>
                          <a:latin typeface="Aptos" panose="020B0004020202020204" pitchFamily="34" charset="0"/>
                        </a:rPr>
                        <a:t>Example</a:t>
                      </a:r>
                    </a:p>
                  </a:txBody>
                  <a:tcPr marL="203200" marR="203200" anchor="ctr">
                    <a:solidFill>
                      <a:srgbClr val="007873"/>
                    </a:solidFill>
                  </a:tcPr>
                </a:tc>
                <a:extLst>
                  <a:ext uri="{0D108BD9-81ED-4DB2-BD59-A6C34878D82A}">
                    <a16:rowId xmlns:a16="http://schemas.microsoft.com/office/drawing/2014/main" val="3608346994"/>
                  </a:ext>
                </a:extLst>
              </a:tr>
              <a:tr h="616857">
                <a:tc>
                  <a:txBody>
                    <a:bodyPr/>
                    <a:lstStyle/>
                    <a:p>
                      <a:r>
                        <a:rPr lang="en-US" sz="1700" b="0">
                          <a:solidFill>
                            <a:srgbClr val="282425"/>
                          </a:solidFill>
                          <a:latin typeface="Aptos" panose="020B0004020202020204" pitchFamily="34" charset="0"/>
                        </a:rPr>
                        <a:t>Node</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An entity in the network</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A customer or merchant</a:t>
                      </a:r>
                    </a:p>
                  </a:txBody>
                  <a:tcPr marL="203200" marR="203200" anchor="ctr">
                    <a:solidFill>
                      <a:srgbClr val="F0F5F9"/>
                    </a:solidFill>
                  </a:tcPr>
                </a:tc>
                <a:extLst>
                  <a:ext uri="{0D108BD9-81ED-4DB2-BD59-A6C34878D82A}">
                    <a16:rowId xmlns:a16="http://schemas.microsoft.com/office/drawing/2014/main" val="1484733445"/>
                  </a:ext>
                </a:extLst>
              </a:tr>
              <a:tr h="616857">
                <a:tc>
                  <a:txBody>
                    <a:bodyPr/>
                    <a:lstStyle/>
                    <a:p>
                      <a:r>
                        <a:rPr lang="en-US" sz="1700" b="0">
                          <a:solidFill>
                            <a:srgbClr val="282425"/>
                          </a:solidFill>
                          <a:latin typeface="Aptos" panose="020B0004020202020204" pitchFamily="34" charset="0"/>
                        </a:rPr>
                        <a:t>Edge</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A connection between two nodes</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Customer makes Transaction</a:t>
                      </a:r>
                    </a:p>
                  </a:txBody>
                  <a:tcPr marL="203200" marR="203200" anchor="ctr">
                    <a:solidFill>
                      <a:srgbClr val="F0F5F9"/>
                    </a:solidFill>
                  </a:tcPr>
                </a:tc>
                <a:extLst>
                  <a:ext uri="{0D108BD9-81ED-4DB2-BD59-A6C34878D82A}">
                    <a16:rowId xmlns:a16="http://schemas.microsoft.com/office/drawing/2014/main" val="1983149603"/>
                  </a:ext>
                </a:extLst>
              </a:tr>
              <a:tr h="616857">
                <a:tc>
                  <a:txBody>
                    <a:bodyPr/>
                    <a:lstStyle/>
                    <a:p>
                      <a:r>
                        <a:rPr lang="en-US" sz="1700" b="0">
                          <a:solidFill>
                            <a:srgbClr val="282425"/>
                          </a:solidFill>
                          <a:latin typeface="Aptos" panose="020B0004020202020204" pitchFamily="34" charset="0"/>
                        </a:rPr>
                        <a:t>Label</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The type of node or edge</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Customer, makes</a:t>
                      </a:r>
                    </a:p>
                  </a:txBody>
                  <a:tcPr marL="203200" marR="203200" anchor="ctr">
                    <a:solidFill>
                      <a:srgbClr val="F0F5F9"/>
                    </a:solidFill>
                  </a:tcPr>
                </a:tc>
                <a:extLst>
                  <a:ext uri="{0D108BD9-81ED-4DB2-BD59-A6C34878D82A}">
                    <a16:rowId xmlns:a16="http://schemas.microsoft.com/office/drawing/2014/main" val="1469977404"/>
                  </a:ext>
                </a:extLst>
              </a:tr>
              <a:tr h="616857">
                <a:tc>
                  <a:txBody>
                    <a:bodyPr/>
                    <a:lstStyle/>
                    <a:p>
                      <a:r>
                        <a:rPr lang="en-US" sz="1700" b="0">
                          <a:solidFill>
                            <a:srgbClr val="282425"/>
                          </a:solidFill>
                          <a:latin typeface="Aptos" panose="020B0004020202020204" pitchFamily="34" charset="0"/>
                        </a:rPr>
                        <a:t>Property</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A detail attached to a node or edge</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Name, amount, relationship date</a:t>
                      </a:r>
                    </a:p>
                  </a:txBody>
                  <a:tcPr marL="203200" marR="203200" anchor="ctr">
                    <a:solidFill>
                      <a:srgbClr val="F0F5F9"/>
                    </a:solidFill>
                  </a:tcPr>
                </a:tc>
                <a:extLst>
                  <a:ext uri="{0D108BD9-81ED-4DB2-BD59-A6C34878D82A}">
                    <a16:rowId xmlns:a16="http://schemas.microsoft.com/office/drawing/2014/main" val="1899380302"/>
                  </a:ext>
                </a:extLst>
              </a:tr>
              <a:tr h="616857">
                <a:tc>
                  <a:txBody>
                    <a:bodyPr/>
                    <a:lstStyle/>
                    <a:p>
                      <a:r>
                        <a:rPr lang="en-US" sz="1700" b="0">
                          <a:solidFill>
                            <a:srgbClr val="282425"/>
                          </a:solidFill>
                          <a:latin typeface="Aptos" panose="020B0004020202020204" pitchFamily="34" charset="0"/>
                        </a:rPr>
                        <a:t>Key</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Identifies a node from its source data</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Customer ID</a:t>
                      </a:r>
                    </a:p>
                  </a:txBody>
                  <a:tcPr marL="203200" marR="203200" anchor="ctr">
                    <a:solidFill>
                      <a:srgbClr val="F0F5F9"/>
                    </a:solidFill>
                  </a:tcPr>
                </a:tc>
                <a:extLst>
                  <a:ext uri="{0D108BD9-81ED-4DB2-BD59-A6C34878D82A}">
                    <a16:rowId xmlns:a16="http://schemas.microsoft.com/office/drawing/2014/main" val="2654138993"/>
                  </a:ext>
                </a:extLst>
              </a:tr>
              <a:tr h="616857">
                <a:tc>
                  <a:txBody>
                    <a:bodyPr/>
                    <a:lstStyle/>
                    <a:p>
                      <a:r>
                        <a:rPr lang="en-US" sz="1700" b="0">
                          <a:solidFill>
                            <a:srgbClr val="282425"/>
                          </a:solidFill>
                          <a:latin typeface="Aptos" panose="020B0004020202020204" pitchFamily="34" charset="0"/>
                        </a:rPr>
                        <a:t>Path / hop</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A sequence of connections / one step along it</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Customer -&gt; Transaction -&gt; Merchant</a:t>
                      </a:r>
                    </a:p>
                  </a:txBody>
                  <a:tcPr marL="203200" marR="203200" anchor="ctr">
                    <a:solidFill>
                      <a:srgbClr val="F0F5F9"/>
                    </a:solidFill>
                  </a:tcPr>
                </a:tc>
                <a:extLst>
                  <a:ext uri="{0D108BD9-81ED-4DB2-BD59-A6C34878D82A}">
                    <a16:rowId xmlns:a16="http://schemas.microsoft.com/office/drawing/2014/main" val="573010164"/>
                  </a:ext>
                </a:extLst>
              </a:tr>
            </a:tbl>
          </a:graphicData>
        </a:graphic>
      </p:graphicFrame>
      <p:sp>
        <p:nvSpPr>
          <p:cNvPr id="6" name="TextBox 5">
            <a:extLst>
              <a:ext uri="{FF2B5EF4-FFF2-40B4-BE49-F238E27FC236}">
                <a16:creationId xmlns:a16="http://schemas.microsoft.com/office/drawing/2014/main" id="{597C3D79-3124-D619-C3CD-C02636EF27AA}"/>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Fabric Graph | Introductory overview | Documentation reviewed 08 Oct 2026</a:t>
            </a:r>
          </a:p>
        </p:txBody>
      </p:sp>
      <p:sp>
        <p:nvSpPr>
          <p:cNvPr id="7" name="TextBox 6">
            <a:extLst>
              <a:ext uri="{FF2B5EF4-FFF2-40B4-BE49-F238E27FC236}">
                <a16:creationId xmlns:a16="http://schemas.microsoft.com/office/drawing/2014/main" id="{9F0F6D10-E5E5-809C-C839-13082B9C4415}"/>
              </a:ext>
            </a:extLst>
          </p:cNvPr>
          <p:cNvSpPr txBox="1"/>
          <p:nvPr/>
        </p:nvSpPr>
        <p:spPr>
          <a:xfrm>
            <a:off x="10922000" y="6413500"/>
            <a:ext cx="825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03 / 10</a:t>
            </a:r>
          </a:p>
        </p:txBody>
      </p:sp>
    </p:spTree>
    <p:extLst>
      <p:ext uri="{BB962C8B-B14F-4D97-AF65-F5344CB8AC3E}">
        <p14:creationId xmlns:p14="http://schemas.microsoft.com/office/powerpoint/2010/main" val="2240118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C88297-DAC6-4A9D-6B84-FEF49B035042}"/>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AC2CBBE-9A4A-79EE-9FF0-C14149A98579}"/>
              </a:ext>
            </a:extLst>
          </p:cNvPr>
          <p:cNvSpPr txBox="1"/>
          <p:nvPr/>
        </p:nvSpPr>
        <p:spPr>
          <a:xfrm>
            <a:off x="609600" y="381000"/>
            <a:ext cx="8890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CONNECTED INSIGHTS</a:t>
            </a:r>
          </a:p>
        </p:txBody>
      </p:sp>
      <p:sp>
        <p:nvSpPr>
          <p:cNvPr id="4" name="TextBox 3">
            <a:extLst>
              <a:ext uri="{FF2B5EF4-FFF2-40B4-BE49-F238E27FC236}">
                <a16:creationId xmlns:a16="http://schemas.microsoft.com/office/drawing/2014/main" id="{B746B3DF-EB00-6CE5-1FC0-683A20576D8D}"/>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A Simple Example</a:t>
            </a:r>
          </a:p>
        </p:txBody>
      </p:sp>
      <p:sp>
        <p:nvSpPr>
          <p:cNvPr id="5" name="TextBox 4">
            <a:extLst>
              <a:ext uri="{FF2B5EF4-FFF2-40B4-BE49-F238E27FC236}">
                <a16:creationId xmlns:a16="http://schemas.microsoft.com/office/drawing/2014/main" id="{80E82EA2-62FE-1BFC-64B4-CE4D8097AB27}"/>
              </a:ext>
            </a:extLst>
          </p:cNvPr>
          <p:cNvSpPr txBox="1"/>
          <p:nvPr/>
        </p:nvSpPr>
        <p:spPr>
          <a:xfrm>
            <a:off x="609600" y="1879600"/>
            <a:ext cx="6731000" cy="307777"/>
          </a:xfrm>
          <a:prstGeom prst="rect">
            <a:avLst/>
          </a:prstGeom>
          <a:noFill/>
        </p:spPr>
        <p:txBody>
          <a:bodyPr vert="horz" wrap="square" lIns="0" tIns="0" rIns="0" bIns="0" rtlCol="0">
            <a:spAutoFit/>
          </a:bodyPr>
          <a:lstStyle/>
          <a:p>
            <a:pPr>
              <a:spcAft>
                <a:spcPts val="500"/>
              </a:spcAft>
            </a:pPr>
            <a:r>
              <a:rPr lang="en-US" sz="2000" b="1">
                <a:solidFill>
                  <a:srgbClr val="282425"/>
                </a:solidFill>
                <a:latin typeface="Aptos" panose="020B0004020202020204" pitchFamily="34" charset="0"/>
              </a:rPr>
              <a:t>Customer -&gt; makes -&gt; Transaction -&gt; at -&gt; Merchant</a:t>
            </a:r>
          </a:p>
        </p:txBody>
      </p:sp>
      <p:sp>
        <p:nvSpPr>
          <p:cNvPr id="6" name="TextBox 5">
            <a:extLst>
              <a:ext uri="{FF2B5EF4-FFF2-40B4-BE49-F238E27FC236}">
                <a16:creationId xmlns:a16="http://schemas.microsoft.com/office/drawing/2014/main" id="{779B892F-94A7-AB6F-4668-17A042354940}"/>
              </a:ext>
            </a:extLst>
          </p:cNvPr>
          <p:cNvSpPr txBox="1"/>
          <p:nvPr/>
        </p:nvSpPr>
        <p:spPr>
          <a:xfrm>
            <a:off x="609600" y="2413000"/>
            <a:ext cx="6731000" cy="1692771"/>
          </a:xfrm>
          <a:prstGeom prst="rect">
            <a:avLst/>
          </a:prstGeom>
          <a:noFill/>
        </p:spPr>
        <p:txBody>
          <a:bodyPr vert="horz" wrap="square" lIns="0" tIns="0" rIns="0" bIns="0" rtlCol="0">
            <a:spAutoFit/>
          </a:bodyPr>
          <a:lstStyle/>
          <a:p>
            <a:pPr>
              <a:spcAft>
                <a:spcPts val="1200"/>
              </a:spcAft>
            </a:pPr>
            <a:r>
              <a:rPr lang="en-US" sz="2000">
                <a:solidFill>
                  <a:srgbClr val="282425"/>
                </a:solidFill>
                <a:latin typeface="Aptos" panose="020B0004020202020204" pitchFamily="34" charset="0"/>
              </a:rPr>
              <a:t>A customer makes a transaction at a merchant.</a:t>
            </a:r>
          </a:p>
          <a:p>
            <a:pPr>
              <a:spcAft>
                <a:spcPts val="1200"/>
              </a:spcAft>
            </a:pPr>
            <a:r>
              <a:rPr lang="en-US" sz="2000">
                <a:solidFill>
                  <a:srgbClr val="282425"/>
                </a:solidFill>
                <a:latin typeface="Aptos" panose="020B0004020202020204" pitchFamily="34" charset="0"/>
              </a:rPr>
              <a:t>Multiple customers may transact at the same merchant.</a:t>
            </a:r>
          </a:p>
          <a:p>
            <a:pPr>
              <a:spcAft>
                <a:spcPts val="1200"/>
              </a:spcAft>
            </a:pPr>
            <a:r>
              <a:rPr lang="en-US" sz="2000">
                <a:solidFill>
                  <a:srgbClr val="282425"/>
                </a:solidFill>
                <a:latin typeface="Aptos" panose="020B0004020202020204" pitchFamily="34" charset="0"/>
              </a:rPr>
              <a:t>One customer may connect to several merchants.</a:t>
            </a:r>
          </a:p>
          <a:p>
            <a:pPr>
              <a:spcAft>
                <a:spcPts val="1200"/>
              </a:spcAft>
            </a:pPr>
            <a:r>
              <a:rPr lang="en-US" sz="2000">
                <a:solidFill>
                  <a:srgbClr val="282425"/>
                </a:solidFill>
                <a:latin typeface="Aptos" panose="020B0004020202020204" pitchFamily="34" charset="0"/>
              </a:rPr>
              <a:t>Following these links reveals a connected network.</a:t>
            </a:r>
          </a:p>
        </p:txBody>
      </p:sp>
      <p:sp>
        <p:nvSpPr>
          <p:cNvPr id="7" name="TextBox 6">
            <a:extLst>
              <a:ext uri="{FF2B5EF4-FFF2-40B4-BE49-F238E27FC236}">
                <a16:creationId xmlns:a16="http://schemas.microsoft.com/office/drawing/2014/main" id="{A34999EB-B048-A550-71AD-6A6942369C57}"/>
              </a:ext>
            </a:extLst>
          </p:cNvPr>
          <p:cNvSpPr txBox="1"/>
          <p:nvPr/>
        </p:nvSpPr>
        <p:spPr>
          <a:xfrm>
            <a:off x="609600" y="4318000"/>
            <a:ext cx="6731000" cy="615553"/>
          </a:xfrm>
          <a:prstGeom prst="rect">
            <a:avLst/>
          </a:prstGeom>
          <a:noFill/>
        </p:spPr>
        <p:txBody>
          <a:bodyPr vert="horz" wrap="square" lIns="0" tIns="0" rIns="0" bIns="0" rtlCol="0">
            <a:spAutoFit/>
          </a:bodyPr>
          <a:lstStyle/>
          <a:p>
            <a:pPr>
              <a:spcAft>
                <a:spcPts val="500"/>
              </a:spcAft>
            </a:pPr>
            <a:r>
              <a:rPr lang="en-US" sz="2000" b="1">
                <a:solidFill>
                  <a:srgbClr val="282425"/>
                </a:solidFill>
                <a:latin typeface="Aptos" panose="020B0004020202020204" pitchFamily="34" charset="0"/>
              </a:rPr>
              <a:t>Example question: Which customers transacted at the same merchant?</a:t>
            </a:r>
          </a:p>
        </p:txBody>
      </p:sp>
      <p:sp>
        <p:nvSpPr>
          <p:cNvPr id="8" name="TextBox 7">
            <a:extLst>
              <a:ext uri="{FF2B5EF4-FFF2-40B4-BE49-F238E27FC236}">
                <a16:creationId xmlns:a16="http://schemas.microsoft.com/office/drawing/2014/main" id="{EAEF53ED-E96B-DA10-FB6F-000FAF328E1A}"/>
              </a:ext>
            </a:extLst>
          </p:cNvPr>
          <p:cNvSpPr txBox="1"/>
          <p:nvPr/>
        </p:nvSpPr>
        <p:spPr>
          <a:xfrm>
            <a:off x="8128000" y="1739900"/>
            <a:ext cx="3454400" cy="153888"/>
          </a:xfrm>
          <a:prstGeom prst="rect">
            <a:avLst/>
          </a:prstGeom>
          <a:noFill/>
        </p:spPr>
        <p:txBody>
          <a:bodyPr vert="horz" wrap="square" lIns="0" tIns="0" rIns="0" bIns="0" rtlCol="0">
            <a:spAutoFit/>
          </a:bodyPr>
          <a:lstStyle/>
          <a:p>
            <a:pPr>
              <a:spcAft>
                <a:spcPts val="500"/>
              </a:spcAft>
            </a:pPr>
            <a:r>
              <a:rPr lang="en-US" sz="1000" b="1">
                <a:solidFill>
                  <a:srgbClr val="5E6170"/>
                </a:solidFill>
                <a:latin typeface="Aptos" panose="020B0004020202020204" pitchFamily="34" charset="0"/>
              </a:rPr>
              <a:t>ILLUSTRATIVE CONCEPT</a:t>
            </a:r>
          </a:p>
        </p:txBody>
      </p:sp>
      <p:sp>
        <p:nvSpPr>
          <p:cNvPr id="9" name="Rectangle 8">
            <a:extLst>
              <a:ext uri="{FF2B5EF4-FFF2-40B4-BE49-F238E27FC236}">
                <a16:creationId xmlns:a16="http://schemas.microsoft.com/office/drawing/2014/main" id="{99C44EF0-E588-3A97-9A39-AD64204CAA96}"/>
              </a:ext>
            </a:extLst>
          </p:cNvPr>
          <p:cNvSpPr/>
          <p:nvPr/>
        </p:nvSpPr>
        <p:spPr>
          <a:xfrm>
            <a:off x="8001000" y="2286000"/>
            <a:ext cx="1524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Customer A</a:t>
            </a:r>
          </a:p>
        </p:txBody>
      </p:sp>
      <p:sp>
        <p:nvSpPr>
          <p:cNvPr id="10" name="Rectangle 9">
            <a:extLst>
              <a:ext uri="{FF2B5EF4-FFF2-40B4-BE49-F238E27FC236}">
                <a16:creationId xmlns:a16="http://schemas.microsoft.com/office/drawing/2014/main" id="{D7EE835F-830F-DAAA-CAB3-56F04D4C3463}"/>
              </a:ext>
            </a:extLst>
          </p:cNvPr>
          <p:cNvSpPr/>
          <p:nvPr/>
        </p:nvSpPr>
        <p:spPr>
          <a:xfrm>
            <a:off x="10033000" y="2286000"/>
            <a:ext cx="1524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Transaction A</a:t>
            </a:r>
          </a:p>
        </p:txBody>
      </p:sp>
      <p:sp>
        <p:nvSpPr>
          <p:cNvPr id="11" name="Rectangle 10">
            <a:extLst>
              <a:ext uri="{FF2B5EF4-FFF2-40B4-BE49-F238E27FC236}">
                <a16:creationId xmlns:a16="http://schemas.microsoft.com/office/drawing/2014/main" id="{A51FF2B0-CB06-005E-395A-3A688599BD9A}"/>
              </a:ext>
            </a:extLst>
          </p:cNvPr>
          <p:cNvSpPr/>
          <p:nvPr/>
        </p:nvSpPr>
        <p:spPr>
          <a:xfrm>
            <a:off x="9080500" y="3556000"/>
            <a:ext cx="1905000" cy="825500"/>
          </a:xfrm>
          <a:prstGeom prst="rect">
            <a:avLst/>
          </a:prstGeom>
          <a:solidFill>
            <a:srgbClr val="DFB1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Merchant</a:t>
            </a:r>
          </a:p>
        </p:txBody>
      </p:sp>
      <p:sp>
        <p:nvSpPr>
          <p:cNvPr id="12" name="Rectangle 11">
            <a:extLst>
              <a:ext uri="{FF2B5EF4-FFF2-40B4-BE49-F238E27FC236}">
                <a16:creationId xmlns:a16="http://schemas.microsoft.com/office/drawing/2014/main" id="{FAF077DF-7600-34B1-25A3-31D77FA5AA6F}"/>
              </a:ext>
            </a:extLst>
          </p:cNvPr>
          <p:cNvSpPr/>
          <p:nvPr/>
        </p:nvSpPr>
        <p:spPr>
          <a:xfrm>
            <a:off x="8001000" y="4953000"/>
            <a:ext cx="1524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Customer B</a:t>
            </a:r>
          </a:p>
        </p:txBody>
      </p:sp>
      <p:sp>
        <p:nvSpPr>
          <p:cNvPr id="13" name="Rectangle 12">
            <a:extLst>
              <a:ext uri="{FF2B5EF4-FFF2-40B4-BE49-F238E27FC236}">
                <a16:creationId xmlns:a16="http://schemas.microsoft.com/office/drawing/2014/main" id="{F7B6191D-F2C4-774D-64F6-134EF479964B}"/>
              </a:ext>
            </a:extLst>
          </p:cNvPr>
          <p:cNvSpPr/>
          <p:nvPr/>
        </p:nvSpPr>
        <p:spPr>
          <a:xfrm>
            <a:off x="10033000" y="4953000"/>
            <a:ext cx="1524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Transaction B</a:t>
            </a:r>
          </a:p>
        </p:txBody>
      </p:sp>
      <p:cxnSp>
        <p:nvCxnSpPr>
          <p:cNvPr id="14" name="Straight Connector 13">
            <a:extLst>
              <a:ext uri="{FF2B5EF4-FFF2-40B4-BE49-F238E27FC236}">
                <a16:creationId xmlns:a16="http://schemas.microsoft.com/office/drawing/2014/main" id="{56C00877-3B7F-85B4-8431-0C2CD4EDDACF}"/>
              </a:ext>
            </a:extLst>
          </p:cNvPr>
          <p:cNvCxnSpPr/>
          <p:nvPr/>
        </p:nvCxnSpPr>
        <p:spPr>
          <a:xfrm>
            <a:off x="9525000" y="2603500"/>
            <a:ext cx="444500" cy="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8F8FBA2E-9D5A-25D4-1AEB-7CB123C6A436}"/>
              </a:ext>
            </a:extLst>
          </p:cNvPr>
          <p:cNvCxnSpPr/>
          <p:nvPr/>
        </p:nvCxnSpPr>
        <p:spPr>
          <a:xfrm flipH="1">
            <a:off x="10477500" y="2921000"/>
            <a:ext cx="317500" cy="5715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A889405-644F-A310-29FE-62FEE308F194}"/>
              </a:ext>
            </a:extLst>
          </p:cNvPr>
          <p:cNvCxnSpPr/>
          <p:nvPr/>
        </p:nvCxnSpPr>
        <p:spPr>
          <a:xfrm>
            <a:off x="9525000" y="5270500"/>
            <a:ext cx="444500" cy="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255CBB9-7081-43E1-F680-D4DD27B1E679}"/>
              </a:ext>
            </a:extLst>
          </p:cNvPr>
          <p:cNvCxnSpPr/>
          <p:nvPr/>
        </p:nvCxnSpPr>
        <p:spPr>
          <a:xfrm flipH="1" flipV="1">
            <a:off x="10477500" y="4445000"/>
            <a:ext cx="317500" cy="5080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68ED8ABD-DA76-802E-42A9-E58D56FD1B07}"/>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Fabric Graph | Introductory overview | Documentation reviewed 08 Oct 2026</a:t>
            </a:r>
          </a:p>
        </p:txBody>
      </p:sp>
      <p:sp>
        <p:nvSpPr>
          <p:cNvPr id="19" name="TextBox 18">
            <a:extLst>
              <a:ext uri="{FF2B5EF4-FFF2-40B4-BE49-F238E27FC236}">
                <a16:creationId xmlns:a16="http://schemas.microsoft.com/office/drawing/2014/main" id="{194AD663-73DC-8EC8-C0E6-A8E9E369022E}"/>
              </a:ext>
            </a:extLst>
          </p:cNvPr>
          <p:cNvSpPr txBox="1"/>
          <p:nvPr/>
        </p:nvSpPr>
        <p:spPr>
          <a:xfrm>
            <a:off x="10922000" y="6413500"/>
            <a:ext cx="825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04 / 10</a:t>
            </a:r>
          </a:p>
        </p:txBody>
      </p:sp>
    </p:spTree>
    <p:extLst>
      <p:ext uri="{BB962C8B-B14F-4D97-AF65-F5344CB8AC3E}">
        <p14:creationId xmlns:p14="http://schemas.microsoft.com/office/powerpoint/2010/main" val="827577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03137B-026D-07D2-26C8-4FF5373B1393}"/>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B3D6E24-2688-8C5F-46BA-908C179E39EB}"/>
              </a:ext>
            </a:extLst>
          </p:cNvPr>
          <p:cNvSpPr txBox="1"/>
          <p:nvPr/>
        </p:nvSpPr>
        <p:spPr>
          <a:xfrm>
            <a:off x="609600" y="381000"/>
            <a:ext cx="8890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CONNECTED INSIGHTS</a:t>
            </a:r>
          </a:p>
        </p:txBody>
      </p:sp>
      <p:sp>
        <p:nvSpPr>
          <p:cNvPr id="4" name="TextBox 3">
            <a:extLst>
              <a:ext uri="{FF2B5EF4-FFF2-40B4-BE49-F238E27FC236}">
                <a16:creationId xmlns:a16="http://schemas.microsoft.com/office/drawing/2014/main" id="{03ADDB17-2160-3B28-7B17-CBC919870B21}"/>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How Fabric Graph Works</a:t>
            </a:r>
          </a:p>
        </p:txBody>
      </p:sp>
      <p:sp>
        <p:nvSpPr>
          <p:cNvPr id="5" name="TextBox 4">
            <a:extLst>
              <a:ext uri="{FF2B5EF4-FFF2-40B4-BE49-F238E27FC236}">
                <a16:creationId xmlns:a16="http://schemas.microsoft.com/office/drawing/2014/main" id="{B49AC8FF-FAD1-2812-128A-AD06922ED528}"/>
              </a:ext>
            </a:extLst>
          </p:cNvPr>
          <p:cNvSpPr txBox="1"/>
          <p:nvPr/>
        </p:nvSpPr>
        <p:spPr>
          <a:xfrm>
            <a:off x="609600" y="1879600"/>
            <a:ext cx="6731000" cy="615553"/>
          </a:xfrm>
          <a:prstGeom prst="rect">
            <a:avLst/>
          </a:prstGeom>
          <a:noFill/>
        </p:spPr>
        <p:txBody>
          <a:bodyPr vert="horz" wrap="square" lIns="0" tIns="0" rIns="0" bIns="0" rtlCol="0">
            <a:spAutoFit/>
          </a:bodyPr>
          <a:lstStyle/>
          <a:p>
            <a:pPr>
              <a:spcAft>
                <a:spcPts val="500"/>
              </a:spcAft>
            </a:pPr>
            <a:r>
              <a:rPr lang="en-US" sz="2000" b="1">
                <a:solidFill>
                  <a:srgbClr val="282425"/>
                </a:solidFill>
                <a:latin typeface="Aptos" panose="020B0004020202020204" pitchFamily="34" charset="0"/>
              </a:rPr>
              <a:t>Source tables -&gt; Define nodes and edges -&gt; Save / refresh -&gt; Explore</a:t>
            </a:r>
          </a:p>
        </p:txBody>
      </p:sp>
      <p:sp>
        <p:nvSpPr>
          <p:cNvPr id="6" name="TextBox 5">
            <a:extLst>
              <a:ext uri="{FF2B5EF4-FFF2-40B4-BE49-F238E27FC236}">
                <a16:creationId xmlns:a16="http://schemas.microsoft.com/office/drawing/2014/main" id="{07B4C3C4-44AE-0EDA-2318-0EE81E5EAFA5}"/>
              </a:ext>
            </a:extLst>
          </p:cNvPr>
          <p:cNvSpPr txBox="1"/>
          <p:nvPr/>
        </p:nvSpPr>
        <p:spPr>
          <a:xfrm>
            <a:off x="609600" y="2717800"/>
            <a:ext cx="6731000" cy="1692771"/>
          </a:xfrm>
          <a:prstGeom prst="rect">
            <a:avLst/>
          </a:prstGeom>
          <a:noFill/>
        </p:spPr>
        <p:txBody>
          <a:bodyPr vert="horz" wrap="square" lIns="0" tIns="0" rIns="0" bIns="0" rtlCol="0">
            <a:spAutoFit/>
          </a:bodyPr>
          <a:lstStyle/>
          <a:p>
            <a:pPr>
              <a:spcAft>
                <a:spcPts val="1200"/>
              </a:spcAft>
            </a:pPr>
            <a:r>
              <a:rPr lang="en-US" sz="2000">
                <a:solidFill>
                  <a:srgbClr val="282425"/>
                </a:solidFill>
                <a:latin typeface="Aptos" panose="020B0004020202020204" pitchFamily="34" charset="0"/>
              </a:rPr>
              <a:t>Select supported source tables in Fabric.</a:t>
            </a:r>
          </a:p>
          <a:p>
            <a:pPr>
              <a:spcAft>
                <a:spcPts val="1200"/>
              </a:spcAft>
            </a:pPr>
            <a:r>
              <a:rPr lang="en-US" sz="2000">
                <a:solidFill>
                  <a:srgbClr val="282425"/>
                </a:solidFill>
                <a:latin typeface="Aptos" panose="020B0004020202020204" pitchFamily="34" charset="0"/>
              </a:rPr>
              <a:t>Map table rows and keys to nodes and relationships.</a:t>
            </a:r>
          </a:p>
          <a:p>
            <a:pPr>
              <a:spcAft>
                <a:spcPts val="1200"/>
              </a:spcAft>
            </a:pPr>
            <a:r>
              <a:rPr lang="en-US" sz="2000">
                <a:solidFill>
                  <a:srgbClr val="282425"/>
                </a:solidFill>
                <a:latin typeface="Aptos" panose="020B0004020202020204" pitchFamily="34" charset="0"/>
              </a:rPr>
              <a:t>Save the model to load data and build the queryable graph.</a:t>
            </a:r>
          </a:p>
          <a:p>
            <a:pPr>
              <a:spcAft>
                <a:spcPts val="1200"/>
              </a:spcAft>
            </a:pPr>
            <a:r>
              <a:rPr lang="en-US" sz="2000">
                <a:solidFill>
                  <a:srgbClr val="282425"/>
                </a:solidFill>
                <a:latin typeface="Aptos" panose="020B0004020202020204" pitchFamily="34" charset="0"/>
              </a:rPr>
              <a:t>Refresh the graph when source data changes.</a:t>
            </a:r>
          </a:p>
        </p:txBody>
      </p:sp>
      <p:sp>
        <p:nvSpPr>
          <p:cNvPr id="7" name="TextBox 6">
            <a:extLst>
              <a:ext uri="{FF2B5EF4-FFF2-40B4-BE49-F238E27FC236}">
                <a16:creationId xmlns:a16="http://schemas.microsoft.com/office/drawing/2014/main" id="{5DA4C1D9-6B6A-C4A2-A2A6-E51E60F785CA}"/>
              </a:ext>
            </a:extLst>
          </p:cNvPr>
          <p:cNvSpPr txBox="1"/>
          <p:nvPr/>
        </p:nvSpPr>
        <p:spPr>
          <a:xfrm>
            <a:off x="8128000" y="1739900"/>
            <a:ext cx="3454400" cy="153888"/>
          </a:xfrm>
          <a:prstGeom prst="rect">
            <a:avLst/>
          </a:prstGeom>
          <a:noFill/>
        </p:spPr>
        <p:txBody>
          <a:bodyPr vert="horz" wrap="square" lIns="0" tIns="0" rIns="0" bIns="0" rtlCol="0">
            <a:spAutoFit/>
          </a:bodyPr>
          <a:lstStyle/>
          <a:p>
            <a:pPr>
              <a:spcAft>
                <a:spcPts val="500"/>
              </a:spcAft>
            </a:pPr>
            <a:r>
              <a:rPr lang="en-US" sz="1000" b="1">
                <a:solidFill>
                  <a:srgbClr val="5E6170"/>
                </a:solidFill>
                <a:latin typeface="Aptos" panose="020B0004020202020204" pitchFamily="34" charset="0"/>
              </a:rPr>
              <a:t>ILLUSTRATIVE CONCEPT</a:t>
            </a:r>
          </a:p>
        </p:txBody>
      </p:sp>
      <p:sp>
        <p:nvSpPr>
          <p:cNvPr id="8" name="Rectangle 7">
            <a:extLst>
              <a:ext uri="{FF2B5EF4-FFF2-40B4-BE49-F238E27FC236}">
                <a16:creationId xmlns:a16="http://schemas.microsoft.com/office/drawing/2014/main" id="{43FFE22C-4229-D533-EFE5-D2C88D188427}"/>
              </a:ext>
            </a:extLst>
          </p:cNvPr>
          <p:cNvSpPr/>
          <p:nvPr/>
        </p:nvSpPr>
        <p:spPr>
          <a:xfrm>
            <a:off x="8255000" y="2324100"/>
            <a:ext cx="2921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Source tables</a:t>
            </a:r>
          </a:p>
        </p:txBody>
      </p:sp>
      <p:cxnSp>
        <p:nvCxnSpPr>
          <p:cNvPr id="9" name="Straight Connector 8">
            <a:extLst>
              <a:ext uri="{FF2B5EF4-FFF2-40B4-BE49-F238E27FC236}">
                <a16:creationId xmlns:a16="http://schemas.microsoft.com/office/drawing/2014/main" id="{1ADD1C63-C3FE-4085-1E59-390311CA51FE}"/>
              </a:ext>
            </a:extLst>
          </p:cNvPr>
          <p:cNvCxnSpPr/>
          <p:nvPr/>
        </p:nvCxnSpPr>
        <p:spPr>
          <a:xfrm>
            <a:off x="9715500" y="2959100"/>
            <a:ext cx="0" cy="2540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C8246004-0AF1-4696-293F-7F78762C78D8}"/>
              </a:ext>
            </a:extLst>
          </p:cNvPr>
          <p:cNvSpPr/>
          <p:nvPr/>
        </p:nvSpPr>
        <p:spPr>
          <a:xfrm>
            <a:off x="8255000" y="3276600"/>
            <a:ext cx="2921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Nodes and edges</a:t>
            </a:r>
          </a:p>
        </p:txBody>
      </p:sp>
      <p:cxnSp>
        <p:nvCxnSpPr>
          <p:cNvPr id="11" name="Straight Connector 10">
            <a:extLst>
              <a:ext uri="{FF2B5EF4-FFF2-40B4-BE49-F238E27FC236}">
                <a16:creationId xmlns:a16="http://schemas.microsoft.com/office/drawing/2014/main" id="{99D5D865-73F1-81E4-50C1-88CF316FB743}"/>
              </a:ext>
            </a:extLst>
          </p:cNvPr>
          <p:cNvCxnSpPr/>
          <p:nvPr/>
        </p:nvCxnSpPr>
        <p:spPr>
          <a:xfrm>
            <a:off x="9715500" y="3911600"/>
            <a:ext cx="0" cy="2540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49843058-7407-48F7-39DA-A32708C97AF1}"/>
              </a:ext>
            </a:extLst>
          </p:cNvPr>
          <p:cNvSpPr/>
          <p:nvPr/>
        </p:nvSpPr>
        <p:spPr>
          <a:xfrm>
            <a:off x="8255000" y="4229100"/>
            <a:ext cx="2921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Save / refresh</a:t>
            </a:r>
          </a:p>
        </p:txBody>
      </p:sp>
      <p:cxnSp>
        <p:nvCxnSpPr>
          <p:cNvPr id="13" name="Straight Connector 12">
            <a:extLst>
              <a:ext uri="{FF2B5EF4-FFF2-40B4-BE49-F238E27FC236}">
                <a16:creationId xmlns:a16="http://schemas.microsoft.com/office/drawing/2014/main" id="{8D36850E-F3ED-E2F5-1F92-77951E34A73C}"/>
              </a:ext>
            </a:extLst>
          </p:cNvPr>
          <p:cNvCxnSpPr/>
          <p:nvPr/>
        </p:nvCxnSpPr>
        <p:spPr>
          <a:xfrm>
            <a:off x="9715500" y="4864100"/>
            <a:ext cx="0" cy="2540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365AF02A-37BA-5334-8A3B-9FCECF0A6A02}"/>
              </a:ext>
            </a:extLst>
          </p:cNvPr>
          <p:cNvSpPr/>
          <p:nvPr/>
        </p:nvSpPr>
        <p:spPr>
          <a:xfrm>
            <a:off x="8255000" y="5181600"/>
            <a:ext cx="2921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Explore</a:t>
            </a:r>
          </a:p>
        </p:txBody>
      </p:sp>
      <p:sp>
        <p:nvSpPr>
          <p:cNvPr id="15" name="TextBox 14">
            <a:extLst>
              <a:ext uri="{FF2B5EF4-FFF2-40B4-BE49-F238E27FC236}">
                <a16:creationId xmlns:a16="http://schemas.microsoft.com/office/drawing/2014/main" id="{48378BB4-D978-4962-6883-AFB636221896}"/>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Fabric Graph | Introductory overview | Documentation reviewed 08 Oct 2026</a:t>
            </a:r>
          </a:p>
        </p:txBody>
      </p:sp>
      <p:sp>
        <p:nvSpPr>
          <p:cNvPr id="16" name="TextBox 15">
            <a:extLst>
              <a:ext uri="{FF2B5EF4-FFF2-40B4-BE49-F238E27FC236}">
                <a16:creationId xmlns:a16="http://schemas.microsoft.com/office/drawing/2014/main" id="{EF9A3798-2136-C48B-7B07-8A7313763D4E}"/>
              </a:ext>
            </a:extLst>
          </p:cNvPr>
          <p:cNvSpPr txBox="1"/>
          <p:nvPr/>
        </p:nvSpPr>
        <p:spPr>
          <a:xfrm>
            <a:off x="10922000" y="6413500"/>
            <a:ext cx="825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05 / 10</a:t>
            </a:r>
          </a:p>
        </p:txBody>
      </p:sp>
    </p:spTree>
    <p:extLst>
      <p:ext uri="{BB962C8B-B14F-4D97-AF65-F5344CB8AC3E}">
        <p14:creationId xmlns:p14="http://schemas.microsoft.com/office/powerpoint/2010/main" val="1988476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57404F-17CD-9EB5-E1CD-336F9203410F}"/>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CA4B915-F0F3-8EA2-EC6B-9BF3B34E2EC6}"/>
              </a:ext>
            </a:extLst>
          </p:cNvPr>
          <p:cNvSpPr txBox="1"/>
          <p:nvPr/>
        </p:nvSpPr>
        <p:spPr>
          <a:xfrm>
            <a:off x="609600" y="381000"/>
            <a:ext cx="8890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CONNECTED INSIGHTS</a:t>
            </a:r>
          </a:p>
        </p:txBody>
      </p:sp>
      <p:sp>
        <p:nvSpPr>
          <p:cNvPr id="4" name="TextBox 3">
            <a:extLst>
              <a:ext uri="{FF2B5EF4-FFF2-40B4-BE49-F238E27FC236}">
                <a16:creationId xmlns:a16="http://schemas.microsoft.com/office/drawing/2014/main" id="{F1343432-7D35-D0EE-E355-70705CEFDA66}"/>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How Do Users Explore a Graph?</a:t>
            </a:r>
          </a:p>
        </p:txBody>
      </p:sp>
      <p:sp>
        <p:nvSpPr>
          <p:cNvPr id="5" name="TextBox 4">
            <a:extLst>
              <a:ext uri="{FF2B5EF4-FFF2-40B4-BE49-F238E27FC236}">
                <a16:creationId xmlns:a16="http://schemas.microsoft.com/office/drawing/2014/main" id="{00861DD2-D2CC-B8F9-5B0D-7F5ECB4E5F0F}"/>
              </a:ext>
            </a:extLst>
          </p:cNvPr>
          <p:cNvSpPr txBox="1"/>
          <p:nvPr/>
        </p:nvSpPr>
        <p:spPr>
          <a:xfrm>
            <a:off x="609600" y="1879600"/>
            <a:ext cx="6731000" cy="2616101"/>
          </a:xfrm>
          <a:prstGeom prst="rect">
            <a:avLst/>
          </a:prstGeom>
          <a:noFill/>
        </p:spPr>
        <p:txBody>
          <a:bodyPr vert="horz" wrap="square" lIns="0" tIns="0" rIns="0" bIns="0" rtlCol="0">
            <a:spAutoFit/>
          </a:bodyPr>
          <a:lstStyle/>
          <a:p>
            <a:pPr>
              <a:spcAft>
                <a:spcPts val="1200"/>
              </a:spcAft>
            </a:pPr>
            <a:r>
              <a:rPr lang="en-US" sz="2000">
                <a:solidFill>
                  <a:srgbClr val="282425"/>
                </a:solidFill>
                <a:latin typeface="Aptos" panose="020B0004020202020204" pitchFamily="34" charset="0"/>
              </a:rPr>
              <a:t>Visual query builder: select entities and connections without writing queries.</a:t>
            </a:r>
          </a:p>
          <a:p>
            <a:pPr>
              <a:spcAft>
                <a:spcPts val="1200"/>
              </a:spcAft>
            </a:pPr>
            <a:r>
              <a:rPr lang="en-US" sz="2000">
                <a:solidFill>
                  <a:srgbClr val="282425"/>
                </a:solidFill>
                <a:latin typeface="Aptos" panose="020B0004020202020204" pitchFamily="34" charset="0"/>
              </a:rPr>
              <a:t>GQL code editor: describe relationship patterns using Graph Query Language.</a:t>
            </a:r>
          </a:p>
          <a:p>
            <a:pPr>
              <a:spcAft>
                <a:spcPts val="1200"/>
              </a:spcAft>
            </a:pPr>
            <a:r>
              <a:rPr lang="en-US" sz="2000">
                <a:solidFill>
                  <a:srgbClr val="282425"/>
                </a:solidFill>
                <a:latin typeface="Aptos" panose="020B0004020202020204" pitchFamily="34" charset="0"/>
              </a:rPr>
              <a:t>Results: inspect connected diagrams or tabular answers.</a:t>
            </a:r>
          </a:p>
          <a:p>
            <a:pPr>
              <a:spcAft>
                <a:spcPts val="1200"/>
              </a:spcAft>
            </a:pPr>
            <a:r>
              <a:rPr lang="en-US" sz="2000">
                <a:solidFill>
                  <a:srgbClr val="282425"/>
                </a:solidFill>
                <a:latin typeface="Aptos" panose="020B0004020202020204" pitchFamily="34" charset="0"/>
              </a:rPr>
              <a:t>Fabric Data Agent, preview: ask natural-language questions over a graph.</a:t>
            </a:r>
          </a:p>
        </p:txBody>
      </p:sp>
      <p:sp>
        <p:nvSpPr>
          <p:cNvPr id="6" name="TextBox 5">
            <a:extLst>
              <a:ext uri="{FF2B5EF4-FFF2-40B4-BE49-F238E27FC236}">
                <a16:creationId xmlns:a16="http://schemas.microsoft.com/office/drawing/2014/main" id="{1D4F59C5-21B2-EB80-8729-CD9828EB5C21}"/>
              </a:ext>
            </a:extLst>
          </p:cNvPr>
          <p:cNvSpPr txBox="1"/>
          <p:nvPr/>
        </p:nvSpPr>
        <p:spPr>
          <a:xfrm>
            <a:off x="8128000" y="1739900"/>
            <a:ext cx="3454400" cy="153888"/>
          </a:xfrm>
          <a:prstGeom prst="rect">
            <a:avLst/>
          </a:prstGeom>
          <a:noFill/>
        </p:spPr>
        <p:txBody>
          <a:bodyPr vert="horz" wrap="square" lIns="0" tIns="0" rIns="0" bIns="0" rtlCol="0">
            <a:spAutoFit/>
          </a:bodyPr>
          <a:lstStyle/>
          <a:p>
            <a:pPr>
              <a:spcAft>
                <a:spcPts val="500"/>
              </a:spcAft>
            </a:pPr>
            <a:r>
              <a:rPr lang="en-US" sz="1000" b="1">
                <a:solidFill>
                  <a:srgbClr val="5E6170"/>
                </a:solidFill>
                <a:latin typeface="Aptos" panose="020B0004020202020204" pitchFamily="34" charset="0"/>
              </a:rPr>
              <a:t>ILLUSTRATIVE CONCEPT</a:t>
            </a:r>
          </a:p>
        </p:txBody>
      </p:sp>
      <p:sp>
        <p:nvSpPr>
          <p:cNvPr id="7" name="Rectangle 6">
            <a:extLst>
              <a:ext uri="{FF2B5EF4-FFF2-40B4-BE49-F238E27FC236}">
                <a16:creationId xmlns:a16="http://schemas.microsoft.com/office/drawing/2014/main" id="{617CAF43-1191-38FD-CD99-9BE27E548B74}"/>
              </a:ext>
            </a:extLst>
          </p:cNvPr>
          <p:cNvSpPr/>
          <p:nvPr/>
        </p:nvSpPr>
        <p:spPr>
          <a:xfrm>
            <a:off x="8191500" y="2349500"/>
            <a:ext cx="3111500" cy="6985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Visual query builder</a:t>
            </a:r>
          </a:p>
        </p:txBody>
      </p:sp>
      <p:sp>
        <p:nvSpPr>
          <p:cNvPr id="8" name="Rectangle 7">
            <a:extLst>
              <a:ext uri="{FF2B5EF4-FFF2-40B4-BE49-F238E27FC236}">
                <a16:creationId xmlns:a16="http://schemas.microsoft.com/office/drawing/2014/main" id="{4991DC25-77E1-2480-1EA6-50AE2D4961FA}"/>
              </a:ext>
            </a:extLst>
          </p:cNvPr>
          <p:cNvSpPr/>
          <p:nvPr/>
        </p:nvSpPr>
        <p:spPr>
          <a:xfrm>
            <a:off x="8191500" y="3556000"/>
            <a:ext cx="3111500" cy="6985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GQL code editor</a:t>
            </a:r>
          </a:p>
        </p:txBody>
      </p:sp>
      <p:sp>
        <p:nvSpPr>
          <p:cNvPr id="9" name="Rectangle 8">
            <a:extLst>
              <a:ext uri="{FF2B5EF4-FFF2-40B4-BE49-F238E27FC236}">
                <a16:creationId xmlns:a16="http://schemas.microsoft.com/office/drawing/2014/main" id="{9C3C588C-167F-52CB-A4E8-0CFC8A2A2C3E}"/>
              </a:ext>
            </a:extLst>
          </p:cNvPr>
          <p:cNvSpPr/>
          <p:nvPr/>
        </p:nvSpPr>
        <p:spPr>
          <a:xfrm>
            <a:off x="8191500" y="4762500"/>
            <a:ext cx="3111500" cy="8255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Natural language
Data Agent (preview)</a:t>
            </a:r>
          </a:p>
        </p:txBody>
      </p:sp>
      <p:sp>
        <p:nvSpPr>
          <p:cNvPr id="10" name="TextBox 9">
            <a:extLst>
              <a:ext uri="{FF2B5EF4-FFF2-40B4-BE49-F238E27FC236}">
                <a16:creationId xmlns:a16="http://schemas.microsoft.com/office/drawing/2014/main" id="{78CA0DB6-4985-9CD8-66D0-B83254858400}"/>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Fabric Graph | Introductory overview | Documentation reviewed 08 Oct 2026</a:t>
            </a:r>
          </a:p>
        </p:txBody>
      </p:sp>
      <p:sp>
        <p:nvSpPr>
          <p:cNvPr id="11" name="TextBox 10">
            <a:extLst>
              <a:ext uri="{FF2B5EF4-FFF2-40B4-BE49-F238E27FC236}">
                <a16:creationId xmlns:a16="http://schemas.microsoft.com/office/drawing/2014/main" id="{FD55D1A7-27F7-A926-4ACC-89E2FC82BC31}"/>
              </a:ext>
            </a:extLst>
          </p:cNvPr>
          <p:cNvSpPr txBox="1"/>
          <p:nvPr/>
        </p:nvSpPr>
        <p:spPr>
          <a:xfrm>
            <a:off x="10922000" y="6413500"/>
            <a:ext cx="825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06 / 10</a:t>
            </a:r>
          </a:p>
        </p:txBody>
      </p:sp>
    </p:spTree>
    <p:extLst>
      <p:ext uri="{BB962C8B-B14F-4D97-AF65-F5344CB8AC3E}">
        <p14:creationId xmlns:p14="http://schemas.microsoft.com/office/powerpoint/2010/main" val="231062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2590EE-9C0F-2777-410E-10DE661A3CFC}"/>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1C494C9-804E-6424-2E9B-08EA67F19D85}"/>
              </a:ext>
            </a:extLst>
          </p:cNvPr>
          <p:cNvSpPr txBox="1"/>
          <p:nvPr/>
        </p:nvSpPr>
        <p:spPr>
          <a:xfrm>
            <a:off x="609600" y="381000"/>
            <a:ext cx="8890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CONNECTED INSIGHTS</a:t>
            </a:r>
          </a:p>
        </p:txBody>
      </p:sp>
      <p:sp>
        <p:nvSpPr>
          <p:cNvPr id="4" name="TextBox 3">
            <a:extLst>
              <a:ext uri="{FF2B5EF4-FFF2-40B4-BE49-F238E27FC236}">
                <a16:creationId xmlns:a16="http://schemas.microsoft.com/office/drawing/2014/main" id="{BB148772-852C-0751-DB84-837F019502CC}"/>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Where Can Graphs Be Useful?</a:t>
            </a:r>
          </a:p>
        </p:txBody>
      </p:sp>
      <p:graphicFrame>
        <p:nvGraphicFramePr>
          <p:cNvPr id="5" name="Table 4">
            <a:extLst>
              <a:ext uri="{FF2B5EF4-FFF2-40B4-BE49-F238E27FC236}">
                <a16:creationId xmlns:a16="http://schemas.microsoft.com/office/drawing/2014/main" id="{79D9C994-E9DF-5CF6-4677-4F25ABF5E5B9}"/>
              </a:ext>
            </a:extLst>
          </p:cNvPr>
          <p:cNvGraphicFramePr>
            <a:graphicFrameLocks noGrp="1"/>
          </p:cNvGraphicFramePr>
          <p:nvPr>
            <p:extLst>
              <p:ext uri="{D42A27DB-BD31-4B8C-83A1-F6EECF244321}">
                <p14:modId xmlns:p14="http://schemas.microsoft.com/office/powerpoint/2010/main" val="4253782957"/>
              </p:ext>
            </p:extLst>
          </p:nvPr>
        </p:nvGraphicFramePr>
        <p:xfrm>
          <a:off x="609600" y="1841500"/>
          <a:ext cx="10972800" cy="43180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418073474"/>
                    </a:ext>
                  </a:extLst>
                </a:gridCol>
                <a:gridCol w="7543800">
                  <a:extLst>
                    <a:ext uri="{9D8B030D-6E8A-4147-A177-3AD203B41FA5}">
                      <a16:colId xmlns:a16="http://schemas.microsoft.com/office/drawing/2014/main" val="1385238657"/>
                    </a:ext>
                  </a:extLst>
                </a:gridCol>
              </a:tblGrid>
              <a:tr h="616857">
                <a:tc>
                  <a:txBody>
                    <a:bodyPr/>
                    <a:lstStyle/>
                    <a:p>
                      <a:r>
                        <a:rPr lang="en-US" sz="1700" b="1">
                          <a:solidFill>
                            <a:srgbClr val="FFFFFF"/>
                          </a:solidFill>
                          <a:latin typeface="Aptos" panose="020B0004020202020204" pitchFamily="34" charset="0"/>
                        </a:rPr>
                        <a:t>Use case</a:t>
                      </a:r>
                    </a:p>
                  </a:txBody>
                  <a:tcPr marL="203200" marR="203200" anchor="ctr">
                    <a:solidFill>
                      <a:srgbClr val="007873"/>
                    </a:solidFill>
                  </a:tcPr>
                </a:tc>
                <a:tc>
                  <a:txBody>
                    <a:bodyPr/>
                    <a:lstStyle/>
                    <a:p>
                      <a:r>
                        <a:rPr lang="en-US" sz="1700" b="1">
                          <a:solidFill>
                            <a:srgbClr val="FFFFFF"/>
                          </a:solidFill>
                          <a:latin typeface="Aptos" panose="020B0004020202020204" pitchFamily="34" charset="0"/>
                        </a:rPr>
                        <a:t>Example relationship question</a:t>
                      </a:r>
                    </a:p>
                  </a:txBody>
                  <a:tcPr marL="203200" marR="203200" anchor="ctr">
                    <a:solidFill>
                      <a:srgbClr val="007873"/>
                    </a:solidFill>
                  </a:tcPr>
                </a:tc>
                <a:extLst>
                  <a:ext uri="{0D108BD9-81ED-4DB2-BD59-A6C34878D82A}">
                    <a16:rowId xmlns:a16="http://schemas.microsoft.com/office/drawing/2014/main" val="1593580291"/>
                  </a:ext>
                </a:extLst>
              </a:tr>
              <a:tr h="616857">
                <a:tc>
                  <a:txBody>
                    <a:bodyPr/>
                    <a:lstStyle/>
                    <a:p>
                      <a:r>
                        <a:rPr lang="en-US" sz="1700" b="0">
                          <a:solidFill>
                            <a:srgbClr val="282425"/>
                          </a:solidFill>
                          <a:latin typeface="Aptos" panose="020B0004020202020204" pitchFamily="34" charset="0"/>
                        </a:rPr>
                        <a:t>Fraud and risk investigation</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Which accounts share transactions, merchants, or devices?</a:t>
                      </a:r>
                    </a:p>
                  </a:txBody>
                  <a:tcPr marL="203200" marR="203200" anchor="ctr">
                    <a:solidFill>
                      <a:srgbClr val="F0F5F9"/>
                    </a:solidFill>
                  </a:tcPr>
                </a:tc>
                <a:extLst>
                  <a:ext uri="{0D108BD9-81ED-4DB2-BD59-A6C34878D82A}">
                    <a16:rowId xmlns:a16="http://schemas.microsoft.com/office/drawing/2014/main" val="156576805"/>
                  </a:ext>
                </a:extLst>
              </a:tr>
              <a:tr h="616857">
                <a:tc>
                  <a:txBody>
                    <a:bodyPr/>
                    <a:lstStyle/>
                    <a:p>
                      <a:r>
                        <a:rPr lang="en-US" sz="1700" b="0">
                          <a:solidFill>
                            <a:srgbClr val="282425"/>
                          </a:solidFill>
                          <a:latin typeface="Aptos" panose="020B0004020202020204" pitchFamily="34" charset="0"/>
                        </a:rPr>
                        <a:t>Customer understanding</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How are customers connected to products and interactions?</a:t>
                      </a:r>
                    </a:p>
                  </a:txBody>
                  <a:tcPr marL="203200" marR="203200" anchor="ctr">
                    <a:solidFill>
                      <a:srgbClr val="F0F5F9"/>
                    </a:solidFill>
                  </a:tcPr>
                </a:tc>
                <a:extLst>
                  <a:ext uri="{0D108BD9-81ED-4DB2-BD59-A6C34878D82A}">
                    <a16:rowId xmlns:a16="http://schemas.microsoft.com/office/drawing/2014/main" val="125202040"/>
                  </a:ext>
                </a:extLst>
              </a:tr>
              <a:tr h="616857">
                <a:tc>
                  <a:txBody>
                    <a:bodyPr/>
                    <a:lstStyle/>
                    <a:p>
                      <a:r>
                        <a:rPr lang="en-US" sz="1700" b="0">
                          <a:solidFill>
                            <a:srgbClr val="282425"/>
                          </a:solidFill>
                          <a:latin typeface="Aptos" panose="020B0004020202020204" pitchFamily="34" charset="0"/>
                        </a:rPr>
                        <a:t>Recommendations</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What products connect to similar customers' purchases?</a:t>
                      </a:r>
                    </a:p>
                  </a:txBody>
                  <a:tcPr marL="203200" marR="203200" anchor="ctr">
                    <a:solidFill>
                      <a:srgbClr val="F0F5F9"/>
                    </a:solidFill>
                  </a:tcPr>
                </a:tc>
                <a:extLst>
                  <a:ext uri="{0D108BD9-81ED-4DB2-BD59-A6C34878D82A}">
                    <a16:rowId xmlns:a16="http://schemas.microsoft.com/office/drawing/2014/main" val="3955138012"/>
                  </a:ext>
                </a:extLst>
              </a:tr>
              <a:tr h="616857">
                <a:tc>
                  <a:txBody>
                    <a:bodyPr/>
                    <a:lstStyle/>
                    <a:p>
                      <a:r>
                        <a:rPr lang="en-US" sz="1700" b="0">
                          <a:solidFill>
                            <a:srgbClr val="282425"/>
                          </a:solidFill>
                          <a:latin typeface="Aptos" panose="020B0004020202020204" pitchFamily="34" charset="0"/>
                        </a:rPr>
                        <a:t>Supply chain analysis</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Which products depend on a disrupted supplier?</a:t>
                      </a:r>
                    </a:p>
                  </a:txBody>
                  <a:tcPr marL="203200" marR="203200" anchor="ctr">
                    <a:solidFill>
                      <a:srgbClr val="F0F5F9"/>
                    </a:solidFill>
                  </a:tcPr>
                </a:tc>
                <a:extLst>
                  <a:ext uri="{0D108BD9-81ED-4DB2-BD59-A6C34878D82A}">
                    <a16:rowId xmlns:a16="http://schemas.microsoft.com/office/drawing/2014/main" val="580663616"/>
                  </a:ext>
                </a:extLst>
              </a:tr>
              <a:tr h="616857">
                <a:tc>
                  <a:txBody>
                    <a:bodyPr/>
                    <a:lstStyle/>
                    <a:p>
                      <a:r>
                        <a:rPr lang="en-US" sz="1700" b="0">
                          <a:solidFill>
                            <a:srgbClr val="282425"/>
                          </a:solidFill>
                          <a:latin typeface="Aptos" panose="020B0004020202020204" pitchFamily="34" charset="0"/>
                        </a:rPr>
                        <a:t>IT dependency analysis</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Which services could be affected by a component failure?</a:t>
                      </a:r>
                    </a:p>
                  </a:txBody>
                  <a:tcPr marL="203200" marR="203200" anchor="ctr">
                    <a:solidFill>
                      <a:srgbClr val="F0F5F9"/>
                    </a:solidFill>
                  </a:tcPr>
                </a:tc>
                <a:extLst>
                  <a:ext uri="{0D108BD9-81ED-4DB2-BD59-A6C34878D82A}">
                    <a16:rowId xmlns:a16="http://schemas.microsoft.com/office/drawing/2014/main" val="1182754422"/>
                  </a:ext>
                </a:extLst>
              </a:tr>
              <a:tr h="616857">
                <a:tc>
                  <a:txBody>
                    <a:bodyPr/>
                    <a:lstStyle/>
                    <a:p>
                      <a:r>
                        <a:rPr lang="en-US" sz="1700" b="0">
                          <a:solidFill>
                            <a:srgbClr val="282425"/>
                          </a:solidFill>
                          <a:latin typeface="Aptos" panose="020B0004020202020204" pitchFamily="34" charset="0"/>
                        </a:rPr>
                        <a:t>Knowledge assistants</a:t>
                      </a:r>
                    </a:p>
                  </a:txBody>
                  <a:tcPr marL="203200" marR="203200" anchor="ctr">
                    <a:solidFill>
                      <a:srgbClr val="F0F5F9"/>
                    </a:solidFill>
                  </a:tcPr>
                </a:tc>
                <a:tc>
                  <a:txBody>
                    <a:bodyPr/>
                    <a:lstStyle/>
                    <a:p>
                      <a:r>
                        <a:rPr lang="en-US" sz="1700" b="0">
                          <a:solidFill>
                            <a:srgbClr val="282425"/>
                          </a:solidFill>
                          <a:latin typeface="Aptos" panose="020B0004020202020204" pitchFamily="34" charset="0"/>
                        </a:rPr>
                        <a:t>What connected facts help answer a multi-step question?</a:t>
                      </a:r>
                    </a:p>
                  </a:txBody>
                  <a:tcPr marL="203200" marR="203200" anchor="ctr">
                    <a:solidFill>
                      <a:srgbClr val="F0F5F9"/>
                    </a:solidFill>
                  </a:tcPr>
                </a:tc>
                <a:extLst>
                  <a:ext uri="{0D108BD9-81ED-4DB2-BD59-A6C34878D82A}">
                    <a16:rowId xmlns:a16="http://schemas.microsoft.com/office/drawing/2014/main" val="492046625"/>
                  </a:ext>
                </a:extLst>
              </a:tr>
            </a:tbl>
          </a:graphicData>
        </a:graphic>
      </p:graphicFrame>
      <p:sp>
        <p:nvSpPr>
          <p:cNvPr id="6" name="TextBox 5">
            <a:extLst>
              <a:ext uri="{FF2B5EF4-FFF2-40B4-BE49-F238E27FC236}">
                <a16:creationId xmlns:a16="http://schemas.microsoft.com/office/drawing/2014/main" id="{15EF2341-5EF4-45DE-C6E8-3A28485121BF}"/>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Fabric Graph | Introductory overview | Documentation reviewed 08 Oct 2026</a:t>
            </a:r>
          </a:p>
        </p:txBody>
      </p:sp>
      <p:sp>
        <p:nvSpPr>
          <p:cNvPr id="7" name="TextBox 6">
            <a:extLst>
              <a:ext uri="{FF2B5EF4-FFF2-40B4-BE49-F238E27FC236}">
                <a16:creationId xmlns:a16="http://schemas.microsoft.com/office/drawing/2014/main" id="{0AE05D72-4F59-06DD-CDBB-091B779AAEE8}"/>
              </a:ext>
            </a:extLst>
          </p:cNvPr>
          <p:cNvSpPr txBox="1"/>
          <p:nvPr/>
        </p:nvSpPr>
        <p:spPr>
          <a:xfrm>
            <a:off x="10922000" y="6413500"/>
            <a:ext cx="825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07 / 10</a:t>
            </a:r>
          </a:p>
        </p:txBody>
      </p:sp>
    </p:spTree>
    <p:extLst>
      <p:ext uri="{BB962C8B-B14F-4D97-AF65-F5344CB8AC3E}">
        <p14:creationId xmlns:p14="http://schemas.microsoft.com/office/powerpoint/2010/main" val="985440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927A136-8822-DE0B-3A06-45A2C6877C47}"/>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4930976-55E7-EE63-8283-B8B85E718064}"/>
              </a:ext>
            </a:extLst>
          </p:cNvPr>
          <p:cNvSpPr txBox="1"/>
          <p:nvPr/>
        </p:nvSpPr>
        <p:spPr>
          <a:xfrm>
            <a:off x="609600" y="381000"/>
            <a:ext cx="8890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CONNECTED INSIGHTS</a:t>
            </a:r>
          </a:p>
        </p:txBody>
      </p:sp>
      <p:sp>
        <p:nvSpPr>
          <p:cNvPr id="4" name="TextBox 3">
            <a:extLst>
              <a:ext uri="{FF2B5EF4-FFF2-40B4-BE49-F238E27FC236}">
                <a16:creationId xmlns:a16="http://schemas.microsoft.com/office/drawing/2014/main" id="{4ABE849C-6717-438B-DE26-B1C94B40BA70}"/>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Example Use Case: Banking and Payments</a:t>
            </a:r>
          </a:p>
        </p:txBody>
      </p:sp>
      <p:sp>
        <p:nvSpPr>
          <p:cNvPr id="5" name="TextBox 4">
            <a:extLst>
              <a:ext uri="{FF2B5EF4-FFF2-40B4-BE49-F238E27FC236}">
                <a16:creationId xmlns:a16="http://schemas.microsoft.com/office/drawing/2014/main" id="{61A77987-4E95-81AD-91A6-5C15C38FDA1F}"/>
              </a:ext>
            </a:extLst>
          </p:cNvPr>
          <p:cNvSpPr txBox="1"/>
          <p:nvPr/>
        </p:nvSpPr>
        <p:spPr>
          <a:xfrm>
            <a:off x="609600" y="1879600"/>
            <a:ext cx="6731000" cy="615553"/>
          </a:xfrm>
          <a:prstGeom prst="rect">
            <a:avLst/>
          </a:prstGeom>
          <a:noFill/>
        </p:spPr>
        <p:txBody>
          <a:bodyPr vert="horz" wrap="square" lIns="0" tIns="0" rIns="0" bIns="0" rtlCol="0">
            <a:spAutoFit/>
          </a:bodyPr>
          <a:lstStyle/>
          <a:p>
            <a:pPr>
              <a:spcAft>
                <a:spcPts val="500"/>
              </a:spcAft>
            </a:pPr>
            <a:r>
              <a:rPr lang="en-US" sz="2000" b="1">
                <a:solidFill>
                  <a:srgbClr val="282425"/>
                </a:solidFill>
                <a:latin typeface="Aptos" panose="020B0004020202020204" pitchFamily="34" charset="0"/>
              </a:rPr>
              <a:t>Connect payments activity with a broader customer risk picture.</a:t>
            </a:r>
          </a:p>
        </p:txBody>
      </p:sp>
      <p:sp>
        <p:nvSpPr>
          <p:cNvPr id="6" name="TextBox 5">
            <a:extLst>
              <a:ext uri="{FF2B5EF4-FFF2-40B4-BE49-F238E27FC236}">
                <a16:creationId xmlns:a16="http://schemas.microsoft.com/office/drawing/2014/main" id="{23A8F036-2039-3E2A-8691-8DA9CAAF88C8}"/>
              </a:ext>
            </a:extLst>
          </p:cNvPr>
          <p:cNvSpPr txBox="1"/>
          <p:nvPr/>
        </p:nvSpPr>
        <p:spPr>
          <a:xfrm>
            <a:off x="609600" y="2717800"/>
            <a:ext cx="6731000" cy="2616101"/>
          </a:xfrm>
          <a:prstGeom prst="rect">
            <a:avLst/>
          </a:prstGeom>
          <a:noFill/>
        </p:spPr>
        <p:txBody>
          <a:bodyPr vert="horz" wrap="square" lIns="0" tIns="0" rIns="0" bIns="0" rtlCol="0">
            <a:spAutoFit/>
          </a:bodyPr>
          <a:lstStyle/>
          <a:p>
            <a:pPr>
              <a:spcAft>
                <a:spcPts val="1200"/>
              </a:spcAft>
            </a:pPr>
            <a:r>
              <a:rPr lang="en-US" sz="2000">
                <a:solidFill>
                  <a:srgbClr val="282425"/>
                </a:solidFill>
                <a:latin typeface="Aptos" panose="020B0004020202020204" pitchFamily="34" charset="0"/>
              </a:rPr>
              <a:t>Model customers, accounts, transactions, merchants, and loans.</a:t>
            </a:r>
          </a:p>
          <a:p>
            <a:pPr>
              <a:spcAft>
                <a:spcPts val="1200"/>
              </a:spcAft>
            </a:pPr>
            <a:r>
              <a:rPr lang="en-US" sz="2000">
                <a:solidFill>
                  <a:srgbClr val="282425"/>
                </a:solidFill>
                <a:latin typeface="Aptos" panose="020B0004020202020204" pitchFamily="34" charset="0"/>
              </a:rPr>
              <a:t>Follow customer connections to a merchant flagged for review.</a:t>
            </a:r>
          </a:p>
          <a:p>
            <a:pPr>
              <a:spcAft>
                <a:spcPts val="1200"/>
              </a:spcAft>
            </a:pPr>
            <a:r>
              <a:rPr lang="en-US" sz="2000">
                <a:solidFill>
                  <a:srgbClr val="282425"/>
                </a:solidFill>
                <a:latin typeface="Aptos" panose="020B0004020202020204" pitchFamily="34" charset="0"/>
              </a:rPr>
              <a:t>Identify customers who also have fraud alerts or loan delinquency records.</a:t>
            </a:r>
          </a:p>
          <a:p>
            <a:pPr>
              <a:spcAft>
                <a:spcPts val="1200"/>
              </a:spcAft>
            </a:pPr>
            <a:r>
              <a:rPr lang="en-US" sz="2000">
                <a:solidFill>
                  <a:srgbClr val="282425"/>
                </a:solidFill>
                <a:latin typeface="Aptos" panose="020B0004020202020204" pitchFamily="34" charset="0"/>
              </a:rPr>
              <a:t>Show the relationship path that supports an investigation.</a:t>
            </a:r>
          </a:p>
        </p:txBody>
      </p:sp>
      <p:sp>
        <p:nvSpPr>
          <p:cNvPr id="7" name="TextBox 6">
            <a:extLst>
              <a:ext uri="{FF2B5EF4-FFF2-40B4-BE49-F238E27FC236}">
                <a16:creationId xmlns:a16="http://schemas.microsoft.com/office/drawing/2014/main" id="{D20BF18D-B803-AEAA-A06F-4F2F41D74035}"/>
              </a:ext>
            </a:extLst>
          </p:cNvPr>
          <p:cNvSpPr txBox="1"/>
          <p:nvPr/>
        </p:nvSpPr>
        <p:spPr>
          <a:xfrm>
            <a:off x="8128000" y="1739900"/>
            <a:ext cx="3454400" cy="153888"/>
          </a:xfrm>
          <a:prstGeom prst="rect">
            <a:avLst/>
          </a:prstGeom>
          <a:noFill/>
        </p:spPr>
        <p:txBody>
          <a:bodyPr vert="horz" wrap="square" lIns="0" tIns="0" rIns="0" bIns="0" rtlCol="0">
            <a:spAutoFit/>
          </a:bodyPr>
          <a:lstStyle/>
          <a:p>
            <a:pPr>
              <a:spcAft>
                <a:spcPts val="500"/>
              </a:spcAft>
            </a:pPr>
            <a:r>
              <a:rPr lang="en-US" sz="1000" b="1">
                <a:solidFill>
                  <a:srgbClr val="5E6170"/>
                </a:solidFill>
                <a:latin typeface="Aptos" panose="020B0004020202020204" pitchFamily="34" charset="0"/>
              </a:rPr>
              <a:t>ILLUSTRATIVE CONCEPT</a:t>
            </a:r>
          </a:p>
        </p:txBody>
      </p:sp>
      <p:sp>
        <p:nvSpPr>
          <p:cNvPr id="8" name="Rectangle 7">
            <a:extLst>
              <a:ext uri="{FF2B5EF4-FFF2-40B4-BE49-F238E27FC236}">
                <a16:creationId xmlns:a16="http://schemas.microsoft.com/office/drawing/2014/main" id="{51157A57-3D53-A0AB-1855-DACD76552A2F}"/>
              </a:ext>
            </a:extLst>
          </p:cNvPr>
          <p:cNvSpPr/>
          <p:nvPr/>
        </p:nvSpPr>
        <p:spPr>
          <a:xfrm>
            <a:off x="9017000" y="2349500"/>
            <a:ext cx="1651000" cy="6985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FFFFFF"/>
                </a:solidFill>
                <a:latin typeface="Aptos" panose="020B0004020202020204" pitchFamily="34" charset="0"/>
              </a:rPr>
              <a:t>Customer</a:t>
            </a:r>
          </a:p>
        </p:txBody>
      </p:sp>
      <p:sp>
        <p:nvSpPr>
          <p:cNvPr id="9" name="Rectangle 8">
            <a:extLst>
              <a:ext uri="{FF2B5EF4-FFF2-40B4-BE49-F238E27FC236}">
                <a16:creationId xmlns:a16="http://schemas.microsoft.com/office/drawing/2014/main" id="{E9E59706-E535-93B4-375B-9D69908A9F9E}"/>
              </a:ext>
            </a:extLst>
          </p:cNvPr>
          <p:cNvSpPr/>
          <p:nvPr/>
        </p:nvSpPr>
        <p:spPr>
          <a:xfrm>
            <a:off x="7937500" y="3619500"/>
            <a:ext cx="1587500" cy="6985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Transaction</a:t>
            </a:r>
          </a:p>
        </p:txBody>
      </p:sp>
      <p:sp>
        <p:nvSpPr>
          <p:cNvPr id="10" name="Rectangle 9">
            <a:extLst>
              <a:ext uri="{FF2B5EF4-FFF2-40B4-BE49-F238E27FC236}">
                <a16:creationId xmlns:a16="http://schemas.microsoft.com/office/drawing/2014/main" id="{9FFDC699-CC77-9B39-783F-7CBE47889559}"/>
              </a:ext>
            </a:extLst>
          </p:cNvPr>
          <p:cNvSpPr/>
          <p:nvPr/>
        </p:nvSpPr>
        <p:spPr>
          <a:xfrm>
            <a:off x="10096500" y="3619500"/>
            <a:ext cx="1587500" cy="6985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Loan</a:t>
            </a:r>
          </a:p>
        </p:txBody>
      </p:sp>
      <p:sp>
        <p:nvSpPr>
          <p:cNvPr id="11" name="Rectangle 10">
            <a:extLst>
              <a:ext uri="{FF2B5EF4-FFF2-40B4-BE49-F238E27FC236}">
                <a16:creationId xmlns:a16="http://schemas.microsoft.com/office/drawing/2014/main" id="{3ACAB3B9-11BC-6F04-D3FE-CF57D24B096D}"/>
              </a:ext>
            </a:extLst>
          </p:cNvPr>
          <p:cNvSpPr/>
          <p:nvPr/>
        </p:nvSpPr>
        <p:spPr>
          <a:xfrm>
            <a:off x="7937500" y="5080000"/>
            <a:ext cx="1587500" cy="698500"/>
          </a:xfrm>
          <a:prstGeom prst="rect">
            <a:avLst/>
          </a:prstGeom>
          <a:solidFill>
            <a:srgbClr val="DFB1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Merchant</a:t>
            </a:r>
          </a:p>
        </p:txBody>
      </p:sp>
      <p:sp>
        <p:nvSpPr>
          <p:cNvPr id="12" name="Rectangle 11">
            <a:extLst>
              <a:ext uri="{FF2B5EF4-FFF2-40B4-BE49-F238E27FC236}">
                <a16:creationId xmlns:a16="http://schemas.microsoft.com/office/drawing/2014/main" id="{7B388162-F96C-AC77-516B-D9983C316487}"/>
              </a:ext>
            </a:extLst>
          </p:cNvPr>
          <p:cNvSpPr/>
          <p:nvPr/>
        </p:nvSpPr>
        <p:spPr>
          <a:xfrm>
            <a:off x="10096500" y="5080000"/>
            <a:ext cx="1587500" cy="698500"/>
          </a:xfrm>
          <a:prstGeom prst="rect">
            <a:avLst/>
          </a:prstGeom>
          <a:solidFill>
            <a:srgbClr val="DFB1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Delinquency
record</a:t>
            </a:r>
          </a:p>
        </p:txBody>
      </p:sp>
      <p:cxnSp>
        <p:nvCxnSpPr>
          <p:cNvPr id="13" name="Straight Connector 12">
            <a:extLst>
              <a:ext uri="{FF2B5EF4-FFF2-40B4-BE49-F238E27FC236}">
                <a16:creationId xmlns:a16="http://schemas.microsoft.com/office/drawing/2014/main" id="{74907F7F-728B-432F-99D5-D180C25DE5BA}"/>
              </a:ext>
            </a:extLst>
          </p:cNvPr>
          <p:cNvCxnSpPr/>
          <p:nvPr/>
        </p:nvCxnSpPr>
        <p:spPr>
          <a:xfrm flipH="1">
            <a:off x="8890000" y="3048000"/>
            <a:ext cx="482600" cy="5080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18D8FBA-D8D7-68FA-6E34-A4D120B258A3}"/>
              </a:ext>
            </a:extLst>
          </p:cNvPr>
          <p:cNvCxnSpPr/>
          <p:nvPr/>
        </p:nvCxnSpPr>
        <p:spPr>
          <a:xfrm>
            <a:off x="10261600" y="3048000"/>
            <a:ext cx="469900" cy="5080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3BE33C6-F66E-3E8C-89B7-1AB49262D605}"/>
              </a:ext>
            </a:extLst>
          </p:cNvPr>
          <p:cNvCxnSpPr/>
          <p:nvPr/>
        </p:nvCxnSpPr>
        <p:spPr>
          <a:xfrm>
            <a:off x="8724900" y="4318000"/>
            <a:ext cx="0" cy="6985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9B24083-4FE0-D0D2-1E45-2E8967CAB953}"/>
              </a:ext>
            </a:extLst>
          </p:cNvPr>
          <p:cNvCxnSpPr/>
          <p:nvPr/>
        </p:nvCxnSpPr>
        <p:spPr>
          <a:xfrm>
            <a:off x="10883900" y="4318000"/>
            <a:ext cx="0" cy="6985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50F67C3E-687A-32BC-283E-6504FE3F2CC1}"/>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Fabric Graph | Introductory overview | Documentation reviewed 08 Oct 2026</a:t>
            </a:r>
          </a:p>
        </p:txBody>
      </p:sp>
      <p:sp>
        <p:nvSpPr>
          <p:cNvPr id="18" name="TextBox 17">
            <a:extLst>
              <a:ext uri="{FF2B5EF4-FFF2-40B4-BE49-F238E27FC236}">
                <a16:creationId xmlns:a16="http://schemas.microsoft.com/office/drawing/2014/main" id="{5B655D73-C696-B587-2627-A3E3508D32BA}"/>
              </a:ext>
            </a:extLst>
          </p:cNvPr>
          <p:cNvSpPr txBox="1"/>
          <p:nvPr/>
        </p:nvSpPr>
        <p:spPr>
          <a:xfrm>
            <a:off x="10922000" y="6413500"/>
            <a:ext cx="825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08 / 10</a:t>
            </a:r>
          </a:p>
        </p:txBody>
      </p:sp>
    </p:spTree>
    <p:extLst>
      <p:ext uri="{BB962C8B-B14F-4D97-AF65-F5344CB8AC3E}">
        <p14:creationId xmlns:p14="http://schemas.microsoft.com/office/powerpoint/2010/main" val="1929540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4776B5-BB04-5768-8023-2D25E858B3E6}"/>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843271-74F7-4562-4B77-0988DA405B1D}"/>
              </a:ext>
            </a:extLst>
          </p:cNvPr>
          <p:cNvSpPr txBox="1"/>
          <p:nvPr/>
        </p:nvSpPr>
        <p:spPr>
          <a:xfrm>
            <a:off x="609600" y="381000"/>
            <a:ext cx="8890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CONNECTED INSIGHTS</a:t>
            </a:r>
          </a:p>
        </p:txBody>
      </p:sp>
      <p:sp>
        <p:nvSpPr>
          <p:cNvPr id="4" name="TextBox 3">
            <a:extLst>
              <a:ext uri="{FF2B5EF4-FFF2-40B4-BE49-F238E27FC236}">
                <a16:creationId xmlns:a16="http://schemas.microsoft.com/office/drawing/2014/main" id="{99BCD5B8-2B44-0D89-6AB4-0B0D741FB7AC}"/>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When Is Fabric Graph a Good Fit?</a:t>
            </a:r>
          </a:p>
        </p:txBody>
      </p:sp>
      <p:sp>
        <p:nvSpPr>
          <p:cNvPr id="5" name="TextBox 4">
            <a:extLst>
              <a:ext uri="{FF2B5EF4-FFF2-40B4-BE49-F238E27FC236}">
                <a16:creationId xmlns:a16="http://schemas.microsoft.com/office/drawing/2014/main" id="{F8DA297A-E030-B9DA-B4E5-9A581BEB34F5}"/>
              </a:ext>
            </a:extLst>
          </p:cNvPr>
          <p:cNvSpPr txBox="1"/>
          <p:nvPr/>
        </p:nvSpPr>
        <p:spPr>
          <a:xfrm>
            <a:off x="609600" y="1879600"/>
            <a:ext cx="6731000" cy="584775"/>
          </a:xfrm>
          <a:prstGeom prst="rect">
            <a:avLst/>
          </a:prstGeom>
          <a:noFill/>
        </p:spPr>
        <p:txBody>
          <a:bodyPr vert="horz" wrap="square" lIns="0" tIns="0" rIns="0" bIns="0" rtlCol="0">
            <a:spAutoFit/>
          </a:bodyPr>
          <a:lstStyle/>
          <a:p>
            <a:pPr>
              <a:spcAft>
                <a:spcPts val="500"/>
              </a:spcAft>
            </a:pPr>
            <a:r>
              <a:rPr lang="en-US" sz="1900" b="1">
                <a:solidFill>
                  <a:srgbClr val="282425"/>
                </a:solidFill>
                <a:latin typeface="Aptos" panose="020B0004020202020204" pitchFamily="34" charset="0"/>
              </a:rPr>
              <a:t>Use Graph when the question is about connections, paths, or impact.</a:t>
            </a:r>
          </a:p>
        </p:txBody>
      </p:sp>
      <p:sp>
        <p:nvSpPr>
          <p:cNvPr id="6" name="TextBox 5">
            <a:extLst>
              <a:ext uri="{FF2B5EF4-FFF2-40B4-BE49-F238E27FC236}">
                <a16:creationId xmlns:a16="http://schemas.microsoft.com/office/drawing/2014/main" id="{EA5A2F5D-200B-3CA9-9AF3-303B9EE950A8}"/>
              </a:ext>
            </a:extLst>
          </p:cNvPr>
          <p:cNvSpPr txBox="1"/>
          <p:nvPr/>
        </p:nvSpPr>
        <p:spPr>
          <a:xfrm>
            <a:off x="609600" y="2692400"/>
            <a:ext cx="6731000" cy="2215991"/>
          </a:xfrm>
          <a:prstGeom prst="rect">
            <a:avLst/>
          </a:prstGeom>
          <a:noFill/>
        </p:spPr>
        <p:txBody>
          <a:bodyPr vert="horz" wrap="square" lIns="0" tIns="0" rIns="0" bIns="0" rtlCol="0">
            <a:spAutoFit/>
          </a:bodyPr>
          <a:lstStyle/>
          <a:p>
            <a:pPr>
              <a:spcAft>
                <a:spcPts val="1200"/>
              </a:spcAft>
            </a:pPr>
            <a:r>
              <a:rPr lang="en-US" sz="1900">
                <a:solidFill>
                  <a:srgbClr val="282425"/>
                </a:solidFill>
                <a:latin typeface="Aptos" panose="020B0004020202020204" pitchFamily="34" charset="0"/>
              </a:rPr>
              <a:t>Your data contains meaningful relationships and reliable entity keys.</a:t>
            </a:r>
          </a:p>
          <a:p>
            <a:pPr>
              <a:spcAft>
                <a:spcPts val="1200"/>
              </a:spcAft>
            </a:pPr>
            <a:r>
              <a:rPr lang="en-US" sz="1900">
                <a:solidFill>
                  <a:srgbClr val="282425"/>
                </a:solidFill>
                <a:latin typeface="Aptos" panose="020B0004020202020204" pitchFamily="34" charset="0"/>
              </a:rPr>
              <a:t>Questions involve several connected steps or shared neighbors.</a:t>
            </a:r>
          </a:p>
          <a:p>
            <a:pPr>
              <a:spcAft>
                <a:spcPts val="1200"/>
              </a:spcAft>
            </a:pPr>
            <a:r>
              <a:rPr lang="en-US" sz="1900">
                <a:solidFill>
                  <a:srgbClr val="282425"/>
                </a:solidFill>
                <a:latin typeface="Aptos" panose="020B0004020202020204" pitchFamily="34" charset="0"/>
              </a:rPr>
              <a:t>Your team needs to explore and explain those connections.</a:t>
            </a:r>
          </a:p>
          <a:p>
            <a:pPr>
              <a:spcAft>
                <a:spcPts val="1200"/>
              </a:spcAft>
            </a:pPr>
            <a:r>
              <a:rPr lang="en-US" sz="1900">
                <a:solidFill>
                  <a:srgbClr val="282425"/>
                </a:solidFill>
                <a:latin typeface="Aptos" panose="020B0004020202020204" pitchFamily="34" charset="0"/>
              </a:rPr>
              <a:t>You want graph analytics within the Fabric and OneLake environment.</a:t>
            </a:r>
          </a:p>
        </p:txBody>
      </p:sp>
      <p:sp>
        <p:nvSpPr>
          <p:cNvPr id="7" name="TextBox 6">
            <a:extLst>
              <a:ext uri="{FF2B5EF4-FFF2-40B4-BE49-F238E27FC236}">
                <a16:creationId xmlns:a16="http://schemas.microsoft.com/office/drawing/2014/main" id="{C0436C32-B9D6-D6EB-97C8-A30356449525}"/>
              </a:ext>
            </a:extLst>
          </p:cNvPr>
          <p:cNvSpPr txBox="1"/>
          <p:nvPr/>
        </p:nvSpPr>
        <p:spPr>
          <a:xfrm>
            <a:off x="609600" y="5118100"/>
            <a:ext cx="6731000" cy="584775"/>
          </a:xfrm>
          <a:prstGeom prst="rect">
            <a:avLst/>
          </a:prstGeom>
          <a:noFill/>
        </p:spPr>
        <p:txBody>
          <a:bodyPr vert="horz" wrap="square" lIns="0" tIns="0" rIns="0" bIns="0" rtlCol="0">
            <a:spAutoFit/>
          </a:bodyPr>
          <a:lstStyle/>
          <a:p>
            <a:pPr>
              <a:spcAft>
                <a:spcPts val="500"/>
              </a:spcAft>
            </a:pPr>
            <a:r>
              <a:rPr lang="en-US" sz="1900" b="1">
                <a:solidFill>
                  <a:srgbClr val="282425"/>
                </a:solidFill>
                <a:latin typeface="Aptos" panose="020B0004020202020204" pitchFamily="34" charset="0"/>
              </a:rPr>
              <a:t>Keep SQL and BI for straightforward reporting and governed metrics.</a:t>
            </a:r>
          </a:p>
        </p:txBody>
      </p:sp>
      <p:sp>
        <p:nvSpPr>
          <p:cNvPr id="8" name="TextBox 7">
            <a:extLst>
              <a:ext uri="{FF2B5EF4-FFF2-40B4-BE49-F238E27FC236}">
                <a16:creationId xmlns:a16="http://schemas.microsoft.com/office/drawing/2014/main" id="{FF0513F7-F0F4-EFF7-D434-BEFFFC774797}"/>
              </a:ext>
            </a:extLst>
          </p:cNvPr>
          <p:cNvSpPr txBox="1"/>
          <p:nvPr/>
        </p:nvSpPr>
        <p:spPr>
          <a:xfrm>
            <a:off x="8128000" y="1739900"/>
            <a:ext cx="3454400" cy="153888"/>
          </a:xfrm>
          <a:prstGeom prst="rect">
            <a:avLst/>
          </a:prstGeom>
          <a:noFill/>
        </p:spPr>
        <p:txBody>
          <a:bodyPr vert="horz" wrap="square" lIns="0" tIns="0" rIns="0" bIns="0" rtlCol="0">
            <a:spAutoFit/>
          </a:bodyPr>
          <a:lstStyle/>
          <a:p>
            <a:pPr>
              <a:spcAft>
                <a:spcPts val="500"/>
              </a:spcAft>
            </a:pPr>
            <a:r>
              <a:rPr lang="en-US" sz="1000" b="1">
                <a:solidFill>
                  <a:srgbClr val="5E6170"/>
                </a:solidFill>
                <a:latin typeface="Aptos" panose="020B0004020202020204" pitchFamily="34" charset="0"/>
              </a:rPr>
              <a:t>ILLUSTRATIVE CONCEPT</a:t>
            </a:r>
          </a:p>
        </p:txBody>
      </p:sp>
      <p:sp>
        <p:nvSpPr>
          <p:cNvPr id="9" name="Rectangle 8">
            <a:extLst>
              <a:ext uri="{FF2B5EF4-FFF2-40B4-BE49-F238E27FC236}">
                <a16:creationId xmlns:a16="http://schemas.microsoft.com/office/drawing/2014/main" id="{4E5F1B35-75EA-E62A-83AB-E637EF55A683}"/>
              </a:ext>
            </a:extLst>
          </p:cNvPr>
          <p:cNvSpPr/>
          <p:nvPr/>
        </p:nvSpPr>
        <p:spPr>
          <a:xfrm>
            <a:off x="8128000" y="2540000"/>
            <a:ext cx="3175000" cy="10795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FFFFFF"/>
                </a:solidFill>
                <a:latin typeface="Aptos" panose="020B0004020202020204" pitchFamily="34" charset="0"/>
              </a:rPr>
              <a:t>Connections and paths
Graph</a:t>
            </a:r>
          </a:p>
        </p:txBody>
      </p:sp>
      <p:sp>
        <p:nvSpPr>
          <p:cNvPr id="10" name="Rectangle 9">
            <a:extLst>
              <a:ext uri="{FF2B5EF4-FFF2-40B4-BE49-F238E27FC236}">
                <a16:creationId xmlns:a16="http://schemas.microsoft.com/office/drawing/2014/main" id="{FFA39C6B-ECC1-208D-D2F3-20D224E865B5}"/>
              </a:ext>
            </a:extLst>
          </p:cNvPr>
          <p:cNvSpPr/>
          <p:nvPr/>
        </p:nvSpPr>
        <p:spPr>
          <a:xfrm>
            <a:off x="8128000" y="4318000"/>
            <a:ext cx="3175000" cy="10795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Totals and reporting
SQL / BI</a:t>
            </a:r>
          </a:p>
        </p:txBody>
      </p:sp>
      <p:sp>
        <p:nvSpPr>
          <p:cNvPr id="11" name="TextBox 10">
            <a:extLst>
              <a:ext uri="{FF2B5EF4-FFF2-40B4-BE49-F238E27FC236}">
                <a16:creationId xmlns:a16="http://schemas.microsoft.com/office/drawing/2014/main" id="{9695C11B-D983-B38E-A301-CF284A259B89}"/>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Fabric Graph | Introductory overview | Documentation reviewed 08 Oct 2026</a:t>
            </a:r>
          </a:p>
        </p:txBody>
      </p:sp>
      <p:sp>
        <p:nvSpPr>
          <p:cNvPr id="12" name="TextBox 11">
            <a:extLst>
              <a:ext uri="{FF2B5EF4-FFF2-40B4-BE49-F238E27FC236}">
                <a16:creationId xmlns:a16="http://schemas.microsoft.com/office/drawing/2014/main" id="{E869EFE2-676F-8C81-24F1-4406EEC3A418}"/>
              </a:ext>
            </a:extLst>
          </p:cNvPr>
          <p:cNvSpPr txBox="1"/>
          <p:nvPr/>
        </p:nvSpPr>
        <p:spPr>
          <a:xfrm>
            <a:off x="10922000" y="6413500"/>
            <a:ext cx="825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09 / 10</a:t>
            </a:r>
          </a:p>
        </p:txBody>
      </p:sp>
    </p:spTree>
    <p:extLst>
      <p:ext uri="{BB962C8B-B14F-4D97-AF65-F5344CB8AC3E}">
        <p14:creationId xmlns:p14="http://schemas.microsoft.com/office/powerpoint/2010/main" val="2968154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A2A218-BBC0-905C-5CDC-D3402EFF9E7D}"/>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CD7635D-74BA-EF83-9AAF-3C19828B8821}"/>
              </a:ext>
            </a:extLst>
          </p:cNvPr>
          <p:cNvSpPr txBox="1"/>
          <p:nvPr/>
        </p:nvSpPr>
        <p:spPr>
          <a:xfrm>
            <a:off x="609600" y="381000"/>
            <a:ext cx="8890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CONNECTED INSIGHTS</a:t>
            </a:r>
          </a:p>
        </p:txBody>
      </p:sp>
      <p:sp>
        <p:nvSpPr>
          <p:cNvPr id="4" name="TextBox 3">
            <a:extLst>
              <a:ext uri="{FF2B5EF4-FFF2-40B4-BE49-F238E27FC236}">
                <a16:creationId xmlns:a16="http://schemas.microsoft.com/office/drawing/2014/main" id="{49A11591-E2A0-7E1F-238A-9293AEB3C12E}"/>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Key Takeaways</a:t>
            </a:r>
          </a:p>
        </p:txBody>
      </p:sp>
      <p:sp>
        <p:nvSpPr>
          <p:cNvPr id="5" name="TextBox 4">
            <a:extLst>
              <a:ext uri="{FF2B5EF4-FFF2-40B4-BE49-F238E27FC236}">
                <a16:creationId xmlns:a16="http://schemas.microsoft.com/office/drawing/2014/main" id="{26799C18-D356-83E3-4F25-6B0CFB268C42}"/>
              </a:ext>
            </a:extLst>
          </p:cNvPr>
          <p:cNvSpPr txBox="1"/>
          <p:nvPr/>
        </p:nvSpPr>
        <p:spPr>
          <a:xfrm>
            <a:off x="609600" y="1879600"/>
            <a:ext cx="6731000" cy="2616101"/>
          </a:xfrm>
          <a:prstGeom prst="rect">
            <a:avLst/>
          </a:prstGeom>
          <a:noFill/>
        </p:spPr>
        <p:txBody>
          <a:bodyPr vert="horz" wrap="square" lIns="0" tIns="0" rIns="0" bIns="0" rtlCol="0">
            <a:spAutoFit/>
          </a:bodyPr>
          <a:lstStyle/>
          <a:p>
            <a:pPr>
              <a:spcAft>
                <a:spcPts val="1200"/>
              </a:spcAft>
            </a:pPr>
            <a:r>
              <a:rPr lang="en-US" sz="2000">
                <a:solidFill>
                  <a:srgbClr val="282425"/>
                </a:solidFill>
                <a:latin typeface="Aptos" panose="020B0004020202020204" pitchFamily="34" charset="0"/>
              </a:rPr>
              <a:t>What: Graph models entities and their relationships in Fabric.</a:t>
            </a:r>
          </a:p>
          <a:p>
            <a:pPr>
              <a:spcAft>
                <a:spcPts val="1200"/>
              </a:spcAft>
            </a:pPr>
            <a:r>
              <a:rPr lang="en-US" sz="2000">
                <a:solidFill>
                  <a:srgbClr val="282425"/>
                </a:solidFill>
                <a:latin typeface="Aptos" panose="020B0004020202020204" pitchFamily="34" charset="0"/>
              </a:rPr>
              <a:t>Why: It helps uncover connections and explain multi-step paths.</a:t>
            </a:r>
          </a:p>
          <a:p>
            <a:pPr>
              <a:spcAft>
                <a:spcPts val="1200"/>
              </a:spcAft>
            </a:pPr>
            <a:r>
              <a:rPr lang="en-US" sz="2000">
                <a:solidFill>
                  <a:srgbClr val="282425"/>
                </a:solidFill>
                <a:latin typeface="Aptos" panose="020B0004020202020204" pitchFamily="34" charset="0"/>
              </a:rPr>
              <a:t>How: Define nodes and edges, load data, then explore visually or with GQL.</a:t>
            </a:r>
          </a:p>
          <a:p>
            <a:pPr>
              <a:spcAft>
                <a:spcPts val="1200"/>
              </a:spcAft>
            </a:pPr>
            <a:r>
              <a:rPr lang="en-US" sz="2000">
                <a:solidFill>
                  <a:srgbClr val="282425"/>
                </a:solidFill>
                <a:latin typeface="Aptos" panose="020B0004020202020204" pitchFamily="34" charset="0"/>
              </a:rPr>
              <a:t>Where: Risk, customer insights, recommendations, dependencies, and AI assistants.</a:t>
            </a:r>
          </a:p>
        </p:txBody>
      </p:sp>
      <p:sp>
        <p:nvSpPr>
          <p:cNvPr id="6" name="TextBox 5">
            <a:extLst>
              <a:ext uri="{FF2B5EF4-FFF2-40B4-BE49-F238E27FC236}">
                <a16:creationId xmlns:a16="http://schemas.microsoft.com/office/drawing/2014/main" id="{E0090362-65E8-9C5B-8F57-4706F4718AD6}"/>
              </a:ext>
            </a:extLst>
          </p:cNvPr>
          <p:cNvSpPr txBox="1"/>
          <p:nvPr/>
        </p:nvSpPr>
        <p:spPr>
          <a:xfrm>
            <a:off x="609600" y="4699000"/>
            <a:ext cx="6731000" cy="615553"/>
          </a:xfrm>
          <a:prstGeom prst="rect">
            <a:avLst/>
          </a:prstGeom>
          <a:noFill/>
        </p:spPr>
        <p:txBody>
          <a:bodyPr vert="horz" wrap="square" lIns="0" tIns="0" rIns="0" bIns="0" rtlCol="0">
            <a:spAutoFit/>
          </a:bodyPr>
          <a:lstStyle/>
          <a:p>
            <a:pPr>
              <a:spcAft>
                <a:spcPts val="500"/>
              </a:spcAft>
            </a:pPr>
            <a:r>
              <a:rPr lang="en-US" sz="2000" b="1">
                <a:solidFill>
                  <a:srgbClr val="282425"/>
                </a:solidFill>
                <a:latin typeface="Aptos" panose="020B0004020202020204" pitchFamily="34" charset="0"/>
              </a:rPr>
              <a:t>Start with one business question where relationships matter.</a:t>
            </a:r>
          </a:p>
        </p:txBody>
      </p:sp>
      <p:sp>
        <p:nvSpPr>
          <p:cNvPr id="7" name="TextBox 6">
            <a:extLst>
              <a:ext uri="{FF2B5EF4-FFF2-40B4-BE49-F238E27FC236}">
                <a16:creationId xmlns:a16="http://schemas.microsoft.com/office/drawing/2014/main" id="{4AC71F07-743A-526A-2FE8-0D7F836D737E}"/>
              </a:ext>
            </a:extLst>
          </p:cNvPr>
          <p:cNvSpPr txBox="1"/>
          <p:nvPr/>
        </p:nvSpPr>
        <p:spPr>
          <a:xfrm>
            <a:off x="8128000" y="1739900"/>
            <a:ext cx="3454400" cy="153888"/>
          </a:xfrm>
          <a:prstGeom prst="rect">
            <a:avLst/>
          </a:prstGeom>
          <a:noFill/>
        </p:spPr>
        <p:txBody>
          <a:bodyPr vert="horz" wrap="square" lIns="0" tIns="0" rIns="0" bIns="0" rtlCol="0">
            <a:spAutoFit/>
          </a:bodyPr>
          <a:lstStyle/>
          <a:p>
            <a:pPr>
              <a:spcAft>
                <a:spcPts val="500"/>
              </a:spcAft>
            </a:pPr>
            <a:r>
              <a:rPr lang="en-US" sz="1000" b="1">
                <a:solidFill>
                  <a:srgbClr val="5E6170"/>
                </a:solidFill>
                <a:latin typeface="Aptos" panose="020B0004020202020204" pitchFamily="34" charset="0"/>
              </a:rPr>
              <a:t>ILLUSTRATIVE CONCEPT</a:t>
            </a:r>
          </a:p>
        </p:txBody>
      </p:sp>
      <p:sp>
        <p:nvSpPr>
          <p:cNvPr id="8" name="Rectangle 7">
            <a:extLst>
              <a:ext uri="{FF2B5EF4-FFF2-40B4-BE49-F238E27FC236}">
                <a16:creationId xmlns:a16="http://schemas.microsoft.com/office/drawing/2014/main" id="{6164424F-D559-A47E-09BC-4C09F5AD0227}"/>
              </a:ext>
            </a:extLst>
          </p:cNvPr>
          <p:cNvSpPr/>
          <p:nvPr/>
        </p:nvSpPr>
        <p:spPr>
          <a:xfrm>
            <a:off x="8255000" y="2324100"/>
            <a:ext cx="2921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Business question</a:t>
            </a:r>
          </a:p>
        </p:txBody>
      </p:sp>
      <p:cxnSp>
        <p:nvCxnSpPr>
          <p:cNvPr id="9" name="Straight Connector 8">
            <a:extLst>
              <a:ext uri="{FF2B5EF4-FFF2-40B4-BE49-F238E27FC236}">
                <a16:creationId xmlns:a16="http://schemas.microsoft.com/office/drawing/2014/main" id="{A716427B-A428-D6A7-DA14-42C433F69BB0}"/>
              </a:ext>
            </a:extLst>
          </p:cNvPr>
          <p:cNvCxnSpPr/>
          <p:nvPr/>
        </p:nvCxnSpPr>
        <p:spPr>
          <a:xfrm>
            <a:off x="9715500" y="2959100"/>
            <a:ext cx="0" cy="2540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611D3E22-F9A5-7DB8-1544-42FB02914722}"/>
              </a:ext>
            </a:extLst>
          </p:cNvPr>
          <p:cNvSpPr/>
          <p:nvPr/>
        </p:nvSpPr>
        <p:spPr>
          <a:xfrm>
            <a:off x="8255000" y="3276600"/>
            <a:ext cx="2921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Connected data</a:t>
            </a:r>
          </a:p>
        </p:txBody>
      </p:sp>
      <p:cxnSp>
        <p:nvCxnSpPr>
          <p:cNvPr id="11" name="Straight Connector 10">
            <a:extLst>
              <a:ext uri="{FF2B5EF4-FFF2-40B4-BE49-F238E27FC236}">
                <a16:creationId xmlns:a16="http://schemas.microsoft.com/office/drawing/2014/main" id="{470D916D-A77D-5AB2-0B12-DE7728323A86}"/>
              </a:ext>
            </a:extLst>
          </p:cNvPr>
          <p:cNvCxnSpPr/>
          <p:nvPr/>
        </p:nvCxnSpPr>
        <p:spPr>
          <a:xfrm>
            <a:off x="9715500" y="3911600"/>
            <a:ext cx="0" cy="2540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81BB8D3B-2E8F-0BA6-5985-29CD3D284425}"/>
              </a:ext>
            </a:extLst>
          </p:cNvPr>
          <p:cNvSpPr/>
          <p:nvPr/>
        </p:nvSpPr>
        <p:spPr>
          <a:xfrm>
            <a:off x="8255000" y="4229100"/>
            <a:ext cx="2921000" cy="635000"/>
          </a:xfrm>
          <a:prstGeom prst="rect">
            <a:avLst/>
          </a:prstGeom>
          <a:solidFill>
            <a:srgbClr val="F0F5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Explainable path</a:t>
            </a:r>
          </a:p>
        </p:txBody>
      </p:sp>
      <p:sp>
        <p:nvSpPr>
          <p:cNvPr id="13" name="TextBox 12">
            <a:extLst>
              <a:ext uri="{FF2B5EF4-FFF2-40B4-BE49-F238E27FC236}">
                <a16:creationId xmlns:a16="http://schemas.microsoft.com/office/drawing/2014/main" id="{4D343ECA-C0C5-1C27-B457-408C83D6893F}"/>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Fabric Graph | Introductory overview | Documentation reviewed 08 Oct 2026</a:t>
            </a:r>
          </a:p>
        </p:txBody>
      </p:sp>
      <p:sp>
        <p:nvSpPr>
          <p:cNvPr id="14" name="TextBox 13">
            <a:extLst>
              <a:ext uri="{FF2B5EF4-FFF2-40B4-BE49-F238E27FC236}">
                <a16:creationId xmlns:a16="http://schemas.microsoft.com/office/drawing/2014/main" id="{021438DB-1BDE-FDB5-6041-69B1C39AF9B9}"/>
              </a:ext>
            </a:extLst>
          </p:cNvPr>
          <p:cNvSpPr txBox="1"/>
          <p:nvPr/>
        </p:nvSpPr>
        <p:spPr>
          <a:xfrm>
            <a:off x="10922000" y="6413500"/>
            <a:ext cx="825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10 / 10</a:t>
            </a:r>
          </a:p>
        </p:txBody>
      </p:sp>
    </p:spTree>
    <p:extLst>
      <p:ext uri="{BB962C8B-B14F-4D97-AF65-F5344CB8AC3E}">
        <p14:creationId xmlns:p14="http://schemas.microsoft.com/office/powerpoint/2010/main" val="3023806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2268</Words>
  <Application>Microsoft Office PowerPoint</Application>
  <PresentationFormat>Custom</PresentationFormat>
  <Paragraphs>270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Sample author</dc:creator>
  <cp:lastModifiedBy>Sample author</cp:lastModifiedBy>
  <cp:revision>1</cp:revision>
  <dcterms:created xsi:type="dcterms:W3CDTF">2026-10-09T05:46:48Z</dcterms:created>
  <dcterms:modified xsi:type="dcterms:W3CDTF">2026-10-09T05:46:49Z</dcterms:modified>
</cp:coreProperties>
</file>